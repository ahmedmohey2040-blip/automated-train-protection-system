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9"/>
  </p:notesMasterIdLst>
  <p:sldIdLst>
    <p:sldId id="256" r:id="rId2"/>
    <p:sldId id="266" r:id="rId3"/>
    <p:sldId id="267" r:id="rId4"/>
    <p:sldId id="263" r:id="rId5"/>
    <p:sldId id="281" r:id="rId6"/>
    <p:sldId id="258" r:id="rId7"/>
    <p:sldId id="283" r:id="rId8"/>
    <p:sldId id="284" r:id="rId9"/>
    <p:sldId id="286" r:id="rId10"/>
    <p:sldId id="295" r:id="rId11"/>
    <p:sldId id="292" r:id="rId12"/>
    <p:sldId id="293" r:id="rId13"/>
    <p:sldId id="294" r:id="rId14"/>
    <p:sldId id="291" r:id="rId15"/>
    <p:sldId id="296" r:id="rId16"/>
    <p:sldId id="274" r:id="rId17"/>
    <p:sldId id="275" r:id="rId18"/>
    <p:sldId id="288" r:id="rId19"/>
    <p:sldId id="279" r:id="rId20"/>
    <p:sldId id="280" r:id="rId21"/>
    <p:sldId id="289" r:id="rId22"/>
    <p:sldId id="260" r:id="rId23"/>
    <p:sldId id="261" r:id="rId24"/>
    <p:sldId id="273" r:id="rId25"/>
    <p:sldId id="262" r:id="rId26"/>
    <p:sldId id="278" r:id="rId27"/>
    <p:sldId id="265" r:id="rId28"/>
  </p:sldIdLst>
  <p:sldSz cx="18288000" cy="10287000"/>
  <p:notesSz cx="6858000" cy="9144000"/>
  <p:embeddedFontLst>
    <p:embeddedFont>
      <p:font typeface="Agency FB" panose="020B0503020202020204" pitchFamily="34" charset="0"/>
      <p:regular r:id="rId30"/>
      <p:bold r:id="rId31"/>
    </p:embeddedFont>
    <p:embeddedFont>
      <p:font typeface="Bernard MT Condensed" panose="02050806060905020404" pitchFamily="18" charset="0"/>
      <p:regular r:id="rId32"/>
    </p:embeddedFont>
    <p:embeddedFont>
      <p:font typeface="Cambria Math" panose="02040503050406030204" pitchFamily="18" charset="0"/>
      <p:regular r:id="rId33"/>
    </p:embeddedFont>
    <p:embeddedFont>
      <p:font typeface="Dynamo Medium" panose="020B0604020202020204" charset="0"/>
      <p:regular r:id="rId34"/>
    </p:embeddedFont>
    <p:embeddedFont>
      <p:font typeface="Source Sans Pro" panose="020B0503030403020204" pitchFamily="34" charset="0"/>
      <p:regular r:id="rId35"/>
      <p:bold r:id="rId36"/>
      <p:italic r:id="rId37"/>
      <p:boldItalic r:id="rId38"/>
    </p:embeddedFont>
    <p:embeddedFont>
      <p:font typeface="Source Sans Pro Bold" panose="020B0703030403020204" charset="0"/>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34284"/>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0" d="100"/>
          <a:sy n="70" d="100"/>
        </p:scale>
        <p:origin x="696"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03481E-7ACD-4FC1-A8F2-BC4F833F1CAA}" type="datetimeFigureOut">
              <a:rPr lang="en-US" smtClean="0"/>
              <a:t>6/8/2024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E6A1A2-41CB-4D37-B593-DC7EF73FF101}" type="slidenum">
              <a:rPr lang="en-US" smtClean="0"/>
              <a:t>‹#›</a:t>
            </a:fld>
            <a:endParaRPr lang="en-US"/>
          </a:p>
        </p:txBody>
      </p:sp>
    </p:spTree>
    <p:extLst>
      <p:ext uri="{BB962C8B-B14F-4D97-AF65-F5344CB8AC3E}">
        <p14:creationId xmlns:p14="http://schemas.microsoft.com/office/powerpoint/2010/main" val="4116143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E6A1A2-41CB-4D37-B593-DC7EF73FF101}" type="slidenum">
              <a:rPr lang="en-US" smtClean="0"/>
              <a:t>16</a:t>
            </a:fld>
            <a:endParaRPr lang="en-US"/>
          </a:p>
        </p:txBody>
      </p:sp>
    </p:spTree>
    <p:extLst>
      <p:ext uri="{BB962C8B-B14F-4D97-AF65-F5344CB8AC3E}">
        <p14:creationId xmlns:p14="http://schemas.microsoft.com/office/powerpoint/2010/main" val="14304839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E6A1A2-41CB-4D37-B593-DC7EF73FF101}" type="slidenum">
              <a:rPr lang="en-US" smtClean="0"/>
              <a:t>17</a:t>
            </a:fld>
            <a:endParaRPr lang="en-US"/>
          </a:p>
        </p:txBody>
      </p:sp>
    </p:spTree>
    <p:extLst>
      <p:ext uri="{BB962C8B-B14F-4D97-AF65-F5344CB8AC3E}">
        <p14:creationId xmlns:p14="http://schemas.microsoft.com/office/powerpoint/2010/main" val="23767452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E6A1A2-41CB-4D37-B593-DC7EF73FF101}" type="slidenum">
              <a:rPr lang="en-US" smtClean="0"/>
              <a:t>22</a:t>
            </a:fld>
            <a:endParaRPr lang="en-US"/>
          </a:p>
        </p:txBody>
      </p:sp>
    </p:spTree>
    <p:extLst>
      <p:ext uri="{BB962C8B-B14F-4D97-AF65-F5344CB8AC3E}">
        <p14:creationId xmlns:p14="http://schemas.microsoft.com/office/powerpoint/2010/main" val="18142036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6/8/2024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jpg"/></Relationships>
</file>

<file path=ppt/slides/_rels/slide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6.xml"/><Relationship Id="rId5" Type="http://schemas.openxmlformats.org/officeDocument/2006/relationships/image" Target="../media/image9.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9.png"/><Relationship Id="rId1" Type="http://schemas.openxmlformats.org/officeDocument/2006/relationships/slideLayout" Target="../slideLayouts/slideLayout3.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2.png"/><Relationship Id="rId1" Type="http://schemas.openxmlformats.org/officeDocument/2006/relationships/slideLayout" Target="../slideLayouts/slideLayout5.xml"/><Relationship Id="rId5" Type="http://schemas.openxmlformats.org/officeDocument/2006/relationships/image" Target="../media/image9.png"/><Relationship Id="rId4" Type="http://schemas.microsoft.com/office/2007/relationships/hdphoto" Target="../media/hdphoto2.wdp"/></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1.mp4"/><Relationship Id="rId1" Type="http://schemas.openxmlformats.org/officeDocument/2006/relationships/video" Target="NULL" TargetMode="Externa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slides/_rels/slide1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32.png"/><Relationship Id="rId1" Type="http://schemas.openxmlformats.org/officeDocument/2006/relationships/slideLayout" Target="../slideLayouts/slideLayout7.xml"/><Relationship Id="rId6" Type="http://schemas.microsoft.com/office/2007/relationships/hdphoto" Target="../media/hdphoto4.wdp"/><Relationship Id="rId5" Type="http://schemas.openxmlformats.org/officeDocument/2006/relationships/image" Target="../media/image34.png"/><Relationship Id="rId4" Type="http://schemas.openxmlformats.org/officeDocument/2006/relationships/image" Target="../media/image33.jpeg"/></Relationships>
</file>

<file path=ppt/slides/_rels/slide20.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png"/><Relationship Id="rId1" Type="http://schemas.openxmlformats.org/officeDocument/2006/relationships/slideLayout" Target="../slideLayouts/slideLayout7.xml"/><Relationship Id="rId5" Type="http://schemas.openxmlformats.org/officeDocument/2006/relationships/image" Target="../media/image38.jpeg"/><Relationship Id="rId4" Type="http://schemas.openxmlformats.org/officeDocument/2006/relationships/image" Target="../media/image37.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slides/_rels/slide23.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8" Type="http://schemas.openxmlformats.org/officeDocument/2006/relationships/image" Target="../media/image45.jpg"/><Relationship Id="rId3" Type="http://schemas.openxmlformats.org/officeDocument/2006/relationships/image" Target="../media/image40.jpg"/><Relationship Id="rId7" Type="http://schemas.openxmlformats.org/officeDocument/2006/relationships/image" Target="../media/image44.jpg"/><Relationship Id="rId2" Type="http://schemas.openxmlformats.org/officeDocument/2006/relationships/image" Target="../media/image39.jpg"/><Relationship Id="rId1" Type="http://schemas.openxmlformats.org/officeDocument/2006/relationships/slideLayout" Target="../slideLayouts/slideLayout7.xml"/><Relationship Id="rId6" Type="http://schemas.openxmlformats.org/officeDocument/2006/relationships/image" Target="../media/image43.jpg"/><Relationship Id="rId5" Type="http://schemas.openxmlformats.org/officeDocument/2006/relationships/image" Target="../media/image42.jpg"/><Relationship Id="rId10" Type="http://schemas.openxmlformats.org/officeDocument/2006/relationships/image" Target="../media/image47.jpeg"/><Relationship Id="rId4" Type="http://schemas.openxmlformats.org/officeDocument/2006/relationships/image" Target="../media/image41.jpg"/><Relationship Id="rId9" Type="http://schemas.openxmlformats.org/officeDocument/2006/relationships/image" Target="../media/image46.jpeg"/></Relationships>
</file>

<file path=ppt/slides/_rels/slide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2" name="Freeform 2"/>
          <p:cNvSpPr/>
          <p:nvPr/>
        </p:nvSpPr>
        <p:spPr>
          <a:xfrm rot="5400000">
            <a:off x="-3506490" y="2400024"/>
            <a:ext cx="10522735" cy="5490954"/>
          </a:xfrm>
          <a:custGeom>
            <a:avLst/>
            <a:gdLst/>
            <a:ahLst/>
            <a:cxnLst/>
            <a:rect l="l" t="t" r="r" b="b"/>
            <a:pathLst>
              <a:path w="10522735" h="5490954">
                <a:moveTo>
                  <a:pt x="0" y="0"/>
                </a:moveTo>
                <a:lnTo>
                  <a:pt x="10522734" y="0"/>
                </a:lnTo>
                <a:lnTo>
                  <a:pt x="10522734" y="5490954"/>
                </a:lnTo>
                <a:lnTo>
                  <a:pt x="0" y="54909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5" name="Group 5"/>
          <p:cNvGrpSpPr/>
          <p:nvPr/>
        </p:nvGrpSpPr>
        <p:grpSpPr>
          <a:xfrm>
            <a:off x="5648448" y="8116491"/>
            <a:ext cx="7009358" cy="1398154"/>
            <a:chOff x="0" y="0"/>
            <a:chExt cx="9345810" cy="1864205"/>
          </a:xfrm>
        </p:grpSpPr>
        <p:grpSp>
          <p:nvGrpSpPr>
            <p:cNvPr id="6" name="Group 6"/>
            <p:cNvGrpSpPr/>
            <p:nvPr/>
          </p:nvGrpSpPr>
          <p:grpSpPr>
            <a:xfrm>
              <a:off x="0" y="0"/>
              <a:ext cx="9345810" cy="1546271"/>
              <a:chOff x="0" y="0"/>
              <a:chExt cx="1250766" cy="206940"/>
            </a:xfrm>
          </p:grpSpPr>
          <p:sp>
            <p:nvSpPr>
              <p:cNvPr id="7" name="Freeform 7"/>
              <p:cNvSpPr/>
              <p:nvPr/>
            </p:nvSpPr>
            <p:spPr>
              <a:xfrm>
                <a:off x="18844" y="0"/>
                <a:ext cx="1213078" cy="206940"/>
              </a:xfrm>
              <a:custGeom>
                <a:avLst/>
                <a:gdLst/>
                <a:ahLst/>
                <a:cxnLst/>
                <a:rect l="l" t="t" r="r" b="b"/>
                <a:pathLst>
                  <a:path w="1213078" h="206940">
                    <a:moveTo>
                      <a:pt x="218760" y="0"/>
                    </a:moveTo>
                    <a:lnTo>
                      <a:pt x="1197518" y="0"/>
                    </a:lnTo>
                    <a:cubicBezTo>
                      <a:pt x="1203332" y="0"/>
                      <a:pt x="1208579" y="3488"/>
                      <a:pt x="1210829" y="8850"/>
                    </a:cubicBezTo>
                    <a:cubicBezTo>
                      <a:pt x="1213078" y="14212"/>
                      <a:pt x="1211891" y="20399"/>
                      <a:pt x="1207817" y="24548"/>
                    </a:cubicBezTo>
                    <a:lnTo>
                      <a:pt x="1052827" y="182392"/>
                    </a:lnTo>
                    <a:cubicBezTo>
                      <a:pt x="1037408" y="198094"/>
                      <a:pt x="1016325" y="206940"/>
                      <a:pt x="994318" y="206940"/>
                    </a:cubicBezTo>
                    <a:lnTo>
                      <a:pt x="15560" y="206940"/>
                    </a:lnTo>
                    <a:cubicBezTo>
                      <a:pt x="9746" y="206940"/>
                      <a:pt x="4499" y="203452"/>
                      <a:pt x="2249" y="198090"/>
                    </a:cubicBezTo>
                    <a:cubicBezTo>
                      <a:pt x="0" y="192728"/>
                      <a:pt x="1187" y="186541"/>
                      <a:pt x="5261" y="182392"/>
                    </a:cubicBezTo>
                    <a:lnTo>
                      <a:pt x="160251" y="24548"/>
                    </a:lnTo>
                    <a:cubicBezTo>
                      <a:pt x="175670" y="8846"/>
                      <a:pt x="196753" y="0"/>
                      <a:pt x="218760" y="0"/>
                    </a:cubicBezTo>
                    <a:close/>
                  </a:path>
                </a:pathLst>
              </a:custGeom>
              <a:solidFill>
                <a:srgbClr val="3275C5"/>
              </a:solidFill>
            </p:spPr>
          </p:sp>
          <p:sp>
            <p:nvSpPr>
              <p:cNvPr id="8" name="TextBox 8"/>
              <p:cNvSpPr txBox="1"/>
              <p:nvPr/>
            </p:nvSpPr>
            <p:spPr>
              <a:xfrm>
                <a:off x="101600" y="19050"/>
                <a:ext cx="1047566" cy="187890"/>
              </a:xfrm>
              <a:prstGeom prst="rect">
                <a:avLst/>
              </a:prstGeom>
            </p:spPr>
            <p:txBody>
              <a:bodyPr lIns="50800" tIns="50800" rIns="50800" bIns="50800" rtlCol="0" anchor="ctr"/>
              <a:lstStyle/>
              <a:p>
                <a:pPr algn="ctr">
                  <a:lnSpc>
                    <a:spcPts val="1993"/>
                  </a:lnSpc>
                </a:pPr>
                <a:endParaRPr/>
              </a:p>
            </p:txBody>
          </p:sp>
        </p:grpSp>
        <p:grpSp>
          <p:nvGrpSpPr>
            <p:cNvPr id="9" name="Group 9"/>
            <p:cNvGrpSpPr/>
            <p:nvPr/>
          </p:nvGrpSpPr>
          <p:grpSpPr>
            <a:xfrm>
              <a:off x="4451974" y="1170495"/>
              <a:ext cx="4192850" cy="693710"/>
              <a:chOff x="0" y="0"/>
              <a:chExt cx="1250766" cy="206940"/>
            </a:xfrm>
          </p:grpSpPr>
          <p:sp>
            <p:nvSpPr>
              <p:cNvPr id="10" name="Freeform 10"/>
              <p:cNvSpPr/>
              <p:nvPr/>
            </p:nvSpPr>
            <p:spPr>
              <a:xfrm>
                <a:off x="22107" y="0"/>
                <a:ext cx="1206553" cy="206940"/>
              </a:xfrm>
              <a:custGeom>
                <a:avLst/>
                <a:gdLst/>
                <a:ahLst/>
                <a:cxnLst/>
                <a:rect l="l" t="t" r="r" b="b"/>
                <a:pathLst>
                  <a:path w="1206553" h="206940">
                    <a:moveTo>
                      <a:pt x="221454" y="0"/>
                    </a:moveTo>
                    <a:lnTo>
                      <a:pt x="1188298" y="0"/>
                    </a:lnTo>
                    <a:cubicBezTo>
                      <a:pt x="1195119" y="0"/>
                      <a:pt x="1201274" y="4093"/>
                      <a:pt x="1203913" y="10382"/>
                    </a:cubicBezTo>
                    <a:cubicBezTo>
                      <a:pt x="1206552" y="16672"/>
                      <a:pt x="1205160" y="23932"/>
                      <a:pt x="1200381" y="28799"/>
                    </a:cubicBezTo>
                    <a:lnTo>
                      <a:pt x="1053737" y="178141"/>
                    </a:lnTo>
                    <a:cubicBezTo>
                      <a:pt x="1035649" y="196563"/>
                      <a:pt x="1010915" y="206940"/>
                      <a:pt x="985098" y="206940"/>
                    </a:cubicBezTo>
                    <a:lnTo>
                      <a:pt x="18254" y="206940"/>
                    </a:lnTo>
                    <a:cubicBezTo>
                      <a:pt x="11433" y="206940"/>
                      <a:pt x="5278" y="202848"/>
                      <a:pt x="2639" y="196558"/>
                    </a:cubicBezTo>
                    <a:cubicBezTo>
                      <a:pt x="0" y="190268"/>
                      <a:pt x="1392" y="183008"/>
                      <a:pt x="6171" y="178141"/>
                    </a:cubicBezTo>
                    <a:lnTo>
                      <a:pt x="152815" y="28799"/>
                    </a:lnTo>
                    <a:cubicBezTo>
                      <a:pt x="170903" y="10377"/>
                      <a:pt x="195637" y="0"/>
                      <a:pt x="221454" y="0"/>
                    </a:cubicBezTo>
                    <a:close/>
                  </a:path>
                </a:pathLst>
              </a:custGeom>
              <a:solidFill>
                <a:srgbClr val="64CAF4"/>
              </a:solidFill>
            </p:spPr>
          </p:sp>
          <p:sp>
            <p:nvSpPr>
              <p:cNvPr id="11" name="TextBox 11"/>
              <p:cNvSpPr txBox="1"/>
              <p:nvPr/>
            </p:nvSpPr>
            <p:spPr>
              <a:xfrm>
                <a:off x="101600" y="19050"/>
                <a:ext cx="1047566" cy="187890"/>
              </a:xfrm>
              <a:prstGeom prst="rect">
                <a:avLst/>
              </a:prstGeom>
            </p:spPr>
            <p:txBody>
              <a:bodyPr lIns="50800" tIns="50800" rIns="50800" bIns="50800" rtlCol="0" anchor="ctr"/>
              <a:lstStyle/>
              <a:p>
                <a:pPr algn="ctr">
                  <a:lnSpc>
                    <a:spcPts val="1993"/>
                  </a:lnSpc>
                </a:pPr>
                <a:endParaRPr/>
              </a:p>
            </p:txBody>
          </p:sp>
        </p:grpSp>
      </p:grpSp>
      <p:grpSp>
        <p:nvGrpSpPr>
          <p:cNvPr id="12" name="Group 12"/>
          <p:cNvGrpSpPr/>
          <p:nvPr/>
        </p:nvGrpSpPr>
        <p:grpSpPr>
          <a:xfrm>
            <a:off x="3396439" y="147286"/>
            <a:ext cx="12271462" cy="1738365"/>
            <a:chOff x="-358223" y="189105"/>
            <a:chExt cx="1184668" cy="697324"/>
          </a:xfrm>
        </p:grpSpPr>
        <p:sp>
          <p:nvSpPr>
            <p:cNvPr id="13" name="Freeform 13"/>
            <p:cNvSpPr/>
            <p:nvPr/>
          </p:nvSpPr>
          <p:spPr>
            <a:xfrm>
              <a:off x="-358223" y="219230"/>
              <a:ext cx="1184668" cy="667199"/>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CFEFF"/>
            </a:solidFill>
          </p:spPr>
          <p:txBody>
            <a:bodyPr/>
            <a:lstStyle/>
            <a:p>
              <a:pPr algn="ctr"/>
              <a:r>
                <a:rPr lang="ar-EG" sz="6000" b="1" dirty="0">
                  <a:solidFill>
                    <a:srgbClr val="002060"/>
                  </a:solidFill>
                </a:rPr>
                <a:t>مشروع تخرج الفرقة الثانية</a:t>
              </a:r>
            </a:p>
            <a:p>
              <a:pPr algn="ctr"/>
              <a:r>
                <a:rPr lang="ar-EG" sz="6000" b="1" dirty="0">
                  <a:solidFill>
                    <a:srgbClr val="FF0000"/>
                  </a:solidFill>
                </a:rPr>
                <a:t>« حماية مسير القطارات من العوائق الامامية »</a:t>
              </a:r>
            </a:p>
          </p:txBody>
        </p:sp>
        <p:sp>
          <p:nvSpPr>
            <p:cNvPr id="14" name="TextBox 14"/>
            <p:cNvSpPr txBox="1"/>
            <p:nvPr/>
          </p:nvSpPr>
          <p:spPr>
            <a:xfrm>
              <a:off x="84017" y="189105"/>
              <a:ext cx="660400" cy="641350"/>
            </a:xfrm>
            <a:prstGeom prst="rect">
              <a:avLst/>
            </a:prstGeom>
          </p:spPr>
          <p:txBody>
            <a:bodyPr lIns="52498" tIns="52498" rIns="52498" bIns="52498" rtlCol="0" anchor="ctr"/>
            <a:lstStyle/>
            <a:p>
              <a:pPr algn="ctr">
                <a:lnSpc>
                  <a:spcPts val="1993"/>
                </a:lnSpc>
              </a:pPr>
              <a:endParaRPr/>
            </a:p>
          </p:txBody>
        </p:sp>
      </p:grpSp>
      <p:sp>
        <p:nvSpPr>
          <p:cNvPr id="18" name="TextBox 18"/>
          <p:cNvSpPr txBox="1"/>
          <p:nvPr/>
        </p:nvSpPr>
        <p:spPr>
          <a:xfrm>
            <a:off x="3657600" y="3643868"/>
            <a:ext cx="11749141" cy="2754152"/>
          </a:xfrm>
          <a:prstGeom prst="rect">
            <a:avLst/>
          </a:prstGeom>
        </p:spPr>
        <p:txBody>
          <a:bodyPr wrap="square" lIns="0" tIns="0" rIns="0" bIns="0" rtlCol="0" anchor="t">
            <a:spAutoFit/>
          </a:bodyPr>
          <a:lstStyle/>
          <a:p>
            <a:pPr algn="l">
              <a:lnSpc>
                <a:spcPts val="11200"/>
              </a:lnSpc>
            </a:pPr>
            <a:r>
              <a:rPr lang="en-US" sz="8000" dirty="0">
                <a:solidFill>
                  <a:srgbClr val="3275C5"/>
                </a:solidFill>
                <a:latin typeface="Source Sans Pro Bold"/>
              </a:rPr>
              <a:t>Trains Protection System</a:t>
            </a:r>
          </a:p>
          <a:p>
            <a:pPr algn="ctr">
              <a:lnSpc>
                <a:spcPts val="11200"/>
              </a:lnSpc>
            </a:pPr>
            <a:r>
              <a:rPr lang="en-US" sz="8000" dirty="0">
                <a:solidFill>
                  <a:srgbClr val="3275C5"/>
                </a:solidFill>
                <a:latin typeface="Source Sans Pro Bold"/>
              </a:rPr>
              <a:t>From Front Obstacles</a:t>
            </a:r>
          </a:p>
        </p:txBody>
      </p:sp>
      <p:sp>
        <p:nvSpPr>
          <p:cNvPr id="20" name="TextBox 20"/>
          <p:cNvSpPr txBox="1"/>
          <p:nvPr/>
        </p:nvSpPr>
        <p:spPr>
          <a:xfrm>
            <a:off x="8159914" y="3068261"/>
            <a:ext cx="2399835" cy="575607"/>
          </a:xfrm>
          <a:prstGeom prst="rect">
            <a:avLst/>
          </a:prstGeom>
        </p:spPr>
        <p:txBody>
          <a:bodyPr lIns="0" tIns="0" rIns="0" bIns="0" rtlCol="0" anchor="t">
            <a:spAutoFit/>
          </a:bodyPr>
          <a:lstStyle/>
          <a:p>
            <a:pPr algn="ctr">
              <a:lnSpc>
                <a:spcPts val="3895"/>
              </a:lnSpc>
            </a:pPr>
            <a:r>
              <a:rPr lang="en-US" sz="5400" b="1" dirty="0">
                <a:solidFill>
                  <a:srgbClr val="64CAF4"/>
                </a:solidFill>
                <a:latin typeface="Source Sans Pro Bold"/>
              </a:rPr>
              <a:t>HITT</a:t>
            </a:r>
          </a:p>
        </p:txBody>
      </p:sp>
      <p:sp>
        <p:nvSpPr>
          <p:cNvPr id="21" name="TextBox 21"/>
          <p:cNvSpPr txBox="1"/>
          <p:nvPr/>
        </p:nvSpPr>
        <p:spPr>
          <a:xfrm>
            <a:off x="7492931" y="7377055"/>
            <a:ext cx="3733800" cy="436017"/>
          </a:xfrm>
          <a:prstGeom prst="rect">
            <a:avLst/>
          </a:prstGeom>
        </p:spPr>
        <p:txBody>
          <a:bodyPr wrap="square" lIns="0" tIns="0" rIns="0" bIns="0" rtlCol="0" anchor="t">
            <a:spAutoFit/>
          </a:bodyPr>
          <a:lstStyle/>
          <a:p>
            <a:pPr algn="l">
              <a:lnSpc>
                <a:spcPts val="3390"/>
              </a:lnSpc>
            </a:pPr>
            <a:r>
              <a:rPr lang="en-US" sz="4000" b="1" dirty="0">
                <a:solidFill>
                  <a:srgbClr val="64CAF4"/>
                </a:solidFill>
                <a:latin typeface="Dynamo"/>
              </a:rPr>
              <a:t>Presented by:</a:t>
            </a:r>
          </a:p>
        </p:txBody>
      </p:sp>
      <p:sp>
        <p:nvSpPr>
          <p:cNvPr id="22" name="TextBox 22"/>
          <p:cNvSpPr txBox="1"/>
          <p:nvPr/>
        </p:nvSpPr>
        <p:spPr>
          <a:xfrm>
            <a:off x="6931387" y="8330857"/>
            <a:ext cx="4622964" cy="730969"/>
          </a:xfrm>
          <a:prstGeom prst="rect">
            <a:avLst/>
          </a:prstGeom>
        </p:spPr>
        <p:txBody>
          <a:bodyPr lIns="0" tIns="0" rIns="0" bIns="0" rtlCol="0" anchor="t">
            <a:spAutoFit/>
          </a:bodyPr>
          <a:lstStyle/>
          <a:p>
            <a:pPr algn="l">
              <a:lnSpc>
                <a:spcPts val="5650"/>
              </a:lnSpc>
            </a:pPr>
            <a:r>
              <a:rPr lang="en-US" sz="5000" dirty="0">
                <a:solidFill>
                  <a:srgbClr val="FCFEFF"/>
                </a:solidFill>
                <a:latin typeface="Source Sans Pro Bold"/>
              </a:rPr>
              <a:t>Signals Division</a:t>
            </a:r>
          </a:p>
        </p:txBody>
      </p:sp>
      <p:sp>
        <p:nvSpPr>
          <p:cNvPr id="17" name="Freeform 9"/>
          <p:cNvSpPr/>
          <p:nvPr/>
        </p:nvSpPr>
        <p:spPr>
          <a:xfrm rot="7616117">
            <a:off x="14754144" y="7087147"/>
            <a:ext cx="6000674" cy="4342306"/>
          </a:xfrm>
          <a:custGeom>
            <a:avLst/>
            <a:gdLst/>
            <a:ahLst/>
            <a:cxnLst/>
            <a:rect l="l" t="t" r="r" b="b"/>
            <a:pathLst>
              <a:path w="6000674" h="4342306">
                <a:moveTo>
                  <a:pt x="0" y="0"/>
                </a:moveTo>
                <a:lnTo>
                  <a:pt x="6000675" y="0"/>
                </a:lnTo>
                <a:lnTo>
                  <a:pt x="6000675" y="4342306"/>
                </a:lnTo>
                <a:lnTo>
                  <a:pt x="0" y="434230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3" name="TextBox 2">
            <a:extLst>
              <a:ext uri="{FF2B5EF4-FFF2-40B4-BE49-F238E27FC236}">
                <a16:creationId xmlns:a16="http://schemas.microsoft.com/office/drawing/2014/main" id="{54A0235E-AB83-5BB1-878E-D7C1E54C16F5}"/>
              </a:ext>
            </a:extLst>
          </p:cNvPr>
          <p:cNvSpPr txBox="1"/>
          <p:nvPr/>
        </p:nvSpPr>
        <p:spPr>
          <a:xfrm>
            <a:off x="6781800" y="9292019"/>
            <a:ext cx="4533900" cy="923330"/>
          </a:xfrm>
          <a:prstGeom prst="rect">
            <a:avLst/>
          </a:prstGeom>
          <a:noFill/>
        </p:spPr>
        <p:txBody>
          <a:bodyPr wrap="square" rtlCol="0">
            <a:spAutoFit/>
          </a:bodyPr>
          <a:lstStyle/>
          <a:p>
            <a:pPr algn="ctr"/>
            <a:r>
              <a:rPr lang="en-US" sz="5400" b="1" dirty="0">
                <a:solidFill>
                  <a:srgbClr val="534284"/>
                </a:solidFill>
                <a:latin typeface="Bernard MT Condensed" panose="02050806060905020404" pitchFamily="18" charset="0"/>
              </a:rPr>
              <a:t>Dr / Amr </a:t>
            </a:r>
            <a:r>
              <a:rPr lang="en-US" sz="5400" b="1" dirty="0" err="1">
                <a:solidFill>
                  <a:srgbClr val="534284"/>
                </a:solidFill>
                <a:latin typeface="Bernard MT Condensed" panose="02050806060905020404" pitchFamily="18" charset="0"/>
              </a:rPr>
              <a:t>Mady</a:t>
            </a:r>
            <a:endParaRPr lang="en-US" sz="5400" b="1" dirty="0">
              <a:solidFill>
                <a:srgbClr val="534284"/>
              </a:solidFill>
              <a:latin typeface="Bernard MT Condensed" panose="02050806060905020404" pitchFamily="18" charset="0"/>
            </a:endParaRPr>
          </a:p>
        </p:txBody>
      </p:sp>
    </p:spTree>
    <p:extLst>
      <p:ext uri="{BB962C8B-B14F-4D97-AF65-F5344CB8AC3E}">
        <p14:creationId xmlns:p14="http://schemas.microsoft.com/office/powerpoint/2010/main" val="4137497641"/>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8288000" cy="1028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20576769"/>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12" name="Freeform 12"/>
          <p:cNvSpPr/>
          <p:nvPr/>
        </p:nvSpPr>
        <p:spPr>
          <a:xfrm rot="-1780280">
            <a:off x="-1340224" y="-2572471"/>
            <a:ext cx="8627188" cy="5144941"/>
          </a:xfrm>
          <a:custGeom>
            <a:avLst/>
            <a:gdLst/>
            <a:ahLst/>
            <a:cxnLst/>
            <a:rect l="l" t="t" r="r" b="b"/>
            <a:pathLst>
              <a:path w="8627188" h="5144941">
                <a:moveTo>
                  <a:pt x="0" y="0"/>
                </a:moveTo>
                <a:lnTo>
                  <a:pt x="8627188" y="0"/>
                </a:lnTo>
                <a:lnTo>
                  <a:pt x="8627188" y="5144942"/>
                </a:lnTo>
                <a:lnTo>
                  <a:pt x="0" y="514494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TextBox 13"/>
          <p:cNvSpPr txBox="1"/>
          <p:nvPr/>
        </p:nvSpPr>
        <p:spPr>
          <a:xfrm>
            <a:off x="5283122" y="571500"/>
            <a:ext cx="7721756" cy="1313758"/>
          </a:xfrm>
          <a:prstGeom prst="rect">
            <a:avLst/>
          </a:prstGeom>
        </p:spPr>
        <p:txBody>
          <a:bodyPr lIns="0" tIns="0" rIns="0" bIns="0" rtlCol="0" anchor="t">
            <a:spAutoFit/>
          </a:bodyPr>
          <a:lstStyle/>
          <a:p>
            <a:pPr algn="ctr">
              <a:lnSpc>
                <a:spcPts val="11200"/>
              </a:lnSpc>
            </a:pPr>
            <a:r>
              <a:rPr lang="ar-EG" sz="7200" b="1" u="sng" dirty="0">
                <a:solidFill>
                  <a:srgbClr val="56AAF0"/>
                </a:solidFill>
                <a:latin typeface="Dynamo"/>
              </a:rPr>
              <a:t>الفهرس</a:t>
            </a:r>
            <a:endParaRPr lang="en-US" sz="7200" b="1" u="sng" dirty="0">
              <a:solidFill>
                <a:srgbClr val="56AAF0"/>
              </a:solidFill>
              <a:latin typeface="Dynamo"/>
            </a:endParaRPr>
          </a:p>
        </p:txBody>
      </p:sp>
      <p:sp>
        <p:nvSpPr>
          <p:cNvPr id="20" name="Freeform 20"/>
          <p:cNvSpPr/>
          <p:nvPr/>
        </p:nvSpPr>
        <p:spPr>
          <a:xfrm rot="8820853">
            <a:off x="11232533" y="7572586"/>
            <a:ext cx="8627188" cy="5144941"/>
          </a:xfrm>
          <a:custGeom>
            <a:avLst/>
            <a:gdLst/>
            <a:ahLst/>
            <a:cxnLst/>
            <a:rect l="l" t="t" r="r" b="b"/>
            <a:pathLst>
              <a:path w="8627188" h="5144941">
                <a:moveTo>
                  <a:pt x="0" y="0"/>
                </a:moveTo>
                <a:lnTo>
                  <a:pt x="8627188" y="0"/>
                </a:lnTo>
                <a:lnTo>
                  <a:pt x="8627188" y="5144941"/>
                </a:lnTo>
                <a:lnTo>
                  <a:pt x="0" y="51449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1" name="TextBox 20">
            <a:extLst>
              <a:ext uri="{FF2B5EF4-FFF2-40B4-BE49-F238E27FC236}">
                <a16:creationId xmlns:a16="http://schemas.microsoft.com/office/drawing/2014/main" id="{0AD8966D-ED77-95DE-1DFC-7087AFA19048}"/>
              </a:ext>
            </a:extLst>
          </p:cNvPr>
          <p:cNvSpPr txBox="1"/>
          <p:nvPr/>
        </p:nvSpPr>
        <p:spPr>
          <a:xfrm>
            <a:off x="990600" y="2400300"/>
            <a:ext cx="16535400" cy="6198813"/>
          </a:xfrm>
          <a:prstGeom prst="rect">
            <a:avLst/>
          </a:prstGeom>
          <a:noFill/>
        </p:spPr>
        <p:txBody>
          <a:bodyPr wrap="square" rtlCol="0">
            <a:spAutoFit/>
          </a:bodyPr>
          <a:lstStyle/>
          <a:p>
            <a:pPr algn="just" rtl="1">
              <a:lnSpc>
                <a:spcPct val="150000"/>
              </a:lnSpc>
            </a:pPr>
            <a:r>
              <a:rPr lang="ar-EG" sz="4800" b="1" spc="11" dirty="0">
                <a:solidFill>
                  <a:srgbClr val="3275C5"/>
                </a:solidFill>
                <a:latin typeface="Source Sans Pro"/>
              </a:rPr>
              <a:t>1.فكرة المشروع                            </a:t>
            </a:r>
            <a:r>
              <a:rPr lang="en-US" sz="4800" b="1" spc="11" dirty="0">
                <a:solidFill>
                  <a:srgbClr val="3275C5"/>
                </a:solidFill>
                <a:latin typeface="Source Sans Pro"/>
              </a:rPr>
              <a:t>             </a:t>
            </a:r>
            <a:r>
              <a:rPr lang="ar-EG" sz="4800" b="1" spc="11" dirty="0">
                <a:solidFill>
                  <a:srgbClr val="3275C5"/>
                </a:solidFill>
                <a:latin typeface="Source Sans Pro"/>
              </a:rPr>
              <a:t>         2.صور توضيحية</a:t>
            </a:r>
          </a:p>
          <a:p>
            <a:pPr algn="just" rtl="1">
              <a:lnSpc>
                <a:spcPct val="150000"/>
              </a:lnSpc>
            </a:pPr>
            <a:r>
              <a:rPr lang="ar-EG" sz="4800" b="1" spc="11" dirty="0">
                <a:solidFill>
                  <a:srgbClr val="3275C5"/>
                </a:solidFill>
                <a:latin typeface="Source Sans Pro"/>
              </a:rPr>
              <a:t>3.أسباب اختيار المشروع                  </a:t>
            </a:r>
            <a:r>
              <a:rPr lang="en-US" sz="4800" b="1" spc="11" dirty="0">
                <a:solidFill>
                  <a:srgbClr val="3275C5"/>
                </a:solidFill>
                <a:latin typeface="Source Sans Pro"/>
              </a:rPr>
              <a:t>             </a:t>
            </a:r>
            <a:r>
              <a:rPr lang="ar-EG" sz="4800" b="1" spc="11" dirty="0">
                <a:solidFill>
                  <a:srgbClr val="3275C5"/>
                </a:solidFill>
                <a:latin typeface="Source Sans Pro"/>
              </a:rPr>
              <a:t>         4.طريقة تنفيذ المشروع</a:t>
            </a:r>
          </a:p>
          <a:p>
            <a:pPr algn="just" rtl="1">
              <a:lnSpc>
                <a:spcPct val="150000"/>
              </a:lnSpc>
            </a:pPr>
            <a:r>
              <a:rPr lang="ar-EG" sz="4800" b="1" spc="11" dirty="0">
                <a:solidFill>
                  <a:srgbClr val="3275C5"/>
                </a:solidFill>
                <a:latin typeface="Source Sans Pro"/>
              </a:rPr>
              <a:t>5.خطوات تنفيذ المشروع               </a:t>
            </a:r>
            <a:r>
              <a:rPr lang="en-US" sz="4800" b="1" spc="11" dirty="0">
                <a:solidFill>
                  <a:srgbClr val="3275C5"/>
                </a:solidFill>
                <a:latin typeface="Source Sans Pro"/>
              </a:rPr>
              <a:t> </a:t>
            </a:r>
            <a:r>
              <a:rPr lang="ar-EG" sz="4800" b="1" spc="11" dirty="0">
                <a:solidFill>
                  <a:srgbClr val="3275C5"/>
                </a:solidFill>
                <a:latin typeface="Source Sans Pro"/>
              </a:rPr>
              <a:t>    </a:t>
            </a:r>
            <a:r>
              <a:rPr lang="en-US" sz="4800" b="1" spc="11" dirty="0">
                <a:solidFill>
                  <a:srgbClr val="3275C5"/>
                </a:solidFill>
                <a:latin typeface="Source Sans Pro"/>
              </a:rPr>
              <a:t>            </a:t>
            </a:r>
            <a:r>
              <a:rPr lang="ar-EG" sz="4800" b="1" spc="11" dirty="0">
                <a:solidFill>
                  <a:srgbClr val="3275C5"/>
                </a:solidFill>
                <a:latin typeface="Source Sans Pro"/>
              </a:rPr>
              <a:t>        6.مكونات المشروع</a:t>
            </a:r>
          </a:p>
          <a:p>
            <a:pPr algn="just" rtl="1">
              <a:lnSpc>
                <a:spcPct val="150000"/>
              </a:lnSpc>
            </a:pPr>
            <a:r>
              <a:rPr lang="ar-EG" sz="4800" b="1" spc="11" dirty="0">
                <a:solidFill>
                  <a:srgbClr val="3275C5"/>
                </a:solidFill>
                <a:latin typeface="Source Sans Pro"/>
              </a:rPr>
              <a:t>7.</a:t>
            </a:r>
            <a:r>
              <a:rPr lang="ar-EG" sz="4800" b="1" spc="11" dirty="0">
                <a:solidFill>
                  <a:srgbClr val="3275C5"/>
                </a:solidFill>
                <a:latin typeface="Source Sans Pro" panose="020B0503030403020204" pitchFamily="34" charset="0"/>
              </a:rPr>
              <a:t>الدائرة الكهربية</a:t>
            </a:r>
            <a:r>
              <a:rPr lang="ar-EG" sz="4800" dirty="0"/>
              <a:t>                          </a:t>
            </a:r>
            <a:r>
              <a:rPr lang="ar-EG" sz="4800" b="1" spc="11" dirty="0">
                <a:solidFill>
                  <a:srgbClr val="3275C5"/>
                </a:solidFill>
                <a:latin typeface="Source Sans Pro"/>
              </a:rPr>
              <a:t>   </a:t>
            </a:r>
            <a:r>
              <a:rPr lang="en-US" sz="4800" b="1" spc="11" dirty="0">
                <a:solidFill>
                  <a:srgbClr val="3275C5"/>
                </a:solidFill>
                <a:latin typeface="Source Sans Pro"/>
              </a:rPr>
              <a:t>              </a:t>
            </a:r>
            <a:r>
              <a:rPr lang="ar-EG" sz="4800" b="1" spc="11" dirty="0">
                <a:solidFill>
                  <a:srgbClr val="3275C5"/>
                </a:solidFill>
                <a:latin typeface="Source Sans Pro"/>
              </a:rPr>
              <a:t>      8.</a:t>
            </a:r>
            <a:r>
              <a:rPr lang="ar-EG" sz="4800" b="1" spc="11" dirty="0">
                <a:solidFill>
                  <a:srgbClr val="3275C5"/>
                </a:solidFill>
                <a:latin typeface="Source Sans Pro" panose="020B0503030403020204" pitchFamily="34" charset="0"/>
              </a:rPr>
              <a:t>المقترحات</a:t>
            </a:r>
            <a:r>
              <a:rPr lang="ar-EG" sz="4800" b="1" spc="11" dirty="0">
                <a:solidFill>
                  <a:srgbClr val="3275C5"/>
                </a:solidFill>
                <a:latin typeface="Source Sans Pro" panose="020B0503030403020204" pitchFamily="34" charset="0"/>
                <a:cs typeface="Source Sans Pro" panose="020B0503030403020204" pitchFamily="34" charset="0"/>
              </a:rPr>
              <a:t> </a:t>
            </a:r>
          </a:p>
          <a:p>
            <a:pPr algn="just" rtl="1">
              <a:lnSpc>
                <a:spcPct val="150000"/>
              </a:lnSpc>
            </a:pPr>
            <a:r>
              <a:rPr lang="ar-EG" sz="4800" b="1" spc="11" dirty="0">
                <a:solidFill>
                  <a:srgbClr val="3275C5"/>
                </a:solidFill>
                <a:latin typeface="Source Sans Pro"/>
              </a:rPr>
              <a:t>9.الخاتمة                                      </a:t>
            </a:r>
            <a:r>
              <a:rPr lang="en-US" sz="4800" b="1" spc="11" dirty="0">
                <a:solidFill>
                  <a:srgbClr val="3275C5"/>
                </a:solidFill>
                <a:latin typeface="Source Sans Pro"/>
              </a:rPr>
              <a:t>            </a:t>
            </a:r>
            <a:r>
              <a:rPr lang="ar-EG" sz="4800" b="1" spc="11" dirty="0">
                <a:solidFill>
                  <a:srgbClr val="3275C5"/>
                </a:solidFill>
                <a:latin typeface="Source Sans Pro"/>
              </a:rPr>
              <a:t>      10.أعضاء الفريق</a:t>
            </a:r>
          </a:p>
          <a:p>
            <a:pPr marL="571500" indent="-571500" algn="just" rtl="1">
              <a:lnSpc>
                <a:spcPct val="150000"/>
              </a:lnSpc>
              <a:buFont typeface="Arial" panose="020B0604020202020204" pitchFamily="34" charset="0"/>
              <a:buChar char="•"/>
            </a:pPr>
            <a:endParaRPr lang="ar-EG" sz="2800" b="1" spc="11" dirty="0">
              <a:solidFill>
                <a:srgbClr val="3275C5"/>
              </a:solidFill>
              <a:latin typeface="Source Sans Pro"/>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8"/>
          <p:cNvSpPr/>
          <p:nvPr/>
        </p:nvSpPr>
        <p:spPr>
          <a:xfrm rot="-10800000">
            <a:off x="12409253" y="0"/>
            <a:ext cx="5871820" cy="3280879"/>
          </a:xfrm>
          <a:custGeom>
            <a:avLst/>
            <a:gdLst/>
            <a:ahLst/>
            <a:cxnLst/>
            <a:rect l="l" t="t" r="r" b="b"/>
            <a:pathLst>
              <a:path w="5871820" h="3280879">
                <a:moveTo>
                  <a:pt x="0" y="0"/>
                </a:moveTo>
                <a:lnTo>
                  <a:pt x="5871820" y="0"/>
                </a:lnTo>
                <a:lnTo>
                  <a:pt x="5871820" y="3280880"/>
                </a:lnTo>
                <a:lnTo>
                  <a:pt x="0" y="3280880"/>
                </a:lnTo>
                <a:lnTo>
                  <a:pt x="0" y="0"/>
                </a:lnTo>
                <a:close/>
              </a:path>
            </a:pathLst>
          </a:custGeom>
          <a:blipFill>
            <a:blip r:embed="rId2">
              <a:alphaModFix amt="69000"/>
            </a:blip>
            <a:stretch>
              <a:fillRect/>
            </a:stretch>
          </a:blipFill>
        </p:spPr>
      </p:sp>
      <p:sp>
        <p:nvSpPr>
          <p:cNvPr id="5" name="TextBox 4"/>
          <p:cNvSpPr txBox="1"/>
          <p:nvPr/>
        </p:nvSpPr>
        <p:spPr>
          <a:xfrm>
            <a:off x="685800" y="2019300"/>
            <a:ext cx="16459200" cy="646331"/>
          </a:xfrm>
          <a:prstGeom prst="rect">
            <a:avLst/>
          </a:prstGeom>
          <a:noFill/>
        </p:spPr>
        <p:txBody>
          <a:bodyPr wrap="square" rtlCol="0">
            <a:spAutoFit/>
          </a:bodyPr>
          <a:lstStyle/>
          <a:p>
            <a:pPr algn="ctr" rtl="1"/>
            <a:r>
              <a:rPr lang="ar-SA" sz="3600" b="1" spc="11" dirty="0">
                <a:latin typeface="Source Sans Pro"/>
              </a:rPr>
              <a:t>هو نظام حماية مسير القطارات من العوائق الامامية في حالة وجود عوائق علي السكة علي سبيل المثال</a:t>
            </a:r>
            <a:r>
              <a:rPr lang="ar-EG" sz="3600" b="1" spc="11" dirty="0">
                <a:latin typeface="Source Sans Pro"/>
              </a:rPr>
              <a:t> :-</a:t>
            </a:r>
          </a:p>
        </p:txBody>
      </p:sp>
      <p:pic>
        <p:nvPicPr>
          <p:cNvPr id="6" name="Picture 5">
            <a:extLst>
              <a:ext uri="{FF2B5EF4-FFF2-40B4-BE49-F238E27FC236}">
                <a16:creationId xmlns:a16="http://schemas.microsoft.com/office/drawing/2014/main" id="{1D3F559C-FE51-A6C0-E52A-F0A1A8E50A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77400" y="4206624"/>
            <a:ext cx="7315200" cy="5920284"/>
          </a:xfrm>
          <a:prstGeom prst="rect">
            <a:avLst/>
          </a:prstGeom>
        </p:spPr>
      </p:pic>
      <p:pic>
        <p:nvPicPr>
          <p:cNvPr id="7" name="Picture 6">
            <a:extLst>
              <a:ext uri="{FF2B5EF4-FFF2-40B4-BE49-F238E27FC236}">
                <a16:creationId xmlns:a16="http://schemas.microsoft.com/office/drawing/2014/main" id="{814F63AB-D126-7AC9-1CC8-F078AB1BFB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18605" y="4229100"/>
            <a:ext cx="7325990" cy="5920284"/>
          </a:xfrm>
          <a:prstGeom prst="rect">
            <a:avLst/>
          </a:prstGeom>
        </p:spPr>
      </p:pic>
      <p:sp>
        <p:nvSpPr>
          <p:cNvPr id="8" name="Rectangle 7"/>
          <p:cNvSpPr/>
          <p:nvPr/>
        </p:nvSpPr>
        <p:spPr>
          <a:xfrm>
            <a:off x="6998279" y="68030"/>
            <a:ext cx="4448654" cy="2816027"/>
          </a:xfrm>
          <a:prstGeom prst="rect">
            <a:avLst/>
          </a:prstGeom>
        </p:spPr>
        <p:txBody>
          <a:bodyPr wrap="none">
            <a:spAutoFit/>
          </a:bodyPr>
          <a:lstStyle/>
          <a:p>
            <a:pPr algn="ctr">
              <a:lnSpc>
                <a:spcPts val="11200"/>
              </a:lnSpc>
            </a:pPr>
            <a:r>
              <a:rPr lang="ar-EG" sz="7200" b="1" u="sng" dirty="0">
                <a:solidFill>
                  <a:srgbClr val="56AAF0"/>
                </a:solidFill>
                <a:latin typeface="Dynamo"/>
              </a:rPr>
              <a:t>فكرة المشروع</a:t>
            </a:r>
          </a:p>
          <a:p>
            <a:pPr algn="ctr">
              <a:lnSpc>
                <a:spcPts val="11200"/>
              </a:lnSpc>
            </a:pPr>
            <a:endParaRPr lang="en-US" sz="7200" b="1" u="sng" dirty="0">
              <a:solidFill>
                <a:srgbClr val="56AAF0"/>
              </a:solidFill>
              <a:latin typeface="Dynamo"/>
            </a:endParaRPr>
          </a:p>
        </p:txBody>
      </p:sp>
      <p:sp>
        <p:nvSpPr>
          <p:cNvPr id="3" name="TextBox 2">
            <a:extLst>
              <a:ext uri="{FF2B5EF4-FFF2-40B4-BE49-F238E27FC236}">
                <a16:creationId xmlns:a16="http://schemas.microsoft.com/office/drawing/2014/main" id="{60938756-1D5C-01AC-8F60-9C6B3CE7568A}"/>
              </a:ext>
            </a:extLst>
          </p:cNvPr>
          <p:cNvSpPr txBox="1"/>
          <p:nvPr/>
        </p:nvSpPr>
        <p:spPr>
          <a:xfrm>
            <a:off x="3202806" y="3009900"/>
            <a:ext cx="12039600" cy="984885"/>
          </a:xfrm>
          <a:prstGeom prst="rect">
            <a:avLst/>
          </a:prstGeom>
          <a:noFill/>
        </p:spPr>
        <p:txBody>
          <a:bodyPr wrap="square" rtlCol="0">
            <a:spAutoFit/>
          </a:bodyPr>
          <a:lstStyle/>
          <a:p>
            <a:pPr algn="ctr"/>
            <a:r>
              <a:rPr lang="ar-SA" sz="4000" b="1" spc="11" dirty="0">
                <a:solidFill>
                  <a:srgbClr val="3275C5"/>
                </a:solidFill>
                <a:latin typeface="Source Sans Pro"/>
              </a:rPr>
              <a:t>وجود صخرة موجودة علي السكة والي ما يشبه ذلك</a:t>
            </a:r>
            <a:endParaRPr lang="ar-EG" sz="4000" b="1" spc="11" dirty="0">
              <a:solidFill>
                <a:srgbClr val="3275C5"/>
              </a:solidFill>
              <a:latin typeface="Source Sans Pro"/>
            </a:endParaRPr>
          </a:p>
          <a:p>
            <a:endParaRPr lang="en-US" dirty="0"/>
          </a:p>
        </p:txBody>
      </p:sp>
    </p:spTree>
    <p:extLst>
      <p:ext uri="{BB962C8B-B14F-4D97-AF65-F5344CB8AC3E}">
        <p14:creationId xmlns:p14="http://schemas.microsoft.com/office/powerpoint/2010/main" val="2371664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down)">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down)">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8" name="Freeform 8"/>
          <p:cNvSpPr/>
          <p:nvPr/>
        </p:nvSpPr>
        <p:spPr>
          <a:xfrm rot="-10800000">
            <a:off x="12592738" y="-611740"/>
            <a:ext cx="5871820" cy="3280879"/>
          </a:xfrm>
          <a:custGeom>
            <a:avLst/>
            <a:gdLst/>
            <a:ahLst/>
            <a:cxnLst/>
            <a:rect l="l" t="t" r="r" b="b"/>
            <a:pathLst>
              <a:path w="5871820" h="3280879">
                <a:moveTo>
                  <a:pt x="0" y="0"/>
                </a:moveTo>
                <a:lnTo>
                  <a:pt x="5871820" y="0"/>
                </a:lnTo>
                <a:lnTo>
                  <a:pt x="5871820" y="3280880"/>
                </a:lnTo>
                <a:lnTo>
                  <a:pt x="0" y="3280880"/>
                </a:lnTo>
                <a:lnTo>
                  <a:pt x="0" y="0"/>
                </a:lnTo>
                <a:close/>
              </a:path>
            </a:pathLst>
          </a:custGeom>
          <a:blipFill>
            <a:blip r:embed="rId2">
              <a:alphaModFix amt="69000"/>
            </a:blip>
            <a:stretch>
              <a:fillRect/>
            </a:stretch>
          </a:blipFill>
        </p:spPr>
      </p:sp>
      <p:sp>
        <p:nvSpPr>
          <p:cNvPr id="10" name="TextBox 10"/>
          <p:cNvSpPr txBox="1"/>
          <p:nvPr/>
        </p:nvSpPr>
        <p:spPr>
          <a:xfrm>
            <a:off x="5044448" y="3977591"/>
            <a:ext cx="2707346" cy="873125"/>
          </a:xfrm>
          <a:prstGeom prst="rect">
            <a:avLst/>
          </a:prstGeom>
        </p:spPr>
        <p:txBody>
          <a:bodyPr lIns="0" tIns="0" rIns="0" bIns="0" rtlCol="0" anchor="t">
            <a:spAutoFit/>
          </a:bodyPr>
          <a:lstStyle/>
          <a:p>
            <a:pPr algn="ctr">
              <a:lnSpc>
                <a:spcPts val="7000"/>
              </a:lnSpc>
            </a:pPr>
            <a:r>
              <a:rPr lang="en-US" sz="5000" spc="250" dirty="0">
                <a:solidFill>
                  <a:srgbClr val="FCFEFF"/>
                </a:solidFill>
                <a:latin typeface="Dynamo"/>
              </a:rPr>
              <a:t>VISIN</a:t>
            </a:r>
          </a:p>
        </p:txBody>
      </p:sp>
      <p:sp>
        <p:nvSpPr>
          <p:cNvPr id="11" name="TextBox 11"/>
          <p:cNvSpPr txBox="1"/>
          <p:nvPr/>
        </p:nvSpPr>
        <p:spPr>
          <a:xfrm>
            <a:off x="13004878" y="3947814"/>
            <a:ext cx="2971665" cy="873125"/>
          </a:xfrm>
          <a:prstGeom prst="rect">
            <a:avLst/>
          </a:prstGeom>
        </p:spPr>
        <p:txBody>
          <a:bodyPr lIns="0" tIns="0" rIns="0" bIns="0" rtlCol="0" anchor="t">
            <a:spAutoFit/>
          </a:bodyPr>
          <a:lstStyle/>
          <a:p>
            <a:pPr algn="ctr">
              <a:lnSpc>
                <a:spcPts val="7000"/>
              </a:lnSpc>
            </a:pPr>
            <a:r>
              <a:rPr lang="en-US" sz="5000" spc="250">
                <a:solidFill>
                  <a:srgbClr val="FCFEFF"/>
                </a:solidFill>
                <a:latin typeface="Dynamo"/>
              </a:rPr>
              <a:t>MISSION</a:t>
            </a:r>
          </a:p>
        </p:txBody>
      </p:sp>
      <p:sp>
        <p:nvSpPr>
          <p:cNvPr id="14" name="Freeform 14"/>
          <p:cNvSpPr/>
          <p:nvPr/>
        </p:nvSpPr>
        <p:spPr>
          <a:xfrm rot="-10800000" flipH="1" flipV="1">
            <a:off x="-203655" y="7617860"/>
            <a:ext cx="5871820" cy="3280879"/>
          </a:xfrm>
          <a:custGeom>
            <a:avLst/>
            <a:gdLst/>
            <a:ahLst/>
            <a:cxnLst/>
            <a:rect l="l" t="t" r="r" b="b"/>
            <a:pathLst>
              <a:path w="5871820" h="3280879">
                <a:moveTo>
                  <a:pt x="5871820" y="3280880"/>
                </a:moveTo>
                <a:lnTo>
                  <a:pt x="0" y="3280880"/>
                </a:lnTo>
                <a:lnTo>
                  <a:pt x="0" y="0"/>
                </a:lnTo>
                <a:lnTo>
                  <a:pt x="5871820" y="0"/>
                </a:lnTo>
                <a:lnTo>
                  <a:pt x="5871820" y="3280880"/>
                </a:lnTo>
                <a:close/>
              </a:path>
            </a:pathLst>
          </a:custGeom>
          <a:blipFill>
            <a:blip r:embed="rId2">
              <a:alphaModFix amt="69000"/>
            </a:blip>
            <a:stretch>
              <a:fillRect/>
            </a:stretch>
          </a:blipFill>
        </p:spPr>
      </p:sp>
      <p:sp>
        <p:nvSpPr>
          <p:cNvPr id="15" name="TextBox 14">
            <a:extLst>
              <a:ext uri="{FF2B5EF4-FFF2-40B4-BE49-F238E27FC236}">
                <a16:creationId xmlns:a16="http://schemas.microsoft.com/office/drawing/2014/main" id="{353B0D46-02BC-780A-4CA3-DB11D19B0407}"/>
              </a:ext>
            </a:extLst>
          </p:cNvPr>
          <p:cNvSpPr txBox="1"/>
          <p:nvPr/>
        </p:nvSpPr>
        <p:spPr>
          <a:xfrm>
            <a:off x="416158" y="995148"/>
            <a:ext cx="11925300" cy="9017853"/>
          </a:xfrm>
          <a:prstGeom prst="rect">
            <a:avLst/>
          </a:prstGeom>
          <a:noFill/>
        </p:spPr>
        <p:txBody>
          <a:bodyPr wrap="square" rtlCol="0">
            <a:spAutoFit/>
          </a:bodyPr>
          <a:lstStyle/>
          <a:p>
            <a:pPr algn="just" rtl="1">
              <a:lnSpc>
                <a:spcPct val="150000"/>
              </a:lnSpc>
            </a:pPr>
            <a:r>
              <a:rPr lang="ar-SA" sz="4000" b="1" spc="11" dirty="0">
                <a:solidFill>
                  <a:srgbClr val="3275C5"/>
                </a:solidFill>
                <a:latin typeface="Source Sans Pro"/>
              </a:rPr>
              <a:t>وجود اشخاص يعملون علي السكة</a:t>
            </a:r>
            <a:endParaRPr lang="en-US" sz="4000" b="1" spc="11" dirty="0">
              <a:solidFill>
                <a:srgbClr val="3275C5"/>
              </a:solidFill>
              <a:latin typeface="Source Sans Pro"/>
            </a:endParaRPr>
          </a:p>
          <a:p>
            <a:pPr marL="571500" indent="-571500" algn="just" rtl="1">
              <a:buFont typeface="Arial" panose="020B0604020202020204" pitchFamily="34" charset="0"/>
              <a:buChar char="•"/>
            </a:pPr>
            <a:endParaRPr lang="en-US" sz="4000" b="1" spc="11" dirty="0">
              <a:solidFill>
                <a:srgbClr val="3275C5"/>
              </a:solidFill>
              <a:latin typeface="Source Sans Pro"/>
            </a:endParaRPr>
          </a:p>
          <a:p>
            <a:pPr marL="571500" indent="-571500" algn="just" rtl="1">
              <a:buFont typeface="Arial" panose="020B0604020202020204" pitchFamily="34" charset="0"/>
              <a:buChar char="•"/>
            </a:pPr>
            <a:endParaRPr lang="en-US" sz="4000" b="1" spc="11" dirty="0">
              <a:solidFill>
                <a:srgbClr val="3275C5"/>
              </a:solidFill>
              <a:latin typeface="Source Sans Pro"/>
            </a:endParaRPr>
          </a:p>
          <a:p>
            <a:pPr marL="571500" indent="-571500" algn="just" rtl="1">
              <a:buFont typeface="Arial" panose="020B0604020202020204" pitchFamily="34" charset="0"/>
              <a:buChar char="•"/>
            </a:pPr>
            <a:endParaRPr lang="en-US" sz="4000" b="1" spc="11" dirty="0">
              <a:solidFill>
                <a:srgbClr val="3275C5"/>
              </a:solidFill>
              <a:latin typeface="Source Sans Pro"/>
            </a:endParaRPr>
          </a:p>
          <a:p>
            <a:pPr marL="571500" indent="-571500" algn="just" rtl="1">
              <a:buFont typeface="Arial" panose="020B0604020202020204" pitchFamily="34" charset="0"/>
              <a:buChar char="•"/>
            </a:pPr>
            <a:endParaRPr lang="en-US" sz="4000" b="1" spc="11" dirty="0">
              <a:solidFill>
                <a:srgbClr val="3275C5"/>
              </a:solidFill>
              <a:latin typeface="Source Sans Pro"/>
            </a:endParaRPr>
          </a:p>
          <a:p>
            <a:pPr marL="571500" indent="-571500" algn="just" rtl="1">
              <a:buFont typeface="Arial" panose="020B0604020202020204" pitchFamily="34" charset="0"/>
              <a:buChar char="•"/>
            </a:pPr>
            <a:endParaRPr lang="en-US" sz="4000" b="1" spc="11" dirty="0">
              <a:solidFill>
                <a:srgbClr val="3275C5"/>
              </a:solidFill>
              <a:latin typeface="Source Sans Pro"/>
            </a:endParaRPr>
          </a:p>
          <a:p>
            <a:pPr marL="571500" indent="-571500" algn="just" rtl="1">
              <a:buFont typeface="Arial" panose="020B0604020202020204" pitchFamily="34" charset="0"/>
              <a:buChar char="•"/>
            </a:pPr>
            <a:endParaRPr lang="en-US" sz="4000" b="1" spc="11" dirty="0">
              <a:solidFill>
                <a:srgbClr val="3275C5"/>
              </a:solidFill>
              <a:latin typeface="Source Sans Pro"/>
            </a:endParaRPr>
          </a:p>
          <a:p>
            <a:pPr marL="571500" indent="-571500" algn="just" rtl="1">
              <a:buFont typeface="Arial" panose="020B0604020202020204" pitchFamily="34" charset="0"/>
              <a:buChar char="•"/>
            </a:pPr>
            <a:endParaRPr lang="en-US" sz="4000" b="1" spc="11" dirty="0">
              <a:solidFill>
                <a:srgbClr val="3275C5"/>
              </a:solidFill>
              <a:latin typeface="Source Sans Pro"/>
            </a:endParaRPr>
          </a:p>
          <a:p>
            <a:pPr marL="571500" indent="-571500" algn="just" rtl="1">
              <a:buFont typeface="Arial" panose="020B0604020202020204" pitchFamily="34" charset="0"/>
              <a:buChar char="•"/>
            </a:pPr>
            <a:endParaRPr lang="en-US" sz="4000" b="1" spc="11" dirty="0">
              <a:solidFill>
                <a:srgbClr val="3275C5"/>
              </a:solidFill>
              <a:latin typeface="Source Sans Pro"/>
            </a:endParaRPr>
          </a:p>
          <a:p>
            <a:pPr marL="571500" indent="-571500" algn="just" rtl="1">
              <a:buFont typeface="Arial" panose="020B0604020202020204" pitchFamily="34" charset="0"/>
              <a:buChar char="•"/>
            </a:pPr>
            <a:endParaRPr lang="en-US" sz="4000" b="1" spc="11" dirty="0">
              <a:solidFill>
                <a:srgbClr val="3275C5"/>
              </a:solidFill>
              <a:latin typeface="Source Sans Pro"/>
            </a:endParaRPr>
          </a:p>
          <a:p>
            <a:pPr marL="571500" indent="-571500" algn="just" rtl="1">
              <a:buFont typeface="Arial" panose="020B0604020202020204" pitchFamily="34" charset="0"/>
              <a:buChar char="•"/>
            </a:pPr>
            <a:endParaRPr lang="en-US" sz="4000" b="1" spc="11" dirty="0">
              <a:solidFill>
                <a:srgbClr val="3275C5"/>
              </a:solidFill>
              <a:latin typeface="Source Sans Pro"/>
            </a:endParaRPr>
          </a:p>
          <a:p>
            <a:pPr marL="571500" indent="-571500" algn="just" rtl="1">
              <a:buFont typeface="Arial" panose="020B0604020202020204" pitchFamily="34" charset="0"/>
              <a:buChar char="•"/>
            </a:pPr>
            <a:endParaRPr lang="en-US" sz="4000" b="1" spc="11" dirty="0">
              <a:solidFill>
                <a:srgbClr val="3275C5"/>
              </a:solidFill>
              <a:latin typeface="Source Sans Pro"/>
            </a:endParaRPr>
          </a:p>
          <a:p>
            <a:pPr marL="571500" indent="-571500" algn="just" rtl="1">
              <a:buFont typeface="Arial" panose="020B0604020202020204" pitchFamily="34" charset="0"/>
              <a:buChar char="•"/>
            </a:pPr>
            <a:endParaRPr lang="ar-EG" sz="4000" b="1" spc="11" dirty="0">
              <a:solidFill>
                <a:srgbClr val="3275C5"/>
              </a:solidFill>
              <a:latin typeface="Source Sans Pro"/>
            </a:endParaRPr>
          </a:p>
          <a:p>
            <a:pPr algn="just" rtl="1"/>
            <a:endParaRPr lang="ar-EG" sz="4000" b="1" spc="11" dirty="0">
              <a:solidFill>
                <a:srgbClr val="3275C5"/>
              </a:solidFill>
              <a:latin typeface="Source Sans Pro"/>
            </a:endParaRPr>
          </a:p>
        </p:txBody>
      </p:sp>
      <p:pic>
        <p:nvPicPr>
          <p:cNvPr id="9" name="Picture 8">
            <a:extLst>
              <a:ext uri="{FF2B5EF4-FFF2-40B4-BE49-F238E27FC236}">
                <a16:creationId xmlns:a16="http://schemas.microsoft.com/office/drawing/2014/main" id="{745F8893-16DF-DC51-0B07-6573BD2F2B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85567" y="2634684"/>
            <a:ext cx="14916865" cy="6224432"/>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1000"/>
                                        <p:tgtEl>
                                          <p:spTgt spid="15">
                                            <p:txEl>
                                              <p:pRg st="0" end="0"/>
                                            </p:txEl>
                                          </p:spTgt>
                                        </p:tgtEl>
                                      </p:cBhvr>
                                    </p:animEffect>
                                    <p:anim calcmode="lin" valueType="num">
                                      <p:cBhvr>
                                        <p:cTn id="8" dur="1000" fill="hold"/>
                                        <p:tgtEl>
                                          <p:spTgt spid="1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down)">
                                      <p:cBhvr>
                                        <p:cTn id="1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0" y="1068939"/>
            <a:ext cx="8229600" cy="1143000"/>
          </a:xfrm>
        </p:spPr>
        <p:txBody>
          <a:bodyPr/>
          <a:lstStyle/>
          <a:p>
            <a:r>
              <a:rPr lang="ar-SA" b="1" spc="11" dirty="0">
                <a:solidFill>
                  <a:srgbClr val="3275C5"/>
                </a:solidFill>
                <a:latin typeface="Source Sans Pro"/>
              </a:rPr>
              <a:t>منع حوادث القطارات الكبري</a:t>
            </a:r>
            <a:endParaRPr lang="en-US" dirty="0"/>
          </a:p>
        </p:txBody>
      </p:sp>
      <p:sp>
        <p:nvSpPr>
          <p:cNvPr id="3" name="Freeform 8"/>
          <p:cNvSpPr/>
          <p:nvPr/>
        </p:nvSpPr>
        <p:spPr>
          <a:xfrm rot="-10800000">
            <a:off x="12409253" y="0"/>
            <a:ext cx="5871820" cy="3280879"/>
          </a:xfrm>
          <a:custGeom>
            <a:avLst/>
            <a:gdLst/>
            <a:ahLst/>
            <a:cxnLst/>
            <a:rect l="l" t="t" r="r" b="b"/>
            <a:pathLst>
              <a:path w="5871820" h="3280879">
                <a:moveTo>
                  <a:pt x="0" y="0"/>
                </a:moveTo>
                <a:lnTo>
                  <a:pt x="5871820" y="0"/>
                </a:lnTo>
                <a:lnTo>
                  <a:pt x="5871820" y="3280880"/>
                </a:lnTo>
                <a:lnTo>
                  <a:pt x="0" y="3280880"/>
                </a:lnTo>
                <a:lnTo>
                  <a:pt x="0" y="0"/>
                </a:lnTo>
                <a:close/>
              </a:path>
            </a:pathLst>
          </a:custGeom>
          <a:blipFill>
            <a:blip r:embed="rId2">
              <a:alphaModFix amt="69000"/>
            </a:blip>
            <a:stretch>
              <a:fillRect/>
            </a:stretch>
          </a:blipFill>
        </p:spPr>
      </p:sp>
      <p:sp>
        <p:nvSpPr>
          <p:cNvPr id="4" name="Freeform 14"/>
          <p:cNvSpPr/>
          <p:nvPr/>
        </p:nvSpPr>
        <p:spPr>
          <a:xfrm rot="-10800000" flipH="1" flipV="1">
            <a:off x="20782" y="6988803"/>
            <a:ext cx="5871820" cy="3280879"/>
          </a:xfrm>
          <a:custGeom>
            <a:avLst/>
            <a:gdLst/>
            <a:ahLst/>
            <a:cxnLst/>
            <a:rect l="l" t="t" r="r" b="b"/>
            <a:pathLst>
              <a:path w="5871820" h="3280879">
                <a:moveTo>
                  <a:pt x="5871820" y="3280880"/>
                </a:moveTo>
                <a:lnTo>
                  <a:pt x="0" y="3280880"/>
                </a:lnTo>
                <a:lnTo>
                  <a:pt x="0" y="0"/>
                </a:lnTo>
                <a:lnTo>
                  <a:pt x="5871820" y="0"/>
                </a:lnTo>
                <a:lnTo>
                  <a:pt x="5871820" y="3280880"/>
                </a:lnTo>
                <a:close/>
              </a:path>
            </a:pathLst>
          </a:custGeom>
          <a:blipFill>
            <a:blip r:embed="rId2">
              <a:alphaModFix amt="69000"/>
            </a:blip>
            <a:stretch>
              <a:fillRect/>
            </a:stretch>
          </a:blipFill>
        </p:spPr>
      </p:sp>
      <p:pic>
        <p:nvPicPr>
          <p:cNvPr id="5" name="Picture 4"/>
          <p:cNvPicPr>
            <a:picLocks noChangeAspect="1"/>
          </p:cNvPicPr>
          <p:nvPr/>
        </p:nvPicPr>
        <p:blipFill>
          <a:blip r:embed="rId3"/>
          <a:stretch>
            <a:fillRect/>
          </a:stretch>
        </p:blipFill>
        <p:spPr>
          <a:xfrm>
            <a:off x="1918854" y="2783439"/>
            <a:ext cx="14755091" cy="5809775"/>
          </a:xfrm>
          <a:prstGeom prst="rect">
            <a:avLst/>
          </a:prstGeom>
        </p:spPr>
      </p:pic>
    </p:spTree>
    <p:extLst>
      <p:ext uri="{BB962C8B-B14F-4D97-AF65-F5344CB8AC3E}">
        <p14:creationId xmlns:p14="http://schemas.microsoft.com/office/powerpoint/2010/main" val="632000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491" y="1409700"/>
            <a:ext cx="17391017" cy="1676400"/>
          </a:xfrm>
        </p:spPr>
        <p:txBody>
          <a:bodyPr>
            <a:normAutofit/>
          </a:bodyPr>
          <a:lstStyle/>
          <a:p>
            <a:r>
              <a:rPr lang="ar-EG" b="1" dirty="0">
                <a:solidFill>
                  <a:srgbClr val="0070C0"/>
                </a:solidFill>
              </a:rPr>
              <a:t>سقوط شجرة علي السكة او تعطل احد العربات علي السكة الحديد في لحظة قدوم القطار   </a:t>
            </a:r>
            <a:endParaRPr lang="en-US" b="1" dirty="0">
              <a:solidFill>
                <a:srgbClr val="0070C0"/>
              </a:solidFill>
            </a:endParaRPr>
          </a:p>
        </p:txBody>
      </p:sp>
      <p:pic>
        <p:nvPicPr>
          <p:cNvPr id="3" name="Picture 2">
            <a:extLst>
              <a:ext uri="{FF2B5EF4-FFF2-40B4-BE49-F238E27FC236}">
                <a16:creationId xmlns:a16="http://schemas.microsoft.com/office/drawing/2014/main" id="{4FC9CFCC-DC55-1024-C84D-4459F6AE5475}"/>
              </a:ext>
            </a:extLst>
          </p:cNvPr>
          <p:cNvPicPr/>
          <p:nvPr/>
        </p:nvPicPr>
        <p:blipFill>
          <a:blip r:embed="rId2"/>
          <a:stretch>
            <a:fillRect/>
          </a:stretch>
        </p:blipFill>
        <p:spPr>
          <a:xfrm>
            <a:off x="12954000" y="3617357"/>
            <a:ext cx="4741817" cy="4724400"/>
          </a:xfrm>
          <a:prstGeom prst="rect">
            <a:avLst/>
          </a:prstGeom>
        </p:spPr>
      </p:pic>
      <p:pic>
        <p:nvPicPr>
          <p:cNvPr id="4" name="Picture 3">
            <a:extLst>
              <a:ext uri="{FF2B5EF4-FFF2-40B4-BE49-F238E27FC236}">
                <a16:creationId xmlns:a16="http://schemas.microsoft.com/office/drawing/2014/main" id="{8CCD18F4-3402-FE04-9B17-627174C4F2CF}"/>
              </a:ext>
            </a:extLst>
          </p:cNvPr>
          <p:cNvPicPr/>
          <p:nvPr/>
        </p:nvPicPr>
        <p:blipFill>
          <a:blip r:embed="rId3"/>
          <a:stretch>
            <a:fillRect/>
          </a:stretch>
        </p:blipFill>
        <p:spPr>
          <a:xfrm>
            <a:off x="6858000" y="3617357"/>
            <a:ext cx="5486400" cy="4724400"/>
          </a:xfrm>
          <a:prstGeom prst="rect">
            <a:avLst/>
          </a:prstGeom>
        </p:spPr>
      </p:pic>
      <p:pic>
        <p:nvPicPr>
          <p:cNvPr id="5" name="Picture 4"/>
          <p:cNvPicPr>
            <a:picLocks noChangeAspect="1"/>
          </p:cNvPicPr>
          <p:nvPr/>
        </p:nvPicPr>
        <p:blipFill>
          <a:blip r:embed="rId4"/>
          <a:stretch>
            <a:fillRect/>
          </a:stretch>
        </p:blipFill>
        <p:spPr>
          <a:xfrm>
            <a:off x="592183" y="3645221"/>
            <a:ext cx="5791200" cy="4724400"/>
          </a:xfrm>
          <a:prstGeom prst="rect">
            <a:avLst/>
          </a:prstGeom>
        </p:spPr>
      </p:pic>
      <p:sp>
        <p:nvSpPr>
          <p:cNvPr id="6" name="Freeform 8">
            <a:extLst>
              <a:ext uri="{FF2B5EF4-FFF2-40B4-BE49-F238E27FC236}">
                <a16:creationId xmlns:a16="http://schemas.microsoft.com/office/drawing/2014/main" id="{085726D3-38E9-62BB-54F8-B8B7C73C707F}"/>
              </a:ext>
            </a:extLst>
          </p:cNvPr>
          <p:cNvSpPr/>
          <p:nvPr/>
        </p:nvSpPr>
        <p:spPr>
          <a:xfrm rot="10800000">
            <a:off x="12409253" y="-38099"/>
            <a:ext cx="5871820" cy="3280879"/>
          </a:xfrm>
          <a:custGeom>
            <a:avLst/>
            <a:gdLst/>
            <a:ahLst/>
            <a:cxnLst/>
            <a:rect l="l" t="t" r="r" b="b"/>
            <a:pathLst>
              <a:path w="5871820" h="3280879">
                <a:moveTo>
                  <a:pt x="0" y="0"/>
                </a:moveTo>
                <a:lnTo>
                  <a:pt x="5871820" y="0"/>
                </a:lnTo>
                <a:lnTo>
                  <a:pt x="5871820" y="3280880"/>
                </a:lnTo>
                <a:lnTo>
                  <a:pt x="0" y="3280880"/>
                </a:lnTo>
                <a:lnTo>
                  <a:pt x="0" y="0"/>
                </a:lnTo>
                <a:close/>
              </a:path>
            </a:pathLst>
          </a:custGeom>
          <a:blipFill>
            <a:blip r:embed="rId5">
              <a:alphaModFix amt="69000"/>
            </a:blip>
            <a:stretch>
              <a:fillRect/>
            </a:stretch>
          </a:blipFill>
        </p:spPr>
      </p:sp>
      <p:sp>
        <p:nvSpPr>
          <p:cNvPr id="7" name="Freeform 14">
            <a:extLst>
              <a:ext uri="{FF2B5EF4-FFF2-40B4-BE49-F238E27FC236}">
                <a16:creationId xmlns:a16="http://schemas.microsoft.com/office/drawing/2014/main" id="{044A6532-1698-E8C4-BE96-CFDB1E015A74}"/>
              </a:ext>
            </a:extLst>
          </p:cNvPr>
          <p:cNvSpPr/>
          <p:nvPr/>
        </p:nvSpPr>
        <p:spPr>
          <a:xfrm rot="10800000" flipH="1" flipV="1">
            <a:off x="20782" y="6988803"/>
            <a:ext cx="5871820" cy="3280879"/>
          </a:xfrm>
          <a:custGeom>
            <a:avLst/>
            <a:gdLst/>
            <a:ahLst/>
            <a:cxnLst/>
            <a:rect l="l" t="t" r="r" b="b"/>
            <a:pathLst>
              <a:path w="5871820" h="3280879">
                <a:moveTo>
                  <a:pt x="5871820" y="3280880"/>
                </a:moveTo>
                <a:lnTo>
                  <a:pt x="0" y="3280880"/>
                </a:lnTo>
                <a:lnTo>
                  <a:pt x="0" y="0"/>
                </a:lnTo>
                <a:lnTo>
                  <a:pt x="5871820" y="0"/>
                </a:lnTo>
                <a:lnTo>
                  <a:pt x="5871820" y="3280880"/>
                </a:lnTo>
                <a:close/>
              </a:path>
            </a:pathLst>
          </a:custGeom>
          <a:blipFill>
            <a:blip r:embed="rId5">
              <a:alphaModFix amt="69000"/>
            </a:blip>
            <a:stretch>
              <a:fillRect/>
            </a:stretch>
          </a:blipFill>
        </p:spPr>
      </p:sp>
    </p:spTree>
    <p:extLst>
      <p:ext uri="{BB962C8B-B14F-4D97-AF65-F5344CB8AC3E}">
        <p14:creationId xmlns:p14="http://schemas.microsoft.com/office/powerpoint/2010/main" val="3011607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down)">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219700" y="783249"/>
            <a:ext cx="7772400" cy="1500187"/>
          </a:xfrm>
        </p:spPr>
        <p:txBody>
          <a:bodyPr>
            <a:normAutofit/>
          </a:bodyPr>
          <a:lstStyle/>
          <a:p>
            <a:pPr algn="ctr"/>
            <a:r>
              <a:rPr lang="ar-EG" sz="7200" b="1" u="sng" dirty="0">
                <a:solidFill>
                  <a:srgbClr val="56AAF0"/>
                </a:solidFill>
                <a:latin typeface="Dynamo"/>
              </a:rPr>
              <a:t>طريقة تنفيذ المشروع</a:t>
            </a:r>
            <a:endParaRPr lang="en-US" sz="7200" b="1" u="sng" dirty="0">
              <a:solidFill>
                <a:srgbClr val="56AAF0"/>
              </a:solidFill>
              <a:latin typeface="Dynamo"/>
            </a:endParaRPr>
          </a:p>
        </p:txBody>
      </p:sp>
      <p:sp>
        <p:nvSpPr>
          <p:cNvPr id="4" name="Freeform 8"/>
          <p:cNvSpPr/>
          <p:nvPr/>
        </p:nvSpPr>
        <p:spPr>
          <a:xfrm rot="-10800000">
            <a:off x="12409253" y="0"/>
            <a:ext cx="5871820" cy="3280879"/>
          </a:xfrm>
          <a:custGeom>
            <a:avLst/>
            <a:gdLst/>
            <a:ahLst/>
            <a:cxnLst/>
            <a:rect l="l" t="t" r="r" b="b"/>
            <a:pathLst>
              <a:path w="5871820" h="3280879">
                <a:moveTo>
                  <a:pt x="0" y="0"/>
                </a:moveTo>
                <a:lnTo>
                  <a:pt x="5871820" y="0"/>
                </a:lnTo>
                <a:lnTo>
                  <a:pt x="5871820" y="3280880"/>
                </a:lnTo>
                <a:lnTo>
                  <a:pt x="0" y="3280880"/>
                </a:lnTo>
                <a:lnTo>
                  <a:pt x="0" y="0"/>
                </a:lnTo>
                <a:close/>
              </a:path>
            </a:pathLst>
          </a:custGeom>
          <a:blipFill>
            <a:blip r:embed="rId2">
              <a:alphaModFix amt="69000"/>
            </a:blip>
            <a:stretch>
              <a:fillRect/>
            </a:stretch>
          </a:blipFill>
        </p:spPr>
      </p:sp>
      <p:sp>
        <p:nvSpPr>
          <p:cNvPr id="5" name="Freeform 14"/>
          <p:cNvSpPr/>
          <p:nvPr/>
        </p:nvSpPr>
        <p:spPr>
          <a:xfrm rot="-10800000" flipH="1" flipV="1">
            <a:off x="20782" y="6988803"/>
            <a:ext cx="5871820" cy="3280879"/>
          </a:xfrm>
          <a:custGeom>
            <a:avLst/>
            <a:gdLst/>
            <a:ahLst/>
            <a:cxnLst/>
            <a:rect l="l" t="t" r="r" b="b"/>
            <a:pathLst>
              <a:path w="5871820" h="3280879">
                <a:moveTo>
                  <a:pt x="5871820" y="3280880"/>
                </a:moveTo>
                <a:lnTo>
                  <a:pt x="0" y="3280880"/>
                </a:lnTo>
                <a:lnTo>
                  <a:pt x="0" y="0"/>
                </a:lnTo>
                <a:lnTo>
                  <a:pt x="5871820" y="0"/>
                </a:lnTo>
                <a:lnTo>
                  <a:pt x="5871820" y="3280880"/>
                </a:lnTo>
                <a:close/>
              </a:path>
            </a:pathLst>
          </a:custGeom>
          <a:blipFill>
            <a:blip r:embed="rId2">
              <a:alphaModFix amt="69000"/>
            </a:blip>
            <a:stretch>
              <a:fillRect/>
            </a:stretch>
          </a:blipFill>
        </p:spPr>
      </p:sp>
      <p:sp>
        <p:nvSpPr>
          <p:cNvPr id="7" name="TextBox 6"/>
          <p:cNvSpPr txBox="1"/>
          <p:nvPr/>
        </p:nvSpPr>
        <p:spPr>
          <a:xfrm>
            <a:off x="381000" y="2717034"/>
            <a:ext cx="17449800" cy="4247317"/>
          </a:xfrm>
          <a:prstGeom prst="rect">
            <a:avLst/>
          </a:prstGeom>
          <a:noFill/>
        </p:spPr>
        <p:txBody>
          <a:bodyPr wrap="square" rtlCol="0">
            <a:spAutoFit/>
          </a:bodyPr>
          <a:lstStyle/>
          <a:p>
            <a:pPr algn="just" rtl="1">
              <a:lnSpc>
                <a:spcPct val="150000"/>
              </a:lnSpc>
            </a:pPr>
            <a:r>
              <a:rPr lang="ar-SA" sz="3600" dirty="0"/>
              <a:t> يتم تثبيت حساس الالتراسونك علي الجرار من الامام ويقوم حساس الالتراسونك بارسال موجات فوق صوتية علي السكة ويمتاز بكشف العوائق علي مسافه 10 متر وتم تزويد </a:t>
            </a:r>
            <a:r>
              <a:rPr lang="ar-EG" sz="3600" dirty="0"/>
              <a:t>الجرار</a:t>
            </a:r>
            <a:r>
              <a:rPr lang="ar-SA" sz="3600" dirty="0"/>
              <a:t> بلمبات كل لمبة لها مسافة محددة </a:t>
            </a:r>
            <a:r>
              <a:rPr lang="ar-EG" sz="3600" dirty="0"/>
              <a:t>ترتبط بحساس الالتراسونك </a:t>
            </a:r>
            <a:r>
              <a:rPr lang="ar-SA" sz="3600" dirty="0"/>
              <a:t>ويتم وقوف القطار عند لمبة الخطر اذا استمر وجود العائق علي مسافه </a:t>
            </a:r>
            <a:r>
              <a:rPr lang="en-US" sz="3600" dirty="0"/>
              <a:t>15</a:t>
            </a:r>
            <a:r>
              <a:rPr lang="ar-SA" sz="3600" dirty="0"/>
              <a:t> </a:t>
            </a:r>
            <a:r>
              <a:rPr lang="ar-EG" sz="3600" dirty="0"/>
              <a:t>س</a:t>
            </a:r>
            <a:r>
              <a:rPr lang="ar-SA" sz="3600" dirty="0"/>
              <a:t>م وعند استمرار وجود العائق تتعرض موجات الحساس للانعكاس وتعود الي الجهاز ثم يقوم حساس الالتراسونك بارسال اشارة الي دائرة الفرامل لتنفيذ اجراء فوري للتوقف لتجنب التصادم </a:t>
            </a:r>
            <a:r>
              <a:rPr lang="ar-EG" sz="3600" dirty="0"/>
              <a:t>مع إعطاء تحذير صوتي بوجود عائق</a:t>
            </a:r>
            <a:r>
              <a:rPr lang="ar-SA" sz="3600" dirty="0"/>
              <a:t>. </a:t>
            </a:r>
            <a:endParaRPr lang="en-US" sz="3600" dirty="0"/>
          </a:p>
        </p:txBody>
      </p:sp>
      <p:pic>
        <p:nvPicPr>
          <p:cNvPr id="8" name="Picture 7"/>
          <p:cNvPicPr/>
          <p:nvPr/>
        </p:nvPicPr>
        <p:blipFill rotWithShape="1">
          <a:blip r:embed="rId3" cstate="print">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Lst>
          </a:blip>
          <a:srcRect r="-249"/>
          <a:stretch/>
        </p:blipFill>
        <p:spPr bwMode="auto">
          <a:xfrm>
            <a:off x="4013101" y="7014393"/>
            <a:ext cx="10261798" cy="274320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57089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7">
                                            <p:txEl>
                                              <p:pRg st="0" end="0"/>
                                            </p:txEl>
                                          </p:spTgt>
                                        </p:tgtEl>
                                        <p:attrNameLst>
                                          <p:attrName>style.visibility</p:attrName>
                                        </p:attrNameLst>
                                      </p:cBhvr>
                                      <p:to>
                                        <p:strVal val="visible"/>
                                      </p:to>
                                    </p:set>
                                    <p:animEffect transition="in" filter="fade">
                                      <p:cBhvr>
                                        <p:cTn id="21" dur="500"/>
                                        <p:tgtEl>
                                          <p:spTgt spid="7">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down)">
                                      <p:cBhvr>
                                        <p:cTn id="2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D9A315C-24C3-B3E0-4B6B-B72321C5313F}"/>
              </a:ext>
            </a:extLst>
          </p:cNvPr>
          <p:cNvSpPr txBox="1"/>
          <p:nvPr/>
        </p:nvSpPr>
        <p:spPr>
          <a:xfrm>
            <a:off x="571500" y="342900"/>
            <a:ext cx="17145000" cy="2146934"/>
          </a:xfrm>
          <a:prstGeom prst="rect">
            <a:avLst/>
          </a:prstGeom>
          <a:noFill/>
        </p:spPr>
        <p:txBody>
          <a:bodyPr wrap="square" rtlCol="0">
            <a:spAutoFit/>
          </a:bodyPr>
          <a:lstStyle/>
          <a:p>
            <a:pPr algn="ctr" rtl="1">
              <a:lnSpc>
                <a:spcPct val="150000"/>
              </a:lnSpc>
              <a:spcAft>
                <a:spcPts val="1000"/>
              </a:spcAft>
            </a:pPr>
            <a:r>
              <a:rPr lang="ar-EG" sz="4400" b="1" u="sng" dirty="0">
                <a:solidFill>
                  <a:srgbClr val="56AAF0"/>
                </a:solidFill>
                <a:latin typeface="Dynamo"/>
              </a:rPr>
              <a:t>بيانات عن أجهزة الاستشعار بالموجات فوق الصوتية</a:t>
            </a:r>
            <a:endParaRPr lang="en-US" sz="4400" b="1" u="sng" dirty="0">
              <a:solidFill>
                <a:srgbClr val="56AAF0"/>
              </a:solidFill>
              <a:latin typeface="Dynamo"/>
            </a:endParaRPr>
          </a:p>
          <a:p>
            <a:pPr algn="ctr">
              <a:lnSpc>
                <a:spcPct val="150000"/>
              </a:lnSpc>
              <a:spcAft>
                <a:spcPts val="1000"/>
              </a:spcAft>
            </a:pPr>
            <a:r>
              <a:rPr lang="en-US" sz="4400" b="1" u="sng" dirty="0">
                <a:solidFill>
                  <a:srgbClr val="56AAF0"/>
                </a:solidFill>
                <a:latin typeface="Dynamo"/>
              </a:rPr>
              <a:t>Data about ultrasonic sensors</a:t>
            </a:r>
          </a:p>
        </p:txBody>
      </p:sp>
      <p:sp>
        <p:nvSpPr>
          <p:cNvPr id="8" name="Freeform 8">
            <a:extLst>
              <a:ext uri="{FF2B5EF4-FFF2-40B4-BE49-F238E27FC236}">
                <a16:creationId xmlns:a16="http://schemas.microsoft.com/office/drawing/2014/main" id="{B9641CB8-8802-59DA-1804-73D6525AA38E}"/>
              </a:ext>
            </a:extLst>
          </p:cNvPr>
          <p:cNvSpPr/>
          <p:nvPr/>
        </p:nvSpPr>
        <p:spPr>
          <a:xfrm rot="10800000">
            <a:off x="12409253" y="0"/>
            <a:ext cx="5871820" cy="3280879"/>
          </a:xfrm>
          <a:custGeom>
            <a:avLst/>
            <a:gdLst/>
            <a:ahLst/>
            <a:cxnLst/>
            <a:rect l="l" t="t" r="r" b="b"/>
            <a:pathLst>
              <a:path w="5871820" h="3280879">
                <a:moveTo>
                  <a:pt x="0" y="0"/>
                </a:moveTo>
                <a:lnTo>
                  <a:pt x="5871820" y="0"/>
                </a:lnTo>
                <a:lnTo>
                  <a:pt x="5871820" y="3280880"/>
                </a:lnTo>
                <a:lnTo>
                  <a:pt x="0" y="3280880"/>
                </a:lnTo>
                <a:lnTo>
                  <a:pt x="0" y="0"/>
                </a:lnTo>
                <a:close/>
              </a:path>
            </a:pathLst>
          </a:custGeom>
          <a:blipFill>
            <a:blip r:embed="rId2">
              <a:alphaModFix amt="69000"/>
            </a:blip>
            <a:stretch>
              <a:fillRect/>
            </a:stretch>
          </a:blipFill>
        </p:spPr>
      </p:sp>
      <p:sp>
        <p:nvSpPr>
          <p:cNvPr id="9" name="Freeform 14">
            <a:extLst>
              <a:ext uri="{FF2B5EF4-FFF2-40B4-BE49-F238E27FC236}">
                <a16:creationId xmlns:a16="http://schemas.microsoft.com/office/drawing/2014/main" id="{C34A7793-0D49-1C88-74AD-44423C3804B7}"/>
              </a:ext>
            </a:extLst>
          </p:cNvPr>
          <p:cNvSpPr/>
          <p:nvPr/>
        </p:nvSpPr>
        <p:spPr>
          <a:xfrm rot="10800000" flipH="1" flipV="1">
            <a:off x="20782" y="6988803"/>
            <a:ext cx="5871820" cy="3280879"/>
          </a:xfrm>
          <a:custGeom>
            <a:avLst/>
            <a:gdLst/>
            <a:ahLst/>
            <a:cxnLst/>
            <a:rect l="l" t="t" r="r" b="b"/>
            <a:pathLst>
              <a:path w="5871820" h="3280879">
                <a:moveTo>
                  <a:pt x="5871820" y="3280880"/>
                </a:moveTo>
                <a:lnTo>
                  <a:pt x="0" y="3280880"/>
                </a:lnTo>
                <a:lnTo>
                  <a:pt x="0" y="0"/>
                </a:lnTo>
                <a:lnTo>
                  <a:pt x="5871820" y="0"/>
                </a:lnTo>
                <a:lnTo>
                  <a:pt x="5871820" y="3280880"/>
                </a:lnTo>
                <a:close/>
              </a:path>
            </a:pathLst>
          </a:custGeom>
          <a:blipFill>
            <a:blip r:embed="rId2">
              <a:alphaModFix amt="69000"/>
            </a:blip>
            <a:stretch>
              <a:fillRect/>
            </a:stretch>
          </a:blipFill>
        </p:spPr>
      </p:sp>
      <p:graphicFrame>
        <p:nvGraphicFramePr>
          <p:cNvPr id="2" name="Table 1">
            <a:extLst>
              <a:ext uri="{FF2B5EF4-FFF2-40B4-BE49-F238E27FC236}">
                <a16:creationId xmlns:a16="http://schemas.microsoft.com/office/drawing/2014/main" id="{E9C0DE1C-351B-83F6-42EB-8D7CE9787326}"/>
              </a:ext>
            </a:extLst>
          </p:cNvPr>
          <p:cNvGraphicFramePr>
            <a:graphicFrameLocks noGrp="1"/>
          </p:cNvGraphicFramePr>
          <p:nvPr>
            <p:extLst>
              <p:ext uri="{D42A27DB-BD31-4B8C-83A1-F6EECF244321}">
                <p14:modId xmlns:p14="http://schemas.microsoft.com/office/powerpoint/2010/main" val="2967177724"/>
              </p:ext>
            </p:extLst>
          </p:nvPr>
        </p:nvGraphicFramePr>
        <p:xfrm>
          <a:off x="2190750" y="2722306"/>
          <a:ext cx="13906500" cy="6977058"/>
        </p:xfrm>
        <a:graphic>
          <a:graphicData uri="http://schemas.openxmlformats.org/drawingml/2006/table">
            <a:tbl>
              <a:tblPr firstRow="1" bandRow="1">
                <a:tableStyleId>{22838BEF-8BB2-4498-84A7-C5851F593DF1}</a:tableStyleId>
              </a:tblPr>
              <a:tblGrid>
                <a:gridCol w="6835557">
                  <a:extLst>
                    <a:ext uri="{9D8B030D-6E8A-4147-A177-3AD203B41FA5}">
                      <a16:colId xmlns:a16="http://schemas.microsoft.com/office/drawing/2014/main" val="3041970356"/>
                    </a:ext>
                  </a:extLst>
                </a:gridCol>
                <a:gridCol w="7070943">
                  <a:extLst>
                    <a:ext uri="{9D8B030D-6E8A-4147-A177-3AD203B41FA5}">
                      <a16:colId xmlns:a16="http://schemas.microsoft.com/office/drawing/2014/main" val="1761391043"/>
                    </a:ext>
                  </a:extLst>
                </a:gridCol>
              </a:tblGrid>
              <a:tr h="634124">
                <a:tc gridSpan="2">
                  <a:txBody>
                    <a:bodyPr/>
                    <a:lstStyle/>
                    <a:p>
                      <a:pPr marL="0" marR="0" algn="ctr">
                        <a:lnSpc>
                          <a:spcPct val="107000"/>
                        </a:lnSpc>
                        <a:spcBef>
                          <a:spcPts val="0"/>
                        </a:spcBef>
                        <a:spcAft>
                          <a:spcPts val="800"/>
                        </a:spcAft>
                      </a:pPr>
                      <a:r>
                        <a:rPr lang="en-US" sz="3200" kern="100" dirty="0">
                          <a:effectLst/>
                        </a:rPr>
                        <a:t>Ultrasonic</a:t>
                      </a:r>
                      <a:endParaRPr lang="en-US" sz="2800" kern="100" dirty="0">
                        <a:effectLst/>
                        <a:latin typeface="Calibri" panose="020F0502020204030204" pitchFamily="34" charset="0"/>
                        <a:ea typeface="Calibri" panose="020F0502020204030204" pitchFamily="34" charset="0"/>
                        <a:cs typeface="Arial" panose="020B0604020202020204" pitchFamily="34" charset="0"/>
                      </a:endParaRPr>
                    </a:p>
                  </a:txBody>
                  <a:tcPr/>
                </a:tc>
                <a:tc hMerge="1">
                  <a:txBody>
                    <a:bodyPr/>
                    <a:lstStyle/>
                    <a:p>
                      <a:endParaRPr lang="en-US"/>
                    </a:p>
                  </a:txBody>
                  <a:tcPr/>
                </a:tc>
                <a:extLst>
                  <a:ext uri="{0D108BD9-81ED-4DB2-BD59-A6C34878D82A}">
                    <a16:rowId xmlns:a16="http://schemas.microsoft.com/office/drawing/2014/main" val="2467237650"/>
                  </a:ext>
                </a:extLst>
              </a:tr>
              <a:tr h="1172691">
                <a:tc>
                  <a:txBody>
                    <a:bodyPr/>
                    <a:lstStyle/>
                    <a:p>
                      <a:pPr marL="0" marR="0" algn="l">
                        <a:lnSpc>
                          <a:spcPct val="107000"/>
                        </a:lnSpc>
                        <a:spcBef>
                          <a:spcPts val="0"/>
                        </a:spcBef>
                        <a:spcAft>
                          <a:spcPts val="800"/>
                        </a:spcAft>
                      </a:pPr>
                      <a:r>
                        <a:rPr lang="en-US" sz="3200" b="1" kern="100" dirty="0">
                          <a:effectLst/>
                        </a:rPr>
                        <a:t>Detection Range</a:t>
                      </a:r>
                      <a:endParaRPr lang="en-US" sz="2800" b="1" kern="100" dirty="0">
                        <a:effectLst/>
                      </a:endParaRPr>
                    </a:p>
                    <a:p>
                      <a:pPr marL="0" marR="0" algn="r">
                        <a:lnSpc>
                          <a:spcPct val="107000"/>
                        </a:lnSpc>
                        <a:spcBef>
                          <a:spcPts val="0"/>
                        </a:spcBef>
                        <a:spcAft>
                          <a:spcPts val="800"/>
                        </a:spcAft>
                      </a:pPr>
                      <a:r>
                        <a:rPr lang="ar-SA" sz="3200" b="1" kern="100" dirty="0">
                          <a:effectLst/>
                        </a:rPr>
                        <a:t>نطاق الكشف</a:t>
                      </a:r>
                      <a:endParaRPr lang="en-US" sz="2800" b="1" kern="100" dirty="0">
                        <a:effectLst/>
                        <a:latin typeface="Calibri" panose="020F0502020204030204" pitchFamily="34" charset="0"/>
                        <a:ea typeface="Calibri" panose="020F0502020204030204" pitchFamily="34" charset="0"/>
                        <a:cs typeface="Arial" panose="020B0604020202020204" pitchFamily="34" charset="0"/>
                      </a:endParaRPr>
                    </a:p>
                  </a:txBody>
                  <a:tcPr marL="22225" marR="22225" marT="35560" marB="0"/>
                </a:tc>
                <a:tc>
                  <a:txBody>
                    <a:bodyPr/>
                    <a:lstStyle/>
                    <a:p>
                      <a:pPr marL="0" marR="0" algn="l" rtl="0">
                        <a:lnSpc>
                          <a:spcPct val="107000"/>
                        </a:lnSpc>
                        <a:spcBef>
                          <a:spcPts val="0"/>
                        </a:spcBef>
                        <a:spcAft>
                          <a:spcPts val="800"/>
                        </a:spcAft>
                      </a:pPr>
                      <a:r>
                        <a:rPr lang="ar-EG" sz="3200" b="1" kern="100" dirty="0">
                          <a:effectLst/>
                        </a:rPr>
                        <a:t>1</a:t>
                      </a:r>
                      <a:r>
                        <a:rPr lang="en-US" sz="3200" b="1" kern="100" dirty="0">
                          <a:effectLst/>
                        </a:rPr>
                        <a:t>cm to 10 m</a:t>
                      </a:r>
                      <a:endParaRPr lang="en-US" sz="2800" b="1" kern="100" dirty="0">
                        <a:effectLst/>
                        <a:latin typeface="Calibri" panose="020F0502020204030204" pitchFamily="34" charset="0"/>
                        <a:ea typeface="Calibri" panose="020F0502020204030204" pitchFamily="34" charset="0"/>
                        <a:cs typeface="Arial" panose="020B0604020202020204" pitchFamily="34" charset="0"/>
                      </a:endParaRPr>
                    </a:p>
                  </a:txBody>
                  <a:tcPr marL="22225" marR="22225" marT="35560" marB="0"/>
                </a:tc>
                <a:extLst>
                  <a:ext uri="{0D108BD9-81ED-4DB2-BD59-A6C34878D82A}">
                    <a16:rowId xmlns:a16="http://schemas.microsoft.com/office/drawing/2014/main" val="597108967"/>
                  </a:ext>
                </a:extLst>
              </a:tr>
              <a:tr h="1172691">
                <a:tc>
                  <a:txBody>
                    <a:bodyPr/>
                    <a:lstStyle/>
                    <a:p>
                      <a:pPr marL="0" marR="0" algn="l">
                        <a:lnSpc>
                          <a:spcPct val="107000"/>
                        </a:lnSpc>
                        <a:spcBef>
                          <a:spcPts val="0"/>
                        </a:spcBef>
                        <a:spcAft>
                          <a:spcPts val="800"/>
                        </a:spcAft>
                      </a:pPr>
                      <a:r>
                        <a:rPr lang="en-US" sz="3200" b="1" kern="100" dirty="0">
                          <a:effectLst/>
                        </a:rPr>
                        <a:t>Resolution</a:t>
                      </a:r>
                      <a:endParaRPr lang="en-US" sz="2800" b="1" kern="100" dirty="0">
                        <a:effectLst/>
                      </a:endParaRPr>
                    </a:p>
                    <a:p>
                      <a:pPr marL="0" marR="0" algn="r">
                        <a:lnSpc>
                          <a:spcPct val="107000"/>
                        </a:lnSpc>
                        <a:spcBef>
                          <a:spcPts val="0"/>
                        </a:spcBef>
                        <a:spcAft>
                          <a:spcPts val="800"/>
                        </a:spcAft>
                      </a:pPr>
                      <a:r>
                        <a:rPr lang="ar-SA" sz="3200" b="1" kern="100" dirty="0">
                          <a:effectLst/>
                        </a:rPr>
                        <a:t>دقة</a:t>
                      </a:r>
                      <a:endParaRPr lang="en-US" sz="2800" b="1" kern="100" dirty="0">
                        <a:effectLst/>
                        <a:latin typeface="Calibri" panose="020F0502020204030204" pitchFamily="34" charset="0"/>
                        <a:ea typeface="Calibri" panose="020F0502020204030204" pitchFamily="34" charset="0"/>
                        <a:cs typeface="Arial" panose="020B0604020202020204" pitchFamily="34" charset="0"/>
                      </a:endParaRPr>
                    </a:p>
                  </a:txBody>
                  <a:tcPr marL="22225" marR="22225" marT="35560" marB="0"/>
                </a:tc>
                <a:tc>
                  <a:txBody>
                    <a:bodyPr/>
                    <a:lstStyle/>
                    <a:p>
                      <a:pPr marL="0" marR="0" algn="l">
                        <a:lnSpc>
                          <a:spcPct val="107000"/>
                        </a:lnSpc>
                        <a:spcBef>
                          <a:spcPts val="0"/>
                        </a:spcBef>
                        <a:spcAft>
                          <a:spcPts val="800"/>
                        </a:spcAft>
                      </a:pPr>
                      <a:r>
                        <a:rPr lang="en-US" sz="3200" b="1" kern="100" dirty="0">
                          <a:effectLst/>
                        </a:rPr>
                        <a:t> mm</a:t>
                      </a:r>
                      <a:endParaRPr lang="en-US" sz="2800" b="1" kern="100" dirty="0">
                        <a:effectLst/>
                        <a:latin typeface="Calibri" panose="020F0502020204030204" pitchFamily="34" charset="0"/>
                        <a:ea typeface="Calibri" panose="020F0502020204030204" pitchFamily="34" charset="0"/>
                        <a:cs typeface="Arial" panose="020B0604020202020204" pitchFamily="34" charset="0"/>
                      </a:endParaRPr>
                    </a:p>
                  </a:txBody>
                  <a:tcPr marL="22225" marR="22225" marT="35560" marB="0"/>
                </a:tc>
                <a:extLst>
                  <a:ext uri="{0D108BD9-81ED-4DB2-BD59-A6C34878D82A}">
                    <a16:rowId xmlns:a16="http://schemas.microsoft.com/office/drawing/2014/main" val="2055143997"/>
                  </a:ext>
                </a:extLst>
              </a:tr>
              <a:tr h="1172691">
                <a:tc>
                  <a:txBody>
                    <a:bodyPr/>
                    <a:lstStyle/>
                    <a:p>
                      <a:pPr marL="0" marR="0" algn="l">
                        <a:lnSpc>
                          <a:spcPct val="107000"/>
                        </a:lnSpc>
                        <a:spcBef>
                          <a:spcPts val="0"/>
                        </a:spcBef>
                        <a:spcAft>
                          <a:spcPts val="800"/>
                        </a:spcAft>
                      </a:pPr>
                      <a:r>
                        <a:rPr lang="en-US" sz="3200" b="1" kern="100">
                          <a:effectLst/>
                        </a:rPr>
                        <a:t>Field of View</a:t>
                      </a:r>
                      <a:endParaRPr lang="en-US" sz="2800" b="1" kern="100">
                        <a:effectLst/>
                      </a:endParaRPr>
                    </a:p>
                    <a:p>
                      <a:pPr marL="0" marR="0" algn="r">
                        <a:lnSpc>
                          <a:spcPct val="107000"/>
                        </a:lnSpc>
                        <a:spcBef>
                          <a:spcPts val="0"/>
                        </a:spcBef>
                        <a:spcAft>
                          <a:spcPts val="800"/>
                        </a:spcAft>
                      </a:pPr>
                      <a:r>
                        <a:rPr lang="ar-SA" sz="3200" b="1" kern="100">
                          <a:effectLst/>
                        </a:rPr>
                        <a:t>مجال الرؤية</a:t>
                      </a:r>
                      <a:endParaRPr lang="en-US" sz="2800" b="1" kern="100">
                        <a:effectLst/>
                        <a:latin typeface="Calibri" panose="020F0502020204030204" pitchFamily="34" charset="0"/>
                        <a:ea typeface="Calibri" panose="020F0502020204030204" pitchFamily="34" charset="0"/>
                        <a:cs typeface="Arial" panose="020B0604020202020204" pitchFamily="34" charset="0"/>
                      </a:endParaRPr>
                    </a:p>
                  </a:txBody>
                  <a:tcPr marL="22225" marR="22225" marT="35560" marB="0"/>
                </a:tc>
                <a:tc>
                  <a:txBody>
                    <a:bodyPr/>
                    <a:lstStyle/>
                    <a:p>
                      <a:pPr marL="0" marR="0" algn="l">
                        <a:lnSpc>
                          <a:spcPct val="107000"/>
                        </a:lnSpc>
                        <a:spcBef>
                          <a:spcPts val="0"/>
                        </a:spcBef>
                        <a:spcAft>
                          <a:spcPts val="800"/>
                        </a:spcAft>
                      </a:pPr>
                      <a:r>
                        <a:rPr lang="en-US" sz="3200" b="1" kern="100" dirty="0">
                          <a:effectLst/>
                        </a:rPr>
                        <a:t>5° to 120°</a:t>
                      </a:r>
                      <a:endParaRPr lang="en-US" sz="2800" b="1" kern="100" dirty="0">
                        <a:effectLst/>
                        <a:latin typeface="Calibri" panose="020F0502020204030204" pitchFamily="34" charset="0"/>
                        <a:ea typeface="Calibri" panose="020F0502020204030204" pitchFamily="34" charset="0"/>
                        <a:cs typeface="Arial" panose="020B0604020202020204" pitchFamily="34" charset="0"/>
                      </a:endParaRPr>
                    </a:p>
                  </a:txBody>
                  <a:tcPr marL="22225" marR="22225" marT="35560" marB="0"/>
                </a:tc>
                <a:extLst>
                  <a:ext uri="{0D108BD9-81ED-4DB2-BD59-A6C34878D82A}">
                    <a16:rowId xmlns:a16="http://schemas.microsoft.com/office/drawing/2014/main" val="2084826727"/>
                  </a:ext>
                </a:extLst>
              </a:tr>
              <a:tr h="2231396">
                <a:tc>
                  <a:txBody>
                    <a:bodyPr/>
                    <a:lstStyle/>
                    <a:p>
                      <a:pPr marL="0" marR="0" algn="l">
                        <a:lnSpc>
                          <a:spcPct val="107000"/>
                        </a:lnSpc>
                        <a:spcBef>
                          <a:spcPts val="0"/>
                        </a:spcBef>
                        <a:spcAft>
                          <a:spcPts val="800"/>
                        </a:spcAft>
                      </a:pPr>
                      <a:r>
                        <a:rPr lang="en-US" sz="3200" b="1" kern="100" dirty="0">
                          <a:effectLst/>
                        </a:rPr>
                        <a:t>Main advantage</a:t>
                      </a:r>
                      <a:endParaRPr lang="en-US" sz="2800" b="1" kern="100" dirty="0">
                        <a:effectLst/>
                      </a:endParaRPr>
                    </a:p>
                    <a:p>
                      <a:pPr marL="0" marR="0" algn="r">
                        <a:lnSpc>
                          <a:spcPct val="107000"/>
                        </a:lnSpc>
                        <a:spcBef>
                          <a:spcPts val="0"/>
                        </a:spcBef>
                        <a:spcAft>
                          <a:spcPts val="800"/>
                        </a:spcAft>
                      </a:pPr>
                      <a:r>
                        <a:rPr lang="ar-SA" sz="3200" b="1" kern="100" dirty="0">
                          <a:effectLst/>
                        </a:rPr>
                        <a:t>الميزة الرئيسية</a:t>
                      </a:r>
                      <a:r>
                        <a:rPr lang="en-US" sz="3200" b="1" kern="100" dirty="0">
                          <a:effectLst/>
                        </a:rPr>
                        <a:t> </a:t>
                      </a:r>
                      <a:endParaRPr lang="en-US" sz="2800" b="1" kern="100" dirty="0">
                        <a:effectLst/>
                        <a:latin typeface="Calibri" panose="020F0502020204030204" pitchFamily="34" charset="0"/>
                        <a:ea typeface="Calibri" panose="020F0502020204030204" pitchFamily="34" charset="0"/>
                        <a:cs typeface="Arial" panose="020B0604020202020204" pitchFamily="34" charset="0"/>
                      </a:endParaRPr>
                    </a:p>
                  </a:txBody>
                  <a:tcPr marL="22225" marR="22225" marT="35560" marB="0"/>
                </a:tc>
                <a:tc>
                  <a:txBody>
                    <a:bodyPr/>
                    <a:lstStyle/>
                    <a:p>
                      <a:pPr marL="0" marR="0" algn="l">
                        <a:lnSpc>
                          <a:spcPct val="107000"/>
                        </a:lnSpc>
                        <a:spcBef>
                          <a:spcPts val="0"/>
                        </a:spcBef>
                        <a:spcAft>
                          <a:spcPts val="800"/>
                        </a:spcAft>
                      </a:pPr>
                      <a:r>
                        <a:rPr lang="en-US" sz="3200" b="1" kern="100" dirty="0">
                          <a:effectLst/>
                        </a:rPr>
                        <a:t>Able to detect objects in a smoke/gas-filled environment</a:t>
                      </a:r>
                      <a:endParaRPr lang="en-US" sz="2800" b="1" kern="100" dirty="0">
                        <a:effectLst/>
                      </a:endParaRPr>
                    </a:p>
                    <a:p>
                      <a:pPr marL="0" marR="0" algn="r" rtl="1">
                        <a:lnSpc>
                          <a:spcPct val="107000"/>
                        </a:lnSpc>
                        <a:spcBef>
                          <a:spcPts val="0"/>
                        </a:spcBef>
                        <a:spcAft>
                          <a:spcPts val="800"/>
                        </a:spcAft>
                      </a:pPr>
                      <a:r>
                        <a:rPr lang="ar-SA" sz="3200" b="1" kern="100" dirty="0">
                          <a:effectLst/>
                        </a:rPr>
                        <a:t>القدرة على اكتشاف الأشياء في بيئة مليئة بالدخان/الغاز</a:t>
                      </a:r>
                      <a:endParaRPr lang="en-US" sz="2800" b="1" kern="100" dirty="0">
                        <a:effectLst/>
                      </a:endParaRPr>
                    </a:p>
                    <a:p>
                      <a:pPr marL="0" marR="0" algn="l">
                        <a:lnSpc>
                          <a:spcPct val="107000"/>
                        </a:lnSpc>
                        <a:spcBef>
                          <a:spcPts val="0"/>
                        </a:spcBef>
                        <a:spcAft>
                          <a:spcPts val="800"/>
                        </a:spcAft>
                      </a:pPr>
                      <a:r>
                        <a:rPr lang="en-US" sz="3200" b="1" kern="100" dirty="0">
                          <a:effectLst/>
                        </a:rPr>
                        <a:t> </a:t>
                      </a:r>
                      <a:endParaRPr lang="en-US" sz="2800" b="1" kern="100" dirty="0">
                        <a:effectLst/>
                        <a:latin typeface="Calibri" panose="020F0502020204030204" pitchFamily="34" charset="0"/>
                        <a:ea typeface="Calibri" panose="020F0502020204030204" pitchFamily="34" charset="0"/>
                        <a:cs typeface="Arial" panose="020B0604020202020204" pitchFamily="34" charset="0"/>
                      </a:endParaRPr>
                    </a:p>
                  </a:txBody>
                  <a:tcPr marL="22225" marR="22225" marT="35560" marB="0"/>
                </a:tc>
                <a:extLst>
                  <a:ext uri="{0D108BD9-81ED-4DB2-BD59-A6C34878D82A}">
                    <a16:rowId xmlns:a16="http://schemas.microsoft.com/office/drawing/2014/main" val="3257614106"/>
                  </a:ext>
                </a:extLst>
              </a:tr>
            </a:tbl>
          </a:graphicData>
        </a:graphic>
      </p:graphicFrame>
      <p:pic>
        <p:nvPicPr>
          <p:cNvPr id="3" name="Picture 2">
            <a:extLst>
              <a:ext uri="{FF2B5EF4-FFF2-40B4-BE49-F238E27FC236}">
                <a16:creationId xmlns:a16="http://schemas.microsoft.com/office/drawing/2014/main" id="{891C700F-868C-3E10-1BD5-EF37A90E5870}"/>
              </a:ext>
            </a:extLst>
          </p:cNvPr>
          <p:cNvPicPr/>
          <p:nvPr/>
        </p:nvPicPr>
        <p:blipFill rotWithShape="1">
          <a:blip r:embed="rId3">
            <a:extLst>
              <a:ext uri="{28A0092B-C50C-407E-A947-70E740481C1C}">
                <a14:useLocalDpi xmlns:a14="http://schemas.microsoft.com/office/drawing/2010/main" val="0"/>
              </a:ext>
            </a:extLst>
          </a:blip>
          <a:srcRect b="26973"/>
          <a:stretch/>
        </p:blipFill>
        <p:spPr bwMode="auto">
          <a:xfrm>
            <a:off x="571500" y="913218"/>
            <a:ext cx="3214255" cy="1576616"/>
          </a:xfrm>
          <a:prstGeom prst="rect">
            <a:avLst/>
          </a:prstGeom>
          <a:noFill/>
        </p:spPr>
      </p:pic>
    </p:spTree>
    <p:extLst>
      <p:ext uri="{BB962C8B-B14F-4D97-AF65-F5344CB8AC3E}">
        <p14:creationId xmlns:p14="http://schemas.microsoft.com/office/powerpoint/2010/main" val="128175006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1000"/>
                                        <p:tgtEl>
                                          <p:spTgt spid="6">
                                            <p:txEl>
                                              <p:pRg st="1" end="1"/>
                                            </p:txEl>
                                          </p:spTgt>
                                        </p:tgtEl>
                                      </p:cBhvr>
                                    </p:animEffect>
                                    <p:anim calcmode="lin" valueType="num">
                                      <p:cBhvr>
                                        <p:cTn id="13"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down)">
                                      <p:cBhvr>
                                        <p:cTn id="19" dur="500"/>
                                        <p:tgtEl>
                                          <p:spTgt spid="3"/>
                                        </p:tgtEl>
                                      </p:cBhvr>
                                    </p:animEffect>
                                  </p:childTnLst>
                                </p:cTn>
                              </p:par>
                              <p:par>
                                <p:cTn id="20" presetID="22" presetClass="entr" presetSubtype="4" fill="hold" nodeType="with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down)">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297539"/>
            <a:ext cx="16840200" cy="685800"/>
          </a:xfrm>
        </p:spPr>
        <p:txBody>
          <a:bodyPr>
            <a:noAutofit/>
          </a:bodyPr>
          <a:lstStyle/>
          <a:p>
            <a:pPr lvl="0">
              <a:spcBef>
                <a:spcPct val="20000"/>
              </a:spcBef>
            </a:pPr>
            <a:r>
              <a:rPr lang="ar-EG" sz="7200" b="1" u="sng" dirty="0">
                <a:solidFill>
                  <a:srgbClr val="56AAF0"/>
                </a:solidFill>
                <a:latin typeface="Dynamo"/>
                <a:ea typeface="+mn-ea"/>
                <a:cs typeface="+mn-cs"/>
              </a:rPr>
              <a:t>طريقة تنفيذ المشروع عمليا</a:t>
            </a:r>
            <a:r>
              <a:rPr lang="ar-EG" sz="7200" b="1" dirty="0">
                <a:solidFill>
                  <a:srgbClr val="56AAF0"/>
                </a:solidFill>
                <a:latin typeface="Dynamo"/>
                <a:ea typeface="+mn-ea"/>
                <a:cs typeface="+mn-cs"/>
              </a:rPr>
              <a:t> </a:t>
            </a:r>
            <a:br>
              <a:rPr lang="en-US" sz="6600" b="1" dirty="0">
                <a:solidFill>
                  <a:srgbClr val="FF0000"/>
                </a:solidFill>
                <a:ea typeface="+mn-ea"/>
                <a:cs typeface="+mn-cs"/>
              </a:rPr>
            </a:br>
            <a:endParaRPr lang="en-US" sz="7200" dirty="0"/>
          </a:p>
        </p:txBody>
      </p:sp>
      <p:sp>
        <p:nvSpPr>
          <p:cNvPr id="3" name="Content Placeholder 2"/>
          <p:cNvSpPr>
            <a:spLocks noGrp="1"/>
          </p:cNvSpPr>
          <p:nvPr>
            <p:ph idx="1"/>
          </p:nvPr>
        </p:nvSpPr>
        <p:spPr>
          <a:xfrm>
            <a:off x="457200" y="2324100"/>
            <a:ext cx="16611600" cy="7696200"/>
          </a:xfrm>
        </p:spPr>
        <p:txBody>
          <a:bodyPr>
            <a:normAutofit/>
          </a:bodyPr>
          <a:lstStyle/>
          <a:p>
            <a:pPr marL="0" indent="0" algn="r" rtl="1">
              <a:lnSpc>
                <a:spcPct val="150000"/>
              </a:lnSpc>
              <a:buNone/>
            </a:pPr>
            <a:r>
              <a:rPr lang="ar-EG" sz="4400" b="1" dirty="0">
                <a:solidFill>
                  <a:srgbClr val="7030A0"/>
                </a:solidFill>
              </a:rPr>
              <a:t>تقنية</a:t>
            </a:r>
            <a:r>
              <a:rPr lang="en-US" sz="4400" b="1" dirty="0">
                <a:solidFill>
                  <a:srgbClr val="7030A0"/>
                </a:solidFill>
              </a:rPr>
              <a:t>LiDAR </a:t>
            </a:r>
            <a:r>
              <a:rPr lang="ar-EG" sz="4400" b="1" dirty="0">
                <a:solidFill>
                  <a:srgbClr val="7030A0"/>
                </a:solidFill>
              </a:rPr>
              <a:t> في اكتشاف عوائق القطارات</a:t>
            </a:r>
          </a:p>
          <a:p>
            <a:pPr marL="0" indent="0" algn="just" rtl="1">
              <a:lnSpc>
                <a:spcPct val="150000"/>
              </a:lnSpc>
              <a:buNone/>
            </a:pPr>
            <a:r>
              <a:rPr lang="ar-EG" sz="3600" dirty="0"/>
              <a:t>تقنية</a:t>
            </a:r>
            <a:r>
              <a:rPr lang="en-US" sz="3600" dirty="0"/>
              <a:t>LiDAR (Light Detection and Ranging) </a:t>
            </a:r>
            <a:r>
              <a:rPr lang="ar-EG" sz="3600" dirty="0"/>
              <a:t> هي واحدة من التقنيات المتقدمة التي تُستخدم بشكل متزايد في مجال النقل بالسكك الحديدية لتحسين السلامة وزيادة الكفاءة التشغيلية. تعتمد هذه التقنية على استخدام نبضات الليزر لقياس المسافات بدقة وتوفير صورة ثلاثية الأبعاد للمحيط.</a:t>
            </a:r>
          </a:p>
          <a:p>
            <a:pPr marL="0" indent="0" algn="r" rtl="1">
              <a:buNone/>
            </a:pPr>
            <a:r>
              <a:rPr lang="ar-EG" sz="4400" b="1" dirty="0">
                <a:solidFill>
                  <a:srgbClr val="7030A0"/>
                </a:solidFill>
              </a:rPr>
              <a:t>كيف تعمل تقنية </a:t>
            </a:r>
            <a:r>
              <a:rPr lang="en-US" sz="4400" b="1" dirty="0">
                <a:solidFill>
                  <a:srgbClr val="7030A0"/>
                </a:solidFill>
              </a:rPr>
              <a:t> LiDAR؟</a:t>
            </a:r>
          </a:p>
          <a:p>
            <a:pPr marL="0" indent="0" algn="just" rtl="1">
              <a:buNone/>
            </a:pPr>
            <a:r>
              <a:rPr lang="ar-EG" sz="3600" dirty="0"/>
              <a:t>جهاز</a:t>
            </a:r>
            <a:r>
              <a:rPr lang="en-US" sz="3600" dirty="0"/>
              <a:t> LiDAR </a:t>
            </a:r>
            <a:r>
              <a:rPr lang="ar-EG" sz="3600" dirty="0"/>
              <a:t>يرسل نبضات ليزرية قصيرة باتجاه المنطقة الأمامية للقطار. عندما تصطدم هذه النبضات بالأجسام أو العوائق، تنعكس مرة أخرى إلى الجهاز. يتم قياس الوقت الذي تستغرقه النبضة للعودة، مما يسمح بحساب المسافة بين الجهاز والعائق. هذه المعلومات تُستخدم لإنشاء خريطة ثلاثية الأبعاد دقيقة للمحيط.</a:t>
            </a:r>
          </a:p>
          <a:p>
            <a:pPr marL="0" indent="0" algn="r" rtl="1">
              <a:lnSpc>
                <a:spcPct val="150000"/>
              </a:lnSpc>
              <a:buNone/>
            </a:pPr>
            <a:endParaRPr lang="ar-EG" sz="4400" dirty="0">
              <a:solidFill>
                <a:srgbClr val="7030A0"/>
              </a:solidFill>
            </a:endParaRPr>
          </a:p>
        </p:txBody>
      </p:sp>
      <p:sp>
        <p:nvSpPr>
          <p:cNvPr id="5" name="Freeform 14"/>
          <p:cNvSpPr/>
          <p:nvPr/>
        </p:nvSpPr>
        <p:spPr>
          <a:xfrm rot="-10800000" flipH="1" flipV="1">
            <a:off x="20782" y="6988803"/>
            <a:ext cx="5871820" cy="3280879"/>
          </a:xfrm>
          <a:custGeom>
            <a:avLst/>
            <a:gdLst/>
            <a:ahLst/>
            <a:cxnLst/>
            <a:rect l="l" t="t" r="r" b="b"/>
            <a:pathLst>
              <a:path w="5871820" h="3280879">
                <a:moveTo>
                  <a:pt x="5871820" y="3280880"/>
                </a:moveTo>
                <a:lnTo>
                  <a:pt x="0" y="3280880"/>
                </a:lnTo>
                <a:lnTo>
                  <a:pt x="0" y="0"/>
                </a:lnTo>
                <a:lnTo>
                  <a:pt x="5871820" y="0"/>
                </a:lnTo>
                <a:lnTo>
                  <a:pt x="5871820" y="3280880"/>
                </a:lnTo>
                <a:close/>
              </a:path>
            </a:pathLst>
          </a:custGeom>
          <a:blipFill>
            <a:blip r:embed="rId2">
              <a:alphaModFix amt="69000"/>
            </a:blip>
            <a:stretch>
              <a:fillRect/>
            </a:stretch>
          </a:blipFill>
        </p:spPr>
      </p:sp>
      <p:sp>
        <p:nvSpPr>
          <p:cNvPr id="6" name="Freeform 8">
            <a:extLst>
              <a:ext uri="{FF2B5EF4-FFF2-40B4-BE49-F238E27FC236}">
                <a16:creationId xmlns:a16="http://schemas.microsoft.com/office/drawing/2014/main" id="{9304F3A0-0D14-0F35-7C4F-E67F627CFE53}"/>
              </a:ext>
            </a:extLst>
          </p:cNvPr>
          <p:cNvSpPr/>
          <p:nvPr/>
        </p:nvSpPr>
        <p:spPr>
          <a:xfrm rot="10800000">
            <a:off x="12409253" y="0"/>
            <a:ext cx="5871820" cy="3280879"/>
          </a:xfrm>
          <a:custGeom>
            <a:avLst/>
            <a:gdLst/>
            <a:ahLst/>
            <a:cxnLst/>
            <a:rect l="l" t="t" r="r" b="b"/>
            <a:pathLst>
              <a:path w="5871820" h="3280879">
                <a:moveTo>
                  <a:pt x="0" y="0"/>
                </a:moveTo>
                <a:lnTo>
                  <a:pt x="5871820" y="0"/>
                </a:lnTo>
                <a:lnTo>
                  <a:pt x="5871820" y="3280880"/>
                </a:lnTo>
                <a:lnTo>
                  <a:pt x="0" y="3280880"/>
                </a:lnTo>
                <a:lnTo>
                  <a:pt x="0" y="0"/>
                </a:lnTo>
                <a:close/>
              </a:path>
            </a:pathLst>
          </a:custGeom>
          <a:blipFill>
            <a:blip r:embed="rId2">
              <a:alphaModFix amt="69000"/>
            </a:blip>
            <a:stretch>
              <a:fillRect/>
            </a:stretch>
          </a:blipFill>
        </p:spPr>
      </p:sp>
    </p:spTree>
    <p:extLst>
      <p:ext uri="{BB962C8B-B14F-4D97-AF65-F5344CB8AC3E}">
        <p14:creationId xmlns:p14="http://schemas.microsoft.com/office/powerpoint/2010/main" val="615570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500"/>
                                        <p:tgtEl>
                                          <p:spTgt spid="3">
                                            <p:txEl>
                                              <p:pRg st="0" end="0"/>
                                            </p:txEl>
                                          </p:spTgt>
                                        </p:tgtEl>
                                      </p:cBhvr>
                                    </p:animEffect>
                                  </p:childTnLst>
                                </p:cTn>
                              </p:par>
                              <p:par>
                                <p:cTn id="15" presetID="10" presetClass="entr" presetSubtype="0"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4525" y="689576"/>
            <a:ext cx="16840200" cy="1143000"/>
          </a:xfrm>
        </p:spPr>
        <p:txBody>
          <a:bodyPr>
            <a:noAutofit/>
          </a:bodyPr>
          <a:lstStyle/>
          <a:p>
            <a:r>
              <a:rPr lang="ar-EG" sz="7200" b="1" u="sng" dirty="0">
                <a:solidFill>
                  <a:srgbClr val="56AAF0"/>
                </a:solidFill>
                <a:latin typeface="Dynamo"/>
                <a:ea typeface="+mn-ea"/>
                <a:cs typeface="+mn-cs"/>
              </a:rPr>
              <a:t>شرح النظام</a:t>
            </a:r>
            <a:endParaRPr lang="en-US" sz="7200" b="1" u="sng" dirty="0">
              <a:solidFill>
                <a:srgbClr val="56AAF0"/>
              </a:solidFill>
              <a:latin typeface="Dynamo"/>
              <a:ea typeface="+mn-ea"/>
              <a:cs typeface="+mn-cs"/>
            </a:endParaRPr>
          </a:p>
        </p:txBody>
      </p:sp>
      <p:sp>
        <p:nvSpPr>
          <p:cNvPr id="3" name="Content Placeholder 2"/>
          <p:cNvSpPr>
            <a:spLocks noGrp="1"/>
          </p:cNvSpPr>
          <p:nvPr>
            <p:ph idx="1"/>
          </p:nvPr>
        </p:nvSpPr>
        <p:spPr>
          <a:xfrm>
            <a:off x="149225" y="1863436"/>
            <a:ext cx="17830800" cy="8420100"/>
          </a:xfrm>
        </p:spPr>
        <p:txBody>
          <a:bodyPr>
            <a:normAutofit/>
          </a:bodyPr>
          <a:lstStyle/>
          <a:p>
            <a:pPr algn="just" rtl="1">
              <a:lnSpc>
                <a:spcPct val="150000"/>
              </a:lnSpc>
            </a:pPr>
            <a:r>
              <a:rPr lang="ar-EG" sz="4000" dirty="0"/>
              <a:t>جهاز </a:t>
            </a:r>
            <a:r>
              <a:rPr lang="en-US" sz="4000" dirty="0"/>
              <a:t>LiDAR</a:t>
            </a:r>
            <a:r>
              <a:rPr lang="ar-EG" sz="4000" dirty="0"/>
              <a:t> المثبت على القطار يرسل نبضات ليزرية متعددة في جميع الاتجاهات</a:t>
            </a:r>
            <a:r>
              <a:rPr lang="en-US" sz="4000" dirty="0"/>
              <a:t> </a:t>
            </a:r>
            <a:r>
              <a:rPr lang="ar-EG" sz="4000" dirty="0"/>
              <a:t>ويتم قياس الوقت المستغرق لعودة النبضات المنعكسة بعد اصطدامها بالعوائق ثم يتم تحليل البيانات لإنشاء صورة ثلاثية الأبعاد للمحيط الأمامي للقطار تُتمكّن البرمجيات من تمييز العوائق المحتملة، مثل السيارات أو الأشجار أو الأشخاص إذا تم اكتشاف عائق يتم تنبيه السائق أو تفعيل أنظمة الفرامل الآلية للقطار لتجنب الاصطدام.</a:t>
            </a:r>
            <a:endParaRPr lang="en-US" sz="4000" dirty="0"/>
          </a:p>
          <a:p>
            <a:pPr algn="just" rtl="1">
              <a:lnSpc>
                <a:spcPct val="150000"/>
              </a:lnSpc>
            </a:pPr>
            <a:endParaRPr lang="en-US" sz="4000" dirty="0"/>
          </a:p>
        </p:txBody>
      </p:sp>
      <p:pic>
        <p:nvPicPr>
          <p:cNvPr id="7" name="Picture 3" descr="LIDAR Sensor - 3D Printed Rotating Platform - Robotic Vehicle #8 - YouTube"/>
          <p:cNvPicPr>
            <a:picLocks noChangeAspect="1" noChangeArrowheads="1"/>
          </p:cNvPicPr>
          <p:nvPr/>
        </p:nvPicPr>
        <p:blipFill rotWithShape="1">
          <a:blip r:embed="rId2">
            <a:extLst>
              <a:ext uri="{28A0092B-C50C-407E-A947-70E740481C1C}">
                <a14:useLocalDpi xmlns:a14="http://schemas.microsoft.com/office/drawing/2010/main" val="0"/>
              </a:ext>
            </a:extLst>
          </a:blip>
          <a:srcRect t="13468" b="25926"/>
          <a:stretch/>
        </p:blipFill>
        <p:spPr bwMode="auto">
          <a:xfrm>
            <a:off x="6930710" y="6073486"/>
            <a:ext cx="9982200" cy="3476469"/>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Distance Detection with the TF-Luna LiDAR and Raspberry Pi — Maker Porta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2595" y="6073486"/>
            <a:ext cx="4191000" cy="3523938"/>
          </a:xfrm>
          <a:prstGeom prst="rect">
            <a:avLst/>
          </a:prstGeom>
          <a:noFill/>
          <a:extLst>
            <a:ext uri="{909E8E84-426E-40DD-AFC4-6F175D3DCCD1}">
              <a14:hiddenFill xmlns:a14="http://schemas.microsoft.com/office/drawing/2010/main">
                <a:solidFill>
                  <a:srgbClr val="FFFFFF"/>
                </a:solidFill>
              </a14:hiddenFill>
            </a:ext>
          </a:extLst>
        </p:spPr>
      </p:pic>
      <p:sp>
        <p:nvSpPr>
          <p:cNvPr id="9" name="Freeform 8"/>
          <p:cNvSpPr/>
          <p:nvPr/>
        </p:nvSpPr>
        <p:spPr>
          <a:xfrm rot="-10800000">
            <a:off x="13653654" y="-266700"/>
            <a:ext cx="4641272" cy="2552700"/>
          </a:xfrm>
          <a:custGeom>
            <a:avLst/>
            <a:gdLst/>
            <a:ahLst/>
            <a:cxnLst/>
            <a:rect l="l" t="t" r="r" b="b"/>
            <a:pathLst>
              <a:path w="5871820" h="3280879">
                <a:moveTo>
                  <a:pt x="0" y="0"/>
                </a:moveTo>
                <a:lnTo>
                  <a:pt x="5871820" y="0"/>
                </a:lnTo>
                <a:lnTo>
                  <a:pt x="5871820" y="3280880"/>
                </a:lnTo>
                <a:lnTo>
                  <a:pt x="0" y="3280880"/>
                </a:lnTo>
                <a:lnTo>
                  <a:pt x="0" y="0"/>
                </a:lnTo>
                <a:close/>
              </a:path>
            </a:pathLst>
          </a:custGeom>
          <a:blipFill>
            <a:blip r:embed="rId4">
              <a:alphaModFix amt="69000"/>
            </a:blip>
            <a:stretch>
              <a:fillRect/>
            </a:stretch>
          </a:blipFill>
        </p:spPr>
        <p:txBody>
          <a:bodyPr/>
          <a:lstStyle/>
          <a:p>
            <a:endParaRPr lang="en-US" dirty="0"/>
          </a:p>
        </p:txBody>
      </p:sp>
      <p:sp>
        <p:nvSpPr>
          <p:cNvPr id="10" name="Freeform 14"/>
          <p:cNvSpPr/>
          <p:nvPr/>
        </p:nvSpPr>
        <p:spPr>
          <a:xfrm rot="-10800000" flipH="1" flipV="1">
            <a:off x="-165676" y="7465773"/>
            <a:ext cx="5871820" cy="3280879"/>
          </a:xfrm>
          <a:custGeom>
            <a:avLst/>
            <a:gdLst/>
            <a:ahLst/>
            <a:cxnLst/>
            <a:rect l="l" t="t" r="r" b="b"/>
            <a:pathLst>
              <a:path w="5871820" h="3280879">
                <a:moveTo>
                  <a:pt x="5871820" y="3280880"/>
                </a:moveTo>
                <a:lnTo>
                  <a:pt x="0" y="3280880"/>
                </a:lnTo>
                <a:lnTo>
                  <a:pt x="0" y="0"/>
                </a:lnTo>
                <a:lnTo>
                  <a:pt x="5871820" y="0"/>
                </a:lnTo>
                <a:lnTo>
                  <a:pt x="5871820" y="3280880"/>
                </a:lnTo>
                <a:close/>
              </a:path>
            </a:pathLst>
          </a:custGeom>
          <a:blipFill>
            <a:blip r:embed="rId4">
              <a:alphaModFix amt="69000"/>
            </a:blip>
            <a:stretch>
              <a:fillRect/>
            </a:stretch>
          </a:blipFill>
        </p:spPr>
      </p:sp>
    </p:spTree>
    <p:extLst>
      <p:ext uri="{BB962C8B-B14F-4D97-AF65-F5344CB8AC3E}">
        <p14:creationId xmlns:p14="http://schemas.microsoft.com/office/powerpoint/2010/main" val="3071870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500"/>
                                        <p:tgtEl>
                                          <p:spTgt spid="3">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1029"/>
                                        </p:tgtEl>
                                        <p:attrNameLst>
                                          <p:attrName>style.visibility</p:attrName>
                                        </p:attrNameLst>
                                      </p:cBhvr>
                                      <p:to>
                                        <p:strVal val="visible"/>
                                      </p:to>
                                    </p:set>
                                    <p:animEffect transition="in" filter="wipe(down)">
                                      <p:cBhvr>
                                        <p:cTn id="19" dur="500"/>
                                        <p:tgtEl>
                                          <p:spTgt spid="102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down)">
                                      <p:cBhvr>
                                        <p:cTn id="2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40891" y="1047750"/>
            <a:ext cx="8229600" cy="1143000"/>
          </a:xfrm>
        </p:spPr>
        <p:txBody>
          <a:bodyPr>
            <a:noAutofit/>
          </a:bodyPr>
          <a:lstStyle/>
          <a:p>
            <a:r>
              <a:rPr lang="ar-EG" b="1" dirty="0">
                <a:solidFill>
                  <a:srgbClr val="7030A0"/>
                </a:solidFill>
              </a:rPr>
              <a:t>خطوات حساب مسافة العائق باستخدام </a:t>
            </a:r>
            <a:r>
              <a:rPr lang="en-US" b="1" dirty="0">
                <a:solidFill>
                  <a:srgbClr val="7030A0"/>
                </a:solidFill>
              </a:rPr>
              <a:t>LiDAR</a:t>
            </a:r>
            <a:r>
              <a:rPr lang="ar-EG" b="1" dirty="0">
                <a:solidFill>
                  <a:srgbClr val="7030A0"/>
                </a:solidFill>
              </a:rPr>
              <a:t>حساس </a:t>
            </a:r>
            <a:br>
              <a:rPr lang="en-US" b="1" dirty="0">
                <a:solidFill>
                  <a:srgbClr val="7030A0"/>
                </a:solidFill>
              </a:rPr>
            </a:br>
            <a:endParaRPr lang="en-US" dirty="0">
              <a:solidFill>
                <a:srgbClr val="7030A0"/>
              </a:solidFill>
            </a:endParaRPr>
          </a:p>
        </p:txBody>
      </p:sp>
      <mc:AlternateContent xmlns:mc="http://schemas.openxmlformats.org/markup-compatibility/2006" xmlns:a14="http://schemas.microsoft.com/office/drawing/2010/main">
        <mc:Choice Requires="a14">
          <p:sp>
            <p:nvSpPr>
              <p:cNvPr id="4" name="Content Placeholder 3"/>
              <p:cNvSpPr>
                <a:spLocks noGrp="1"/>
              </p:cNvSpPr>
              <p:nvPr>
                <p:ph sz="half" idx="2"/>
              </p:nvPr>
            </p:nvSpPr>
            <p:spPr>
              <a:xfrm>
                <a:off x="457200" y="2174874"/>
                <a:ext cx="16840200" cy="7845425"/>
              </a:xfrm>
            </p:spPr>
            <p:txBody>
              <a:bodyPr>
                <a:normAutofit/>
              </a:bodyPr>
              <a:lstStyle/>
              <a:p>
                <a:pPr algn="r" rtl="1">
                  <a:lnSpc>
                    <a:spcPct val="150000"/>
                  </a:lnSpc>
                </a:pPr>
                <a:r>
                  <a:rPr lang="ar-EG" sz="4400" dirty="0"/>
                  <a:t>حساب المسافة باستخدام حساس </a:t>
                </a:r>
                <a:r>
                  <a:rPr lang="en-US" sz="4400" dirty="0"/>
                  <a:t>LiDAR</a:t>
                </a:r>
                <a:r>
                  <a:rPr lang="ar-EG" sz="4400" dirty="0"/>
                  <a:t> يعتمد على قياس الوقت الذي تستغرقه نبضة الليزر للانتقال من جهاز </a:t>
                </a:r>
                <a:r>
                  <a:rPr lang="en-US" sz="4400" dirty="0"/>
                  <a:t>LiDAR</a:t>
                </a:r>
                <a:r>
                  <a:rPr lang="ar-EG" sz="4400" dirty="0"/>
                  <a:t> إلى العائق ثم العودة مرة أخرى. </a:t>
                </a:r>
              </a:p>
              <a:p>
                <a:pPr algn="r" rtl="1">
                  <a:lnSpc>
                    <a:spcPct val="150000"/>
                  </a:lnSpc>
                </a:pPr>
                <a:r>
                  <a:rPr lang="ar-EG" sz="4400" dirty="0"/>
                  <a:t>حيث أن وقت الطيران : هو زمن الذي تستغرقه نبضة الليزر للانتقال من جهاز</a:t>
                </a:r>
                <a:r>
                  <a:rPr lang="en-US" sz="4400" dirty="0"/>
                  <a:t>LiDAR </a:t>
                </a:r>
                <a:r>
                  <a:rPr lang="ar-EG" sz="4400" dirty="0"/>
                  <a:t> إلى العائق ثم العودة مرة أخرى</a:t>
                </a:r>
              </a:p>
              <a:p>
                <a:pPr algn="r" rtl="1">
                  <a:lnSpc>
                    <a:spcPct val="150000"/>
                  </a:lnSpc>
                </a:pPr>
                <a:r>
                  <a:rPr lang="ar-EG" sz="4000" dirty="0"/>
                  <a:t>سرعة الضوء في الهواء تقريبًا </a:t>
                </a:r>
                <a:r>
                  <a:rPr lang="ar-EG" sz="4000" dirty="0">
                    <a:solidFill>
                      <a:srgbClr val="202124"/>
                    </a:solidFill>
                    <a:latin typeface="Helvetica Neue"/>
                  </a:rPr>
                  <a:t>3 × </a:t>
                </a:r>
                <a14:m>
                  <m:oMath xmlns:m="http://schemas.openxmlformats.org/officeDocument/2006/math">
                    <m:sSup>
                      <m:sSupPr>
                        <m:ctrlPr>
                          <a:rPr lang="ar-EG" sz="4000" i="1" dirty="0" smtClean="0">
                            <a:solidFill>
                              <a:srgbClr val="202124"/>
                            </a:solidFill>
                            <a:latin typeface="Cambria Math" panose="02040503050406030204" pitchFamily="18" charset="0"/>
                          </a:rPr>
                        </m:ctrlPr>
                      </m:sSupPr>
                      <m:e>
                        <m:r>
                          <a:rPr lang="ar-EG" sz="4000" b="0" i="1" dirty="0" smtClean="0">
                            <a:solidFill>
                              <a:srgbClr val="202124"/>
                            </a:solidFill>
                            <a:latin typeface="Cambria Math" panose="02040503050406030204" pitchFamily="18" charset="0"/>
                          </a:rPr>
                          <m:t>10</m:t>
                        </m:r>
                      </m:e>
                      <m:sup>
                        <m:r>
                          <a:rPr lang="ar-EG" sz="4000" b="0" i="1" dirty="0" smtClean="0">
                            <a:solidFill>
                              <a:srgbClr val="202124"/>
                            </a:solidFill>
                            <a:latin typeface="Cambria Math" panose="02040503050406030204" pitchFamily="18" charset="0"/>
                          </a:rPr>
                          <m:t>8</m:t>
                        </m:r>
                      </m:sup>
                    </m:sSup>
                  </m:oMath>
                </a14:m>
                <a:r>
                  <a:rPr lang="ar-EG" sz="4000" dirty="0">
                    <a:solidFill>
                      <a:srgbClr val="202124"/>
                    </a:solidFill>
                    <a:latin typeface="Helvetica Neue"/>
                  </a:rPr>
                  <a:t> متر في الثانية</a:t>
                </a:r>
                <a:endParaRPr lang="en-US" sz="4000" dirty="0"/>
              </a:p>
            </p:txBody>
          </p:sp>
        </mc:Choice>
        <mc:Fallback xmlns="">
          <p:sp>
            <p:nvSpPr>
              <p:cNvPr id="4" name="Content Placeholder 3"/>
              <p:cNvSpPr>
                <a:spLocks noGrp="1" noRot="1" noChangeAspect="1" noMove="1" noResize="1" noEditPoints="1" noAdjustHandles="1" noChangeArrowheads="1" noChangeShapeType="1" noTextEdit="1"/>
              </p:cNvSpPr>
              <p:nvPr>
                <p:ph sz="half" idx="2"/>
              </p:nvPr>
            </p:nvSpPr>
            <p:spPr>
              <a:xfrm>
                <a:off x="457200" y="2174874"/>
                <a:ext cx="16840200" cy="7845425"/>
              </a:xfrm>
              <a:blipFill>
                <a:blip r:embed="rId2"/>
                <a:stretch>
                  <a:fillRect l="-145" r="-1303"/>
                </a:stretch>
              </a:blipFill>
            </p:spPr>
            <p:txBody>
              <a:bodyPr/>
              <a:lstStyle/>
              <a:p>
                <a:r>
                  <a:rPr lang="en-US">
                    <a:noFill/>
                  </a:rPr>
                  <a:t> </a:t>
                </a:r>
              </a:p>
            </p:txBody>
          </p:sp>
        </mc:Fallback>
      </mc:AlternateContent>
      <p:pic>
        <p:nvPicPr>
          <p:cNvPr id="7" name="Picture 6"/>
          <p:cNvPicPr>
            <a:picLocks noChangeAspect="1"/>
          </p:cNvPicPr>
          <p:nvPr/>
        </p:nvPicPr>
        <p:blipFill rotWithShape="1">
          <a:blip r:embed="rId3">
            <a:extLst>
              <a:ext uri="{BEBA8EAE-BF5A-486C-A8C5-ECC9F3942E4B}">
                <a14:imgProps xmlns:a14="http://schemas.microsoft.com/office/drawing/2010/main">
                  <a14:imgLayer r:embed="rId4">
                    <a14:imgEffect>
                      <a14:sharpenSoften amount="50000"/>
                    </a14:imgEffect>
                  </a14:imgLayer>
                </a14:imgProps>
              </a:ext>
            </a:extLst>
          </a:blip>
          <a:srcRect t="22478"/>
          <a:stretch/>
        </p:blipFill>
        <p:spPr>
          <a:xfrm>
            <a:off x="2552700" y="5981700"/>
            <a:ext cx="4419600" cy="2135544"/>
          </a:xfrm>
          <a:prstGeom prst="rect">
            <a:avLst/>
          </a:prstGeom>
        </p:spPr>
      </p:pic>
      <p:sp>
        <p:nvSpPr>
          <p:cNvPr id="8" name="Freeform 7"/>
          <p:cNvSpPr/>
          <p:nvPr/>
        </p:nvSpPr>
        <p:spPr>
          <a:xfrm rot="-10800000">
            <a:off x="12420600" y="0"/>
            <a:ext cx="5860471" cy="3238500"/>
          </a:xfrm>
          <a:custGeom>
            <a:avLst/>
            <a:gdLst/>
            <a:ahLst/>
            <a:cxnLst/>
            <a:rect l="l" t="t" r="r" b="b"/>
            <a:pathLst>
              <a:path w="5871820" h="3280879">
                <a:moveTo>
                  <a:pt x="0" y="0"/>
                </a:moveTo>
                <a:lnTo>
                  <a:pt x="5871820" y="0"/>
                </a:lnTo>
                <a:lnTo>
                  <a:pt x="5871820" y="3280880"/>
                </a:lnTo>
                <a:lnTo>
                  <a:pt x="0" y="3280880"/>
                </a:lnTo>
                <a:lnTo>
                  <a:pt x="0" y="0"/>
                </a:lnTo>
                <a:close/>
              </a:path>
            </a:pathLst>
          </a:custGeom>
          <a:blipFill>
            <a:blip r:embed="rId5">
              <a:alphaModFix amt="69000"/>
            </a:blip>
            <a:stretch>
              <a:fillRect/>
            </a:stretch>
          </a:blipFill>
        </p:spPr>
      </p:sp>
      <p:sp>
        <p:nvSpPr>
          <p:cNvPr id="9" name="Freeform 14"/>
          <p:cNvSpPr/>
          <p:nvPr/>
        </p:nvSpPr>
        <p:spPr>
          <a:xfrm rot="-10800000" flipH="1" flipV="1">
            <a:off x="0" y="7023439"/>
            <a:ext cx="5871820" cy="3280879"/>
          </a:xfrm>
          <a:custGeom>
            <a:avLst/>
            <a:gdLst/>
            <a:ahLst/>
            <a:cxnLst/>
            <a:rect l="l" t="t" r="r" b="b"/>
            <a:pathLst>
              <a:path w="5871820" h="3280879">
                <a:moveTo>
                  <a:pt x="5871820" y="3280880"/>
                </a:moveTo>
                <a:lnTo>
                  <a:pt x="0" y="3280880"/>
                </a:lnTo>
                <a:lnTo>
                  <a:pt x="0" y="0"/>
                </a:lnTo>
                <a:lnTo>
                  <a:pt x="5871820" y="0"/>
                </a:lnTo>
                <a:lnTo>
                  <a:pt x="5871820" y="3280880"/>
                </a:lnTo>
                <a:close/>
              </a:path>
            </a:pathLst>
          </a:custGeom>
          <a:blipFill>
            <a:blip r:embed="rId5">
              <a:alphaModFix amt="69000"/>
            </a:blip>
            <a:stretch>
              <a:fillRect/>
            </a:stretch>
          </a:blipFill>
        </p:spPr>
      </p:sp>
    </p:spTree>
    <p:extLst>
      <p:ext uri="{BB962C8B-B14F-4D97-AF65-F5344CB8AC3E}">
        <p14:creationId xmlns:p14="http://schemas.microsoft.com/office/powerpoint/2010/main" val="824261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fade">
                                      <p:cBhvr>
                                        <p:cTn id="14" dur="500"/>
                                        <p:tgtEl>
                                          <p:spTgt spid="4">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fade">
                                      <p:cBhvr>
                                        <p:cTn id="19" dur="500"/>
                                        <p:tgtEl>
                                          <p:spTgt spid="4">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4">
                                            <p:txEl>
                                              <p:pRg st="2" end="2"/>
                                            </p:txEl>
                                          </p:spTgt>
                                        </p:tgtEl>
                                        <p:attrNameLst>
                                          <p:attrName>style.visibility</p:attrName>
                                        </p:attrNameLst>
                                      </p:cBhvr>
                                      <p:to>
                                        <p:strVal val="visible"/>
                                      </p:to>
                                    </p:set>
                                    <p:animEffect transition="in" filter="fade">
                                      <p:cBhvr>
                                        <p:cTn id="24" dur="500"/>
                                        <p:tgtEl>
                                          <p:spTgt spid="4">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down)">
                                      <p:cBhvr>
                                        <p:cTn id="2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6770" y="266700"/>
            <a:ext cx="17449800" cy="1143000"/>
          </a:xfrm>
        </p:spPr>
        <p:txBody>
          <a:bodyPr>
            <a:noAutofit/>
          </a:bodyPr>
          <a:lstStyle/>
          <a:p>
            <a:r>
              <a:rPr lang="en-US" sz="7200" b="1" u="sng" dirty="0">
                <a:solidFill>
                  <a:srgbClr val="56AAF0"/>
                </a:solidFill>
                <a:latin typeface="Dynamo"/>
                <a:ea typeface="+mn-ea"/>
                <a:cs typeface="+mn-cs"/>
              </a:rPr>
              <a:t>Video of Lightweight scanning LIDAR  </a:t>
            </a:r>
          </a:p>
        </p:txBody>
      </p:sp>
      <p:pic>
        <p:nvPicPr>
          <p:cNvPr id="6" name="Neuvition LiDAR-based Rail Traffic Track Safety _ Railway LiDAR - LiDAR for Railway Detection">
            <a:hlinkClick r:id="" action="ppaction://media"/>
          </p:cNvPr>
          <p:cNvPicPr>
            <a:picLocks noGrp="1" noChangeAspect="1"/>
          </p:cNvPicPr>
          <p:nvPr>
            <p:ph idx="1"/>
            <a:videoFile r:link="rId1"/>
            <p:extLst>
              <p:ext uri="{DAA4B4D4-6D71-4841-9C94-3DE7FCFB9230}">
                <p14:media xmlns:p14="http://schemas.microsoft.com/office/powerpoint/2010/main" r:embed="rId2">
                  <p14:trim end="4690"/>
                </p14:media>
              </p:ext>
            </p:extLst>
          </p:nvPr>
        </p:nvPicPr>
        <p:blipFill>
          <a:blip r:embed="rId4"/>
          <a:stretch>
            <a:fillRect/>
          </a:stretch>
        </p:blipFill>
        <p:spPr>
          <a:xfrm>
            <a:off x="457200" y="1600201"/>
            <a:ext cx="17449800" cy="8420100"/>
          </a:xfrm>
        </p:spPr>
      </p:pic>
    </p:spTree>
    <p:extLst>
      <p:ext uri="{BB962C8B-B14F-4D97-AF65-F5344CB8AC3E}">
        <p14:creationId xmlns:p14="http://schemas.microsoft.com/office/powerpoint/2010/main" val="136499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5" fill="hold" display="0">
                  <p:stCondLst>
                    <p:cond delay="indefinite"/>
                  </p:stCondLst>
                </p:cTn>
                <p:tgtEl>
                  <p:spTgt spid="6"/>
                </p:tgtEl>
              </p:cMediaNode>
            </p:video>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 y="846859"/>
            <a:ext cx="16383000" cy="1143000"/>
          </a:xfrm>
        </p:spPr>
        <p:txBody>
          <a:bodyPr>
            <a:normAutofit fontScale="90000"/>
          </a:bodyPr>
          <a:lstStyle/>
          <a:p>
            <a:pPr rtl="1">
              <a:lnSpc>
                <a:spcPct val="150000"/>
              </a:lnSpc>
            </a:pPr>
            <a:r>
              <a:rPr lang="ar-EG" sz="4900" b="1" dirty="0">
                <a:solidFill>
                  <a:srgbClr val="7030A0"/>
                </a:solidFill>
              </a:rPr>
              <a:t>السبب في عدم تطبيق نظام تقنية</a:t>
            </a:r>
            <a:r>
              <a:rPr lang="en-US" sz="4900" b="1" dirty="0">
                <a:solidFill>
                  <a:srgbClr val="7030A0"/>
                </a:solidFill>
              </a:rPr>
              <a:t>LiDAR </a:t>
            </a:r>
            <a:r>
              <a:rPr lang="ar-EG" sz="4900" b="1" dirty="0">
                <a:solidFill>
                  <a:srgbClr val="7030A0"/>
                </a:solidFill>
              </a:rPr>
              <a:t> في اكتشاف عوائق القطارات</a:t>
            </a:r>
            <a:br>
              <a:rPr lang="ar-EG" sz="4900" b="1" dirty="0">
                <a:solidFill>
                  <a:srgbClr val="7030A0"/>
                </a:solidFill>
              </a:rPr>
            </a:br>
            <a:r>
              <a:rPr lang="ar-EG" sz="4900" b="1" dirty="0">
                <a:solidFill>
                  <a:srgbClr val="7030A0"/>
                </a:solidFill>
              </a:rPr>
              <a:t> اثناء تنفيذ المشروع وإستخدام حساس </a:t>
            </a:r>
            <a:r>
              <a:rPr lang="en-US" sz="4900" b="1" dirty="0">
                <a:solidFill>
                  <a:srgbClr val="7030A0"/>
                </a:solidFill>
              </a:rPr>
              <a:t>ultra sonic </a:t>
            </a:r>
            <a:br>
              <a:rPr lang="ar-EG" b="1" dirty="0">
                <a:solidFill>
                  <a:srgbClr val="7030A0"/>
                </a:solidFill>
              </a:rPr>
            </a:br>
            <a:endParaRPr lang="en-US" b="1" dirty="0">
              <a:solidFill>
                <a:srgbClr val="7030A0"/>
              </a:solidFill>
            </a:endParaRPr>
          </a:p>
        </p:txBody>
      </p:sp>
      <p:sp>
        <p:nvSpPr>
          <p:cNvPr id="3" name="Content Placeholder 2"/>
          <p:cNvSpPr>
            <a:spLocks noGrp="1"/>
          </p:cNvSpPr>
          <p:nvPr>
            <p:ph idx="1"/>
          </p:nvPr>
        </p:nvSpPr>
        <p:spPr>
          <a:xfrm>
            <a:off x="685800" y="2171700"/>
            <a:ext cx="16916400" cy="8115300"/>
          </a:xfrm>
        </p:spPr>
        <p:txBody>
          <a:bodyPr>
            <a:normAutofit/>
          </a:bodyPr>
          <a:lstStyle/>
          <a:p>
            <a:pPr algn="justLow" rtl="1"/>
            <a:r>
              <a:rPr lang="ar-EG" sz="4400" dirty="0"/>
              <a:t>التكلفة الاجمالية  لحساس </a:t>
            </a:r>
            <a:r>
              <a:rPr lang="en-US" sz="4400" dirty="0"/>
              <a:t> LIDAR</a:t>
            </a:r>
            <a:r>
              <a:rPr lang="ar-EG" sz="4400" dirty="0"/>
              <a:t> مرتفعة جدا  اما بالنسبة لتنفيذ مشروع عمليا  فتعتبر التكلفة قليلة علي الشركات المنفذة </a:t>
            </a:r>
          </a:p>
          <a:p>
            <a:pPr algn="r" rtl="1"/>
            <a:endParaRPr lang="ar-EG" sz="4400" b="1" dirty="0">
              <a:solidFill>
                <a:srgbClr val="7030A0"/>
              </a:solidFill>
            </a:endParaRPr>
          </a:p>
        </p:txBody>
      </p:sp>
      <p:pic>
        <p:nvPicPr>
          <p:cNvPr id="4" name="Picture 3"/>
          <p:cNvPicPr>
            <a:picLocks noChangeAspect="1"/>
          </p:cNvPicPr>
          <p:nvPr/>
        </p:nvPicPr>
        <p:blipFill>
          <a:blip r:embed="rId2"/>
          <a:stretch>
            <a:fillRect/>
          </a:stretch>
        </p:blipFill>
        <p:spPr>
          <a:xfrm>
            <a:off x="2008897" y="4283944"/>
            <a:ext cx="12898605" cy="4621065"/>
          </a:xfrm>
          <a:prstGeom prst="rect">
            <a:avLst/>
          </a:prstGeom>
        </p:spPr>
      </p:pic>
      <p:sp>
        <p:nvSpPr>
          <p:cNvPr id="5" name="Freeform 4"/>
          <p:cNvSpPr/>
          <p:nvPr/>
        </p:nvSpPr>
        <p:spPr>
          <a:xfrm rot="-10800000">
            <a:off x="13639799" y="0"/>
            <a:ext cx="4641271" cy="2552700"/>
          </a:xfrm>
          <a:custGeom>
            <a:avLst/>
            <a:gdLst/>
            <a:ahLst/>
            <a:cxnLst/>
            <a:rect l="l" t="t" r="r" b="b"/>
            <a:pathLst>
              <a:path w="5871820" h="3280879">
                <a:moveTo>
                  <a:pt x="0" y="0"/>
                </a:moveTo>
                <a:lnTo>
                  <a:pt x="5871820" y="0"/>
                </a:lnTo>
                <a:lnTo>
                  <a:pt x="5871820" y="3280880"/>
                </a:lnTo>
                <a:lnTo>
                  <a:pt x="0" y="3280880"/>
                </a:lnTo>
                <a:lnTo>
                  <a:pt x="0" y="0"/>
                </a:lnTo>
                <a:close/>
              </a:path>
            </a:pathLst>
          </a:custGeom>
          <a:blipFill>
            <a:blip r:embed="rId3">
              <a:alphaModFix amt="69000"/>
            </a:blip>
            <a:stretch>
              <a:fillRect/>
            </a:stretch>
          </a:blipFill>
        </p:spPr>
      </p:sp>
      <p:sp>
        <p:nvSpPr>
          <p:cNvPr id="6" name="Freeform 14"/>
          <p:cNvSpPr/>
          <p:nvPr/>
        </p:nvSpPr>
        <p:spPr>
          <a:xfrm rot="-10800000" flipH="1" flipV="1">
            <a:off x="0" y="7505700"/>
            <a:ext cx="5410200" cy="2798618"/>
          </a:xfrm>
          <a:custGeom>
            <a:avLst/>
            <a:gdLst/>
            <a:ahLst/>
            <a:cxnLst/>
            <a:rect l="l" t="t" r="r" b="b"/>
            <a:pathLst>
              <a:path w="5871820" h="3280879">
                <a:moveTo>
                  <a:pt x="5871820" y="3280880"/>
                </a:moveTo>
                <a:lnTo>
                  <a:pt x="0" y="3280880"/>
                </a:lnTo>
                <a:lnTo>
                  <a:pt x="0" y="0"/>
                </a:lnTo>
                <a:lnTo>
                  <a:pt x="5871820" y="0"/>
                </a:lnTo>
                <a:lnTo>
                  <a:pt x="5871820" y="3280880"/>
                </a:lnTo>
                <a:close/>
              </a:path>
            </a:pathLst>
          </a:custGeom>
          <a:blipFill>
            <a:blip r:embed="rId3">
              <a:alphaModFix amt="69000"/>
            </a:blip>
            <a:stretch>
              <a:fillRect/>
            </a:stretch>
          </a:blipFill>
        </p:spPr>
      </p:sp>
    </p:spTree>
    <p:extLst>
      <p:ext uri="{BB962C8B-B14F-4D97-AF65-F5344CB8AC3E}">
        <p14:creationId xmlns:p14="http://schemas.microsoft.com/office/powerpoint/2010/main" val="894923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500"/>
                                        <p:tgtEl>
                                          <p:spTgt spid="3">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down)">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5" name="Freeform 5"/>
          <p:cNvSpPr/>
          <p:nvPr/>
        </p:nvSpPr>
        <p:spPr>
          <a:xfrm>
            <a:off x="3002783" y="4420667"/>
            <a:ext cx="1281730" cy="1223470"/>
          </a:xfrm>
          <a:custGeom>
            <a:avLst/>
            <a:gdLst/>
            <a:ahLst/>
            <a:cxnLst/>
            <a:rect l="l" t="t" r="r" b="b"/>
            <a:pathLst>
              <a:path w="1281730" h="1223470">
                <a:moveTo>
                  <a:pt x="0" y="0"/>
                </a:moveTo>
                <a:lnTo>
                  <a:pt x="1281731" y="0"/>
                </a:lnTo>
                <a:lnTo>
                  <a:pt x="1281731" y="1223470"/>
                </a:lnTo>
                <a:lnTo>
                  <a:pt x="0" y="12234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8489971" y="3543112"/>
            <a:ext cx="1251359" cy="1251359"/>
          </a:xfrm>
          <a:custGeom>
            <a:avLst/>
            <a:gdLst/>
            <a:ahLst/>
            <a:cxnLst/>
            <a:rect l="l" t="t" r="r" b="b"/>
            <a:pathLst>
              <a:path w="1251359" h="1251359">
                <a:moveTo>
                  <a:pt x="0" y="0"/>
                </a:moveTo>
                <a:lnTo>
                  <a:pt x="1251360" y="0"/>
                </a:lnTo>
                <a:lnTo>
                  <a:pt x="1251360" y="1251359"/>
                </a:lnTo>
                <a:lnTo>
                  <a:pt x="0" y="125135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TextBox 9"/>
          <p:cNvSpPr txBox="1"/>
          <p:nvPr/>
        </p:nvSpPr>
        <p:spPr>
          <a:xfrm>
            <a:off x="3763697" y="1209720"/>
            <a:ext cx="10760605" cy="1107996"/>
          </a:xfrm>
          <a:prstGeom prst="rect">
            <a:avLst/>
          </a:prstGeom>
        </p:spPr>
        <p:txBody>
          <a:bodyPr lIns="0" tIns="0" rIns="0" bIns="0" rtlCol="0" anchor="t">
            <a:spAutoFit/>
          </a:bodyPr>
          <a:lstStyle/>
          <a:p>
            <a:pPr algn="ctr"/>
            <a:r>
              <a:rPr lang="ar-EG" sz="7200" b="1" u="sng" dirty="0">
                <a:solidFill>
                  <a:srgbClr val="56AAF0"/>
                </a:solidFill>
                <a:latin typeface="Dynamo"/>
              </a:rPr>
              <a:t>خطوات تنفيذ المشروع </a:t>
            </a:r>
            <a:endParaRPr lang="en-US" sz="7200" b="1" u="sng" dirty="0">
              <a:solidFill>
                <a:srgbClr val="56AAF0"/>
              </a:solidFill>
              <a:latin typeface="Dynamo"/>
            </a:endParaRPr>
          </a:p>
        </p:txBody>
      </p:sp>
      <p:sp>
        <p:nvSpPr>
          <p:cNvPr id="4" name="TextBox 3">
            <a:extLst>
              <a:ext uri="{FF2B5EF4-FFF2-40B4-BE49-F238E27FC236}">
                <a16:creationId xmlns:a16="http://schemas.microsoft.com/office/drawing/2014/main" id="{8BFCE6F3-EC91-201A-E0B1-59FFA62D5DFE}"/>
              </a:ext>
            </a:extLst>
          </p:cNvPr>
          <p:cNvSpPr txBox="1"/>
          <p:nvPr/>
        </p:nvSpPr>
        <p:spPr>
          <a:xfrm>
            <a:off x="869702" y="2988647"/>
            <a:ext cx="16491896" cy="4454361"/>
          </a:xfrm>
          <a:prstGeom prst="rect">
            <a:avLst/>
          </a:prstGeom>
          <a:noFill/>
        </p:spPr>
        <p:txBody>
          <a:bodyPr wrap="square" rtlCol="0">
            <a:spAutoFit/>
          </a:bodyPr>
          <a:lstStyle/>
          <a:p>
            <a:pPr algn="r" rtl="1">
              <a:lnSpc>
                <a:spcPct val="250000"/>
              </a:lnSpc>
            </a:pPr>
            <a:r>
              <a:rPr lang="ar-EG" sz="4000" b="1" spc="11" dirty="0">
                <a:solidFill>
                  <a:srgbClr val="3275C5"/>
                </a:solidFill>
                <a:latin typeface="Source Sans Pro"/>
              </a:rPr>
              <a:t>1- تم تنفيذ نظام حماية مسير القطارات من العوائق الامامية باستخدام حساس</a:t>
            </a:r>
            <a:r>
              <a:rPr lang="en-US" sz="4000" b="1" spc="11" dirty="0">
                <a:solidFill>
                  <a:srgbClr val="3275C5"/>
                </a:solidFill>
                <a:latin typeface="Source Sans Pro"/>
              </a:rPr>
              <a:t> . Ultrasonic </a:t>
            </a:r>
            <a:r>
              <a:rPr lang="ar-EG" sz="4000" b="1" spc="11" dirty="0">
                <a:solidFill>
                  <a:srgbClr val="3275C5"/>
                </a:solidFill>
                <a:latin typeface="Source Sans Pro"/>
              </a:rPr>
              <a:t> </a:t>
            </a:r>
            <a:endParaRPr lang="en-US" sz="4000" b="1" spc="11" dirty="0">
              <a:solidFill>
                <a:srgbClr val="3275C5"/>
              </a:solidFill>
              <a:latin typeface="Source Sans Pro"/>
            </a:endParaRPr>
          </a:p>
          <a:p>
            <a:pPr algn="r" rtl="1">
              <a:lnSpc>
                <a:spcPct val="250000"/>
              </a:lnSpc>
            </a:pPr>
            <a:r>
              <a:rPr lang="ar-EG" sz="4000" b="1" spc="11" dirty="0">
                <a:solidFill>
                  <a:srgbClr val="3275C5"/>
                </a:solidFill>
                <a:latin typeface="Source Sans Pro"/>
              </a:rPr>
              <a:t>2- عمل تتابع للسيمافورات باستخدام الحساسات كبديل للتركات .</a:t>
            </a:r>
          </a:p>
          <a:p>
            <a:pPr algn="r" rtl="1">
              <a:lnSpc>
                <a:spcPct val="250000"/>
              </a:lnSpc>
            </a:pPr>
            <a:r>
              <a:rPr lang="ar-EG" sz="4000" b="1" spc="11" dirty="0">
                <a:solidFill>
                  <a:srgbClr val="3275C5"/>
                </a:solidFill>
                <a:latin typeface="Source Sans Pro"/>
              </a:rPr>
              <a:t>3- عمل نظام امان باستخدام الاجراس والانوار وذلك لتنبية الركاب بدخول القطار علي المحطة .</a:t>
            </a:r>
            <a:endParaRPr lang="en-US" sz="4000" b="1" spc="11" dirty="0">
              <a:solidFill>
                <a:srgbClr val="3275C5"/>
              </a:solidFill>
              <a:latin typeface="Source Sans Pro"/>
            </a:endParaRPr>
          </a:p>
        </p:txBody>
      </p:sp>
      <p:sp>
        <p:nvSpPr>
          <p:cNvPr id="2" name="Freeform 10">
            <a:extLst>
              <a:ext uri="{FF2B5EF4-FFF2-40B4-BE49-F238E27FC236}">
                <a16:creationId xmlns:a16="http://schemas.microsoft.com/office/drawing/2014/main" id="{7FD9FAE8-42C8-77EB-571A-47BC20102F97}"/>
              </a:ext>
            </a:extLst>
          </p:cNvPr>
          <p:cNvSpPr/>
          <p:nvPr/>
        </p:nvSpPr>
        <p:spPr>
          <a:xfrm>
            <a:off x="-463075" y="7194550"/>
            <a:ext cx="5863057" cy="4114800"/>
          </a:xfrm>
          <a:custGeom>
            <a:avLst/>
            <a:gdLst/>
            <a:ahLst/>
            <a:cxnLst/>
            <a:rect l="l" t="t" r="r" b="b"/>
            <a:pathLst>
              <a:path w="5863057" h="4114800">
                <a:moveTo>
                  <a:pt x="0" y="0"/>
                </a:moveTo>
                <a:lnTo>
                  <a:pt x="5863057" y="0"/>
                </a:lnTo>
                <a:lnTo>
                  <a:pt x="5863057"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3" name="Freeform 20">
            <a:extLst>
              <a:ext uri="{FF2B5EF4-FFF2-40B4-BE49-F238E27FC236}">
                <a16:creationId xmlns:a16="http://schemas.microsoft.com/office/drawing/2014/main" id="{2125875E-E95D-F56D-4266-D5CF748BC8F9}"/>
              </a:ext>
            </a:extLst>
          </p:cNvPr>
          <p:cNvSpPr/>
          <p:nvPr/>
        </p:nvSpPr>
        <p:spPr>
          <a:xfrm flipH="1" flipV="1">
            <a:off x="12866828" y="-976689"/>
            <a:ext cx="5863057" cy="4114800"/>
          </a:xfrm>
          <a:custGeom>
            <a:avLst/>
            <a:gdLst/>
            <a:ahLst/>
            <a:cxnLst/>
            <a:rect l="l" t="t" r="r" b="b"/>
            <a:pathLst>
              <a:path w="5863057" h="4114800">
                <a:moveTo>
                  <a:pt x="5863057" y="4114800"/>
                </a:moveTo>
                <a:lnTo>
                  <a:pt x="0" y="4114800"/>
                </a:lnTo>
                <a:lnTo>
                  <a:pt x="0" y="0"/>
                </a:lnTo>
                <a:lnTo>
                  <a:pt x="5863057" y="0"/>
                </a:lnTo>
                <a:lnTo>
                  <a:pt x="5863057" y="4114800"/>
                </a:lnTo>
                <a:close/>
              </a:path>
            </a:pathLst>
          </a:custGeom>
          <a:blipFill>
            <a:blip r:embed="rId7">
              <a:extLst>
                <a:ext uri="{96DAC541-7B7A-43D3-8B79-37D633B846F1}">
                  <asvg:svgBlip xmlns:asvg="http://schemas.microsoft.com/office/drawing/2016/SVG/main" r:embed="rId8"/>
                </a:ext>
              </a:extLst>
            </a:blip>
            <a:stretch>
              <a:fillRect/>
            </a:stretch>
          </a:blipFill>
        </p:spPr>
      </p:sp>
    </p:spTree>
    <p:extLst>
      <p:ext uri="{BB962C8B-B14F-4D97-AF65-F5344CB8AC3E}">
        <p14:creationId xmlns:p14="http://schemas.microsoft.com/office/powerpoint/2010/main" val="234072576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wipe(down)">
                                      <p:cBhvr>
                                        <p:cTn id="14" dur="500"/>
                                        <p:tgtEl>
                                          <p:spTgt spid="4">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wipe(down)">
                                      <p:cBhvr>
                                        <p:cTn id="19" dur="500"/>
                                        <p:tgtEl>
                                          <p:spTgt spid="4">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4">
                                            <p:txEl>
                                              <p:pRg st="2" end="2"/>
                                            </p:txEl>
                                          </p:spTgt>
                                        </p:tgtEl>
                                        <p:attrNameLst>
                                          <p:attrName>style.visibility</p:attrName>
                                        </p:attrNameLst>
                                      </p:cBhvr>
                                      <p:to>
                                        <p:strVal val="visible"/>
                                      </p:to>
                                    </p:set>
                                    <p:animEffect transition="in" filter="wipe(down)">
                                      <p:cBhvr>
                                        <p:cTn id="24"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5" name="Freeform 5"/>
          <p:cNvSpPr/>
          <p:nvPr/>
        </p:nvSpPr>
        <p:spPr>
          <a:xfrm>
            <a:off x="3002783" y="4420667"/>
            <a:ext cx="1281730" cy="1223470"/>
          </a:xfrm>
          <a:custGeom>
            <a:avLst/>
            <a:gdLst/>
            <a:ahLst/>
            <a:cxnLst/>
            <a:rect l="l" t="t" r="r" b="b"/>
            <a:pathLst>
              <a:path w="1281730" h="1223470">
                <a:moveTo>
                  <a:pt x="0" y="0"/>
                </a:moveTo>
                <a:lnTo>
                  <a:pt x="1281731" y="0"/>
                </a:lnTo>
                <a:lnTo>
                  <a:pt x="1281731" y="1223470"/>
                </a:lnTo>
                <a:lnTo>
                  <a:pt x="0" y="12234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8489971" y="3543112"/>
            <a:ext cx="1251359" cy="1251359"/>
          </a:xfrm>
          <a:custGeom>
            <a:avLst/>
            <a:gdLst/>
            <a:ahLst/>
            <a:cxnLst/>
            <a:rect l="l" t="t" r="r" b="b"/>
            <a:pathLst>
              <a:path w="1251359" h="1251359">
                <a:moveTo>
                  <a:pt x="0" y="0"/>
                </a:moveTo>
                <a:lnTo>
                  <a:pt x="1251360" y="0"/>
                </a:lnTo>
                <a:lnTo>
                  <a:pt x="1251360" y="1251359"/>
                </a:lnTo>
                <a:lnTo>
                  <a:pt x="0" y="125135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TextBox 9"/>
          <p:cNvSpPr txBox="1"/>
          <p:nvPr/>
        </p:nvSpPr>
        <p:spPr>
          <a:xfrm>
            <a:off x="3763697" y="617823"/>
            <a:ext cx="10760605" cy="1107996"/>
          </a:xfrm>
          <a:prstGeom prst="rect">
            <a:avLst/>
          </a:prstGeom>
        </p:spPr>
        <p:txBody>
          <a:bodyPr lIns="0" tIns="0" rIns="0" bIns="0" rtlCol="0" anchor="t">
            <a:spAutoFit/>
          </a:bodyPr>
          <a:lstStyle/>
          <a:p>
            <a:pPr algn="ctr"/>
            <a:r>
              <a:rPr lang="ar-EG" sz="7200" b="1" u="sng" dirty="0">
                <a:solidFill>
                  <a:srgbClr val="56AAF0"/>
                </a:solidFill>
                <a:latin typeface="Dynamo"/>
              </a:rPr>
              <a:t>مكونات المشروع </a:t>
            </a:r>
            <a:endParaRPr lang="en-US" sz="7200" b="1" u="sng" dirty="0">
              <a:solidFill>
                <a:srgbClr val="56AAF0"/>
              </a:solidFill>
              <a:latin typeface="Dynamo"/>
            </a:endParaRPr>
          </a:p>
        </p:txBody>
      </p:sp>
      <p:grpSp>
        <p:nvGrpSpPr>
          <p:cNvPr id="12" name="Group 12"/>
          <p:cNvGrpSpPr/>
          <p:nvPr/>
        </p:nvGrpSpPr>
        <p:grpSpPr>
          <a:xfrm>
            <a:off x="-4006574" y="-369454"/>
            <a:ext cx="7009358" cy="1159703"/>
            <a:chOff x="0" y="0"/>
            <a:chExt cx="1250766" cy="206940"/>
          </a:xfrm>
        </p:grpSpPr>
        <p:sp>
          <p:nvSpPr>
            <p:cNvPr id="13" name="Freeform 13"/>
            <p:cNvSpPr/>
            <p:nvPr/>
          </p:nvSpPr>
          <p:spPr>
            <a:xfrm>
              <a:off x="11494" y="0"/>
              <a:ext cx="1227777" cy="206940"/>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solidFill>
              <a:srgbClr val="3275C5"/>
            </a:solidFill>
          </p:spPr>
        </p:sp>
        <p:sp>
          <p:nvSpPr>
            <p:cNvPr id="14" name="TextBox 14"/>
            <p:cNvSpPr txBox="1"/>
            <p:nvPr/>
          </p:nvSpPr>
          <p:spPr>
            <a:xfrm>
              <a:off x="101600" y="19050"/>
              <a:ext cx="1047566" cy="187890"/>
            </a:xfrm>
            <a:prstGeom prst="rect">
              <a:avLst/>
            </a:prstGeom>
          </p:spPr>
          <p:txBody>
            <a:bodyPr lIns="83282" tIns="83282" rIns="83282" bIns="83282" rtlCol="0" anchor="ctr"/>
            <a:lstStyle/>
            <a:p>
              <a:pPr algn="ctr">
                <a:lnSpc>
                  <a:spcPts val="1993"/>
                </a:lnSpc>
              </a:pPr>
              <a:endParaRPr/>
            </a:p>
          </p:txBody>
        </p:sp>
      </p:grpSp>
      <p:grpSp>
        <p:nvGrpSpPr>
          <p:cNvPr id="15" name="Group 15"/>
          <p:cNvGrpSpPr/>
          <p:nvPr/>
        </p:nvGrpSpPr>
        <p:grpSpPr>
          <a:xfrm>
            <a:off x="-1748459" y="508418"/>
            <a:ext cx="3144637" cy="520282"/>
            <a:chOff x="0" y="0"/>
            <a:chExt cx="1250766" cy="206940"/>
          </a:xfrm>
        </p:grpSpPr>
        <p:sp>
          <p:nvSpPr>
            <p:cNvPr id="16" name="Freeform 16"/>
            <p:cNvSpPr/>
            <p:nvPr/>
          </p:nvSpPr>
          <p:spPr>
            <a:xfrm>
              <a:off x="13485" y="0"/>
              <a:ext cx="1223797" cy="206940"/>
            </a:xfrm>
            <a:custGeom>
              <a:avLst/>
              <a:gdLst/>
              <a:ahLst/>
              <a:cxnLst/>
              <a:rect l="l" t="t" r="r" b="b"/>
              <a:pathLst>
                <a:path w="1223797" h="206940">
                  <a:moveTo>
                    <a:pt x="214334" y="0"/>
                  </a:moveTo>
                  <a:lnTo>
                    <a:pt x="1212662" y="0"/>
                  </a:lnTo>
                  <a:cubicBezTo>
                    <a:pt x="1216822" y="0"/>
                    <a:pt x="1220577" y="2496"/>
                    <a:pt x="1222187" y="6333"/>
                  </a:cubicBezTo>
                  <a:cubicBezTo>
                    <a:pt x="1223796" y="10170"/>
                    <a:pt x="1222947" y="14598"/>
                    <a:pt x="1220032" y="17567"/>
                  </a:cubicBezTo>
                  <a:lnTo>
                    <a:pt x="1051330" y="189373"/>
                  </a:lnTo>
                  <a:cubicBezTo>
                    <a:pt x="1040297" y="200610"/>
                    <a:pt x="1025210" y="206940"/>
                    <a:pt x="1009462" y="206940"/>
                  </a:cubicBezTo>
                  <a:lnTo>
                    <a:pt x="11134" y="206940"/>
                  </a:lnTo>
                  <a:cubicBezTo>
                    <a:pt x="6974" y="206940"/>
                    <a:pt x="3219" y="204444"/>
                    <a:pt x="1609" y="200607"/>
                  </a:cubicBezTo>
                  <a:cubicBezTo>
                    <a:pt x="0" y="196770"/>
                    <a:pt x="849" y="192342"/>
                    <a:pt x="3764" y="189373"/>
                  </a:cubicBezTo>
                  <a:lnTo>
                    <a:pt x="172466" y="17567"/>
                  </a:lnTo>
                  <a:cubicBezTo>
                    <a:pt x="183499" y="6330"/>
                    <a:pt x="198586" y="0"/>
                    <a:pt x="214334" y="0"/>
                  </a:cubicBezTo>
                  <a:close/>
                </a:path>
              </a:pathLst>
            </a:custGeom>
            <a:solidFill>
              <a:srgbClr val="64CAF4"/>
            </a:solidFill>
          </p:spPr>
        </p:sp>
        <p:sp>
          <p:nvSpPr>
            <p:cNvPr id="17" name="TextBox 17"/>
            <p:cNvSpPr txBox="1"/>
            <p:nvPr/>
          </p:nvSpPr>
          <p:spPr>
            <a:xfrm>
              <a:off x="101600" y="19050"/>
              <a:ext cx="1047566" cy="187890"/>
            </a:xfrm>
            <a:prstGeom prst="rect">
              <a:avLst/>
            </a:prstGeom>
          </p:spPr>
          <p:txBody>
            <a:bodyPr lIns="83282" tIns="83282" rIns="83282" bIns="83282" rtlCol="0" anchor="ctr"/>
            <a:lstStyle/>
            <a:p>
              <a:pPr algn="ctr">
                <a:lnSpc>
                  <a:spcPts val="1993"/>
                </a:lnSpc>
              </a:pPr>
              <a:endParaRPr/>
            </a:p>
          </p:txBody>
        </p:sp>
      </p:grpSp>
      <p:grpSp>
        <p:nvGrpSpPr>
          <p:cNvPr id="18" name="Group 18"/>
          <p:cNvGrpSpPr/>
          <p:nvPr/>
        </p:nvGrpSpPr>
        <p:grpSpPr>
          <a:xfrm>
            <a:off x="14410002" y="-369454"/>
            <a:ext cx="7009358" cy="1138013"/>
            <a:chOff x="0" y="0"/>
            <a:chExt cx="812800" cy="131963"/>
          </a:xfrm>
        </p:grpSpPr>
        <p:sp>
          <p:nvSpPr>
            <p:cNvPr id="19" name="Freeform 19"/>
            <p:cNvSpPr/>
            <p:nvPr/>
          </p:nvSpPr>
          <p:spPr>
            <a:xfrm>
              <a:off x="14243" y="0"/>
              <a:ext cx="784313" cy="131963"/>
            </a:xfrm>
            <a:custGeom>
              <a:avLst/>
              <a:gdLst/>
              <a:ahLst/>
              <a:cxnLst/>
              <a:rect l="l" t="t" r="r" b="b"/>
              <a:pathLst>
                <a:path w="784313" h="131963">
                  <a:moveTo>
                    <a:pt x="574371" y="0"/>
                  </a:moveTo>
                  <a:lnTo>
                    <a:pt x="6743" y="0"/>
                  </a:lnTo>
                  <a:cubicBezTo>
                    <a:pt x="3990" y="0"/>
                    <a:pt x="1564" y="1811"/>
                    <a:pt x="782" y="4451"/>
                  </a:cubicBezTo>
                  <a:cubicBezTo>
                    <a:pt x="0" y="7091"/>
                    <a:pt x="1048" y="9930"/>
                    <a:pt x="3357" y="11430"/>
                  </a:cubicBezTo>
                  <a:lnTo>
                    <a:pt x="171357" y="120533"/>
                  </a:lnTo>
                  <a:cubicBezTo>
                    <a:pt x="182844" y="127993"/>
                    <a:pt x="196246" y="131963"/>
                    <a:pt x="209943" y="131963"/>
                  </a:cubicBezTo>
                  <a:lnTo>
                    <a:pt x="777571" y="131963"/>
                  </a:lnTo>
                  <a:cubicBezTo>
                    <a:pt x="780324" y="131963"/>
                    <a:pt x="782750" y="130152"/>
                    <a:pt x="783532" y="127512"/>
                  </a:cubicBezTo>
                  <a:cubicBezTo>
                    <a:pt x="784314" y="124873"/>
                    <a:pt x="783266" y="122033"/>
                    <a:pt x="780957" y="120533"/>
                  </a:cubicBezTo>
                  <a:lnTo>
                    <a:pt x="612957" y="11430"/>
                  </a:lnTo>
                  <a:cubicBezTo>
                    <a:pt x="601470" y="3970"/>
                    <a:pt x="588068" y="0"/>
                    <a:pt x="574371" y="0"/>
                  </a:cubicBezTo>
                  <a:close/>
                </a:path>
              </a:pathLst>
            </a:custGeom>
            <a:solidFill>
              <a:srgbClr val="3275C5"/>
            </a:solidFill>
          </p:spPr>
        </p:sp>
        <p:sp>
          <p:nvSpPr>
            <p:cNvPr id="20" name="TextBox 20"/>
            <p:cNvSpPr txBox="1"/>
            <p:nvPr/>
          </p:nvSpPr>
          <p:spPr>
            <a:xfrm>
              <a:off x="101600" y="19050"/>
              <a:ext cx="609600" cy="112913"/>
            </a:xfrm>
            <a:prstGeom prst="rect">
              <a:avLst/>
            </a:prstGeom>
          </p:spPr>
          <p:txBody>
            <a:bodyPr lIns="83282" tIns="83282" rIns="83282" bIns="83282" rtlCol="0" anchor="ctr"/>
            <a:lstStyle/>
            <a:p>
              <a:pPr algn="ctr">
                <a:lnSpc>
                  <a:spcPts val="1993"/>
                </a:lnSpc>
              </a:pPr>
              <a:endParaRPr/>
            </a:p>
          </p:txBody>
        </p:sp>
      </p:grpSp>
      <p:grpSp>
        <p:nvGrpSpPr>
          <p:cNvPr id="21" name="Group 21"/>
          <p:cNvGrpSpPr/>
          <p:nvPr/>
        </p:nvGrpSpPr>
        <p:grpSpPr>
          <a:xfrm>
            <a:off x="16629956" y="508418"/>
            <a:ext cx="3144637" cy="520282"/>
            <a:chOff x="0" y="0"/>
            <a:chExt cx="812800" cy="134478"/>
          </a:xfrm>
        </p:grpSpPr>
        <p:sp>
          <p:nvSpPr>
            <p:cNvPr id="22" name="Freeform 22"/>
            <p:cNvSpPr/>
            <p:nvPr/>
          </p:nvSpPr>
          <p:spPr>
            <a:xfrm>
              <a:off x="26532" y="0"/>
              <a:ext cx="759735" cy="134478"/>
            </a:xfrm>
            <a:custGeom>
              <a:avLst/>
              <a:gdLst/>
              <a:ahLst/>
              <a:cxnLst/>
              <a:rect l="l" t="t" r="r" b="b"/>
              <a:pathLst>
                <a:path w="759735" h="134478">
                  <a:moveTo>
                    <a:pt x="543677" y="0"/>
                  </a:moveTo>
                  <a:lnTo>
                    <a:pt x="12859" y="0"/>
                  </a:lnTo>
                  <a:cubicBezTo>
                    <a:pt x="7628" y="0"/>
                    <a:pt x="3015" y="3429"/>
                    <a:pt x="1508" y="8438"/>
                  </a:cubicBezTo>
                  <a:cubicBezTo>
                    <a:pt x="0" y="13447"/>
                    <a:pt x="1955" y="18853"/>
                    <a:pt x="6317" y="21740"/>
                  </a:cubicBezTo>
                  <a:lnTo>
                    <a:pt x="143819" y="112739"/>
                  </a:lnTo>
                  <a:cubicBezTo>
                    <a:pt x="165244" y="126918"/>
                    <a:pt x="190367" y="134478"/>
                    <a:pt x="216059" y="134478"/>
                  </a:cubicBezTo>
                  <a:lnTo>
                    <a:pt x="746877" y="134478"/>
                  </a:lnTo>
                  <a:cubicBezTo>
                    <a:pt x="752108" y="134478"/>
                    <a:pt x="756721" y="131049"/>
                    <a:pt x="758228" y="126040"/>
                  </a:cubicBezTo>
                  <a:cubicBezTo>
                    <a:pt x="759736" y="121031"/>
                    <a:pt x="757781" y="115626"/>
                    <a:pt x="753419" y="112739"/>
                  </a:cubicBezTo>
                  <a:lnTo>
                    <a:pt x="615917" y="21740"/>
                  </a:lnTo>
                  <a:cubicBezTo>
                    <a:pt x="594492" y="7561"/>
                    <a:pt x="569369" y="0"/>
                    <a:pt x="543677" y="0"/>
                  </a:cubicBezTo>
                  <a:close/>
                </a:path>
              </a:pathLst>
            </a:custGeom>
            <a:solidFill>
              <a:srgbClr val="64CAF4"/>
            </a:solidFill>
          </p:spPr>
        </p:sp>
        <p:sp>
          <p:nvSpPr>
            <p:cNvPr id="23" name="TextBox 23"/>
            <p:cNvSpPr txBox="1"/>
            <p:nvPr/>
          </p:nvSpPr>
          <p:spPr>
            <a:xfrm>
              <a:off x="101600" y="19050"/>
              <a:ext cx="609600" cy="115428"/>
            </a:xfrm>
            <a:prstGeom prst="rect">
              <a:avLst/>
            </a:prstGeom>
          </p:spPr>
          <p:txBody>
            <a:bodyPr lIns="83282" tIns="83282" rIns="83282" bIns="83282" rtlCol="0" anchor="ctr"/>
            <a:lstStyle/>
            <a:p>
              <a:pPr algn="ctr">
                <a:lnSpc>
                  <a:spcPts val="1993"/>
                </a:lnSpc>
              </a:pPr>
              <a:endParaRPr/>
            </a:p>
          </p:txBody>
        </p:sp>
      </p:grpSp>
      <p:sp>
        <p:nvSpPr>
          <p:cNvPr id="2" name="TextBox 1">
            <a:extLst>
              <a:ext uri="{FF2B5EF4-FFF2-40B4-BE49-F238E27FC236}">
                <a16:creationId xmlns:a16="http://schemas.microsoft.com/office/drawing/2014/main" id="{2541BC0E-9479-39AA-930D-F298AF408B15}"/>
              </a:ext>
            </a:extLst>
          </p:cNvPr>
          <p:cNvSpPr txBox="1"/>
          <p:nvPr/>
        </p:nvSpPr>
        <p:spPr>
          <a:xfrm>
            <a:off x="466950" y="3238500"/>
            <a:ext cx="17297399" cy="6073779"/>
          </a:xfrm>
          <a:prstGeom prst="rect">
            <a:avLst/>
          </a:prstGeom>
          <a:noFill/>
        </p:spPr>
        <p:txBody>
          <a:bodyPr wrap="square" rtlCol="0">
            <a:spAutoFit/>
          </a:bodyPr>
          <a:lstStyle/>
          <a:p>
            <a:pPr algn="r" rtl="1">
              <a:lnSpc>
                <a:spcPct val="200000"/>
              </a:lnSpc>
            </a:pPr>
            <a:r>
              <a:rPr lang="ar-EG" sz="4000" b="1" spc="11" dirty="0">
                <a:solidFill>
                  <a:srgbClr val="3275C5"/>
                </a:solidFill>
                <a:latin typeface="Source Sans Pro"/>
              </a:rPr>
              <a:t>1-</a:t>
            </a:r>
            <a:r>
              <a:rPr lang="en-US" sz="4000" b="1" spc="11" dirty="0">
                <a:solidFill>
                  <a:srgbClr val="3275C5"/>
                </a:solidFill>
                <a:latin typeface="Source Sans Pro"/>
              </a:rPr>
              <a:t> Arduino Mega-2                                  Arduino Uno</a:t>
            </a:r>
            <a:r>
              <a:rPr lang="ar-EG" sz="4000" b="1" spc="11" dirty="0">
                <a:solidFill>
                  <a:srgbClr val="3275C5"/>
                </a:solidFill>
                <a:latin typeface="Source Sans Pro"/>
              </a:rPr>
              <a:t>       </a:t>
            </a:r>
            <a:r>
              <a:rPr lang="en-US" sz="4000" b="1" spc="11" dirty="0">
                <a:solidFill>
                  <a:srgbClr val="3275C5"/>
                </a:solidFill>
                <a:latin typeface="Source Sans Pro"/>
              </a:rPr>
              <a:t>          </a:t>
            </a:r>
            <a:r>
              <a:rPr lang="ar-EG" sz="4000" b="1" spc="11" dirty="0">
                <a:solidFill>
                  <a:srgbClr val="3275C5"/>
                </a:solidFill>
                <a:latin typeface="Source Sans Pro"/>
              </a:rPr>
              <a:t>    3-</a:t>
            </a:r>
            <a:r>
              <a:rPr lang="en-US" sz="4000" b="1" spc="11" dirty="0">
                <a:solidFill>
                  <a:srgbClr val="3275C5"/>
                </a:solidFill>
                <a:latin typeface="Source Sans Pro"/>
              </a:rPr>
              <a:t>Buzzer</a:t>
            </a:r>
          </a:p>
          <a:p>
            <a:pPr algn="r" rtl="1">
              <a:lnSpc>
                <a:spcPct val="200000"/>
              </a:lnSpc>
            </a:pPr>
            <a:r>
              <a:rPr lang="ar-EG" sz="4000" b="1" spc="11" dirty="0">
                <a:solidFill>
                  <a:srgbClr val="3275C5"/>
                </a:solidFill>
                <a:latin typeface="Source Sans Pro"/>
              </a:rPr>
              <a:t>4-</a:t>
            </a:r>
            <a:r>
              <a:rPr lang="en-US" sz="4000" b="1" spc="11" dirty="0">
                <a:solidFill>
                  <a:srgbClr val="3275C5"/>
                </a:solidFill>
                <a:latin typeface="Source Sans Pro"/>
              </a:rPr>
              <a:t>Ultrasonic Sensor</a:t>
            </a:r>
            <a:r>
              <a:rPr lang="ar-EG" sz="4000" b="1" spc="11" dirty="0">
                <a:solidFill>
                  <a:srgbClr val="3275C5"/>
                </a:solidFill>
                <a:latin typeface="Source Sans Pro"/>
              </a:rPr>
              <a:t>     </a:t>
            </a:r>
            <a:r>
              <a:rPr lang="af-ZA" sz="4000" b="1" spc="11" dirty="0">
                <a:solidFill>
                  <a:srgbClr val="3275C5"/>
                </a:solidFill>
                <a:latin typeface="Source Sans Pro"/>
              </a:rPr>
              <a:t>           </a:t>
            </a:r>
            <a:r>
              <a:rPr lang="ar-EG" sz="4000" b="1" spc="11" dirty="0">
                <a:solidFill>
                  <a:srgbClr val="3275C5"/>
                </a:solidFill>
                <a:latin typeface="Source Sans Pro"/>
              </a:rPr>
              <a:t>   5-</a:t>
            </a:r>
            <a:r>
              <a:rPr lang="en-US" sz="4000" b="1" spc="11" dirty="0">
                <a:solidFill>
                  <a:srgbClr val="3275C5"/>
                </a:solidFill>
                <a:latin typeface="Source Sans Pro"/>
              </a:rPr>
              <a:t>IR Sensor</a:t>
            </a:r>
            <a:r>
              <a:rPr lang="ar-EG" sz="4000" b="1" spc="11" dirty="0">
                <a:solidFill>
                  <a:srgbClr val="3275C5"/>
                </a:solidFill>
                <a:latin typeface="Source Sans Pro"/>
              </a:rPr>
              <a:t>               </a:t>
            </a:r>
            <a:r>
              <a:rPr lang="en-US" sz="4000" b="1" spc="11" dirty="0">
                <a:solidFill>
                  <a:srgbClr val="3275C5"/>
                </a:solidFill>
                <a:latin typeface="Source Sans Pro"/>
              </a:rPr>
              <a:t>       </a:t>
            </a:r>
            <a:r>
              <a:rPr lang="ar-EG" sz="4000" b="1" spc="11" dirty="0">
                <a:solidFill>
                  <a:srgbClr val="3275C5"/>
                </a:solidFill>
                <a:latin typeface="Source Sans Pro"/>
              </a:rPr>
              <a:t>  </a:t>
            </a:r>
            <a:r>
              <a:rPr lang="en-US" sz="4000" b="1" spc="11" dirty="0">
                <a:solidFill>
                  <a:srgbClr val="3275C5"/>
                </a:solidFill>
                <a:latin typeface="Source Sans Pro"/>
              </a:rPr>
              <a:t> </a:t>
            </a:r>
            <a:r>
              <a:rPr lang="ar-EG" sz="4000" b="1" spc="11" dirty="0">
                <a:solidFill>
                  <a:srgbClr val="3275C5"/>
                </a:solidFill>
                <a:latin typeface="Source Sans Pro"/>
              </a:rPr>
              <a:t>   6-</a:t>
            </a:r>
            <a:r>
              <a:rPr lang="en-US" sz="4000" b="1" spc="11" dirty="0">
                <a:solidFill>
                  <a:srgbClr val="3275C5"/>
                </a:solidFill>
                <a:latin typeface="Source Sans Pro"/>
              </a:rPr>
              <a:t>Lithium Battery</a:t>
            </a:r>
          </a:p>
          <a:p>
            <a:pPr algn="r" rtl="1">
              <a:lnSpc>
                <a:spcPct val="200000"/>
              </a:lnSpc>
            </a:pPr>
            <a:r>
              <a:rPr lang="ar-EG" sz="4000" b="1" spc="11" dirty="0">
                <a:solidFill>
                  <a:srgbClr val="3275C5"/>
                </a:solidFill>
                <a:latin typeface="Source Sans Pro"/>
              </a:rPr>
              <a:t>7</a:t>
            </a:r>
            <a:r>
              <a:rPr lang="en-US" sz="4000" b="1" spc="11" dirty="0">
                <a:solidFill>
                  <a:srgbClr val="3275C5"/>
                </a:solidFill>
                <a:latin typeface="Source Sans Pro"/>
              </a:rPr>
              <a:t>Signals-</a:t>
            </a:r>
            <a:r>
              <a:rPr lang="ar-EG" sz="4000" b="1" spc="11" dirty="0">
                <a:solidFill>
                  <a:srgbClr val="3275C5"/>
                </a:solidFill>
                <a:latin typeface="Source Sans Pro"/>
              </a:rPr>
              <a:t>                             </a:t>
            </a:r>
            <a:r>
              <a:rPr lang="en-US" sz="4000" b="1" spc="11" dirty="0">
                <a:solidFill>
                  <a:srgbClr val="3275C5"/>
                </a:solidFill>
                <a:latin typeface="Source Sans Pro"/>
              </a:rPr>
              <a:t>  </a:t>
            </a:r>
            <a:r>
              <a:rPr lang="ar-EG" sz="4000" b="1" spc="11" dirty="0">
                <a:solidFill>
                  <a:srgbClr val="3275C5"/>
                </a:solidFill>
                <a:latin typeface="Source Sans Pro"/>
              </a:rPr>
              <a:t>  8-</a:t>
            </a:r>
            <a:r>
              <a:rPr lang="en-US" sz="4000" b="1" spc="11" dirty="0">
                <a:solidFill>
                  <a:srgbClr val="3275C5"/>
                </a:solidFill>
                <a:latin typeface="Source Sans Pro"/>
              </a:rPr>
              <a:t>Locomotive</a:t>
            </a:r>
            <a:r>
              <a:rPr lang="ar-EG" sz="4000" b="1" spc="11" dirty="0">
                <a:solidFill>
                  <a:srgbClr val="3275C5"/>
                </a:solidFill>
                <a:latin typeface="Source Sans Pro"/>
              </a:rPr>
              <a:t>           </a:t>
            </a:r>
            <a:r>
              <a:rPr lang="en-US" sz="4000" b="1" spc="11" dirty="0">
                <a:solidFill>
                  <a:srgbClr val="3275C5"/>
                </a:solidFill>
                <a:latin typeface="Source Sans Pro"/>
              </a:rPr>
              <a:t>       </a:t>
            </a:r>
            <a:r>
              <a:rPr lang="ar-EG" sz="4000" b="1" spc="11" dirty="0">
                <a:solidFill>
                  <a:srgbClr val="3275C5"/>
                </a:solidFill>
                <a:latin typeface="Source Sans Pro"/>
              </a:rPr>
              <a:t>      9-</a:t>
            </a:r>
            <a:r>
              <a:rPr lang="en-US" sz="4000" b="1" spc="11" dirty="0">
                <a:solidFill>
                  <a:srgbClr val="3275C5"/>
                </a:solidFill>
                <a:latin typeface="Source Sans Pro"/>
              </a:rPr>
              <a:t>Motor DC</a:t>
            </a:r>
          </a:p>
          <a:p>
            <a:pPr algn="r" rtl="1">
              <a:lnSpc>
                <a:spcPct val="200000"/>
              </a:lnSpc>
            </a:pPr>
            <a:r>
              <a:rPr lang="ar-EG" sz="4000" b="1" spc="11" dirty="0">
                <a:solidFill>
                  <a:srgbClr val="3275C5"/>
                </a:solidFill>
                <a:latin typeface="Source Sans Pro"/>
              </a:rPr>
              <a:t>10-</a:t>
            </a:r>
            <a:r>
              <a:rPr lang="en-US" sz="4000" b="1" spc="11" dirty="0">
                <a:solidFill>
                  <a:srgbClr val="3275C5"/>
                </a:solidFill>
                <a:latin typeface="Source Sans Pro"/>
              </a:rPr>
              <a:t>H-Bridge</a:t>
            </a:r>
            <a:r>
              <a:rPr lang="ar-EG" sz="4000" b="1" spc="11" dirty="0">
                <a:solidFill>
                  <a:srgbClr val="3275C5"/>
                </a:solidFill>
                <a:latin typeface="Source Sans Pro"/>
              </a:rPr>
              <a:t>                      </a:t>
            </a:r>
            <a:r>
              <a:rPr lang="af-ZA" sz="4000" b="1" spc="11" dirty="0">
                <a:solidFill>
                  <a:srgbClr val="3275C5"/>
                </a:solidFill>
                <a:latin typeface="Source Sans Pro"/>
              </a:rPr>
              <a:t>      </a:t>
            </a:r>
            <a:r>
              <a:rPr lang="ar-EG" sz="4000" b="1" spc="11" dirty="0">
                <a:solidFill>
                  <a:srgbClr val="3275C5"/>
                </a:solidFill>
                <a:latin typeface="Source Sans Pro"/>
              </a:rPr>
              <a:t> 11-</a:t>
            </a:r>
            <a:r>
              <a:rPr lang="en-US" sz="4000" b="1" spc="11" dirty="0">
                <a:solidFill>
                  <a:srgbClr val="3275C5"/>
                </a:solidFill>
                <a:latin typeface="Source Sans Pro"/>
              </a:rPr>
              <a:t>Rail – Road</a:t>
            </a:r>
            <a:r>
              <a:rPr lang="ar-EG" sz="4000" b="1" spc="11" dirty="0">
                <a:solidFill>
                  <a:srgbClr val="3275C5"/>
                </a:solidFill>
                <a:latin typeface="Source Sans Pro"/>
              </a:rPr>
              <a:t>          </a:t>
            </a:r>
            <a:r>
              <a:rPr lang="en-US" sz="4000" b="1" spc="11" dirty="0">
                <a:solidFill>
                  <a:srgbClr val="3275C5"/>
                </a:solidFill>
                <a:latin typeface="Source Sans Pro"/>
              </a:rPr>
              <a:t>          </a:t>
            </a:r>
            <a:r>
              <a:rPr lang="ar-EG" sz="4000" b="1" spc="11" dirty="0">
                <a:solidFill>
                  <a:srgbClr val="3275C5"/>
                </a:solidFill>
                <a:latin typeface="Source Sans Pro"/>
              </a:rPr>
              <a:t>     12-</a:t>
            </a:r>
            <a:r>
              <a:rPr lang="en-US" sz="4000" b="1" spc="11" dirty="0">
                <a:solidFill>
                  <a:srgbClr val="3275C5"/>
                </a:solidFill>
                <a:latin typeface="Source Sans Pro"/>
              </a:rPr>
              <a:t>Wires</a:t>
            </a:r>
            <a:r>
              <a:rPr lang="ar-EG" sz="4000" b="1" spc="11" dirty="0">
                <a:solidFill>
                  <a:srgbClr val="3275C5"/>
                </a:solidFill>
                <a:latin typeface="Source Sans Pro"/>
              </a:rPr>
              <a:t>  </a:t>
            </a:r>
            <a:endParaRPr lang="en-US" sz="4000" b="1" spc="11" dirty="0">
              <a:solidFill>
                <a:srgbClr val="3275C5"/>
              </a:solidFill>
              <a:latin typeface="Source Sans Pro"/>
            </a:endParaRPr>
          </a:p>
          <a:p>
            <a:pPr algn="r" rtl="1">
              <a:lnSpc>
                <a:spcPct val="200000"/>
              </a:lnSpc>
            </a:pPr>
            <a:endParaRPr lang="en-US" sz="4000" b="1" spc="11" dirty="0">
              <a:solidFill>
                <a:srgbClr val="3275C5"/>
              </a:solidFill>
              <a:latin typeface="Source Sans Pro"/>
            </a:endParaRPr>
          </a:p>
        </p:txBody>
      </p:sp>
    </p:spTree>
    <p:extLst>
      <p:ext uri="{BB962C8B-B14F-4D97-AF65-F5344CB8AC3E}">
        <p14:creationId xmlns:p14="http://schemas.microsoft.com/office/powerpoint/2010/main" val="272860968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wipe(down)">
                                      <p:cBhvr>
                                        <p:cTn id="14" dur="500"/>
                                        <p:tgtEl>
                                          <p:spTgt spid="2">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Effect transition="in" filter="wipe(down)">
                                      <p:cBhvr>
                                        <p:cTn id="19" dur="500"/>
                                        <p:tgtEl>
                                          <p:spTgt spid="2">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2">
                                            <p:txEl>
                                              <p:pRg st="2" end="2"/>
                                            </p:txEl>
                                          </p:spTgt>
                                        </p:tgtEl>
                                        <p:attrNameLst>
                                          <p:attrName>style.visibility</p:attrName>
                                        </p:attrNameLst>
                                      </p:cBhvr>
                                      <p:to>
                                        <p:strVal val="visible"/>
                                      </p:to>
                                    </p:set>
                                    <p:animEffect transition="in" filter="wipe(down)">
                                      <p:cBhvr>
                                        <p:cTn id="24" dur="500"/>
                                        <p:tgtEl>
                                          <p:spTgt spid="2">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2">
                                            <p:txEl>
                                              <p:pRg st="3" end="3"/>
                                            </p:txEl>
                                          </p:spTgt>
                                        </p:tgtEl>
                                        <p:attrNameLst>
                                          <p:attrName>style.visibility</p:attrName>
                                        </p:attrNameLst>
                                      </p:cBhvr>
                                      <p:to>
                                        <p:strVal val="visible"/>
                                      </p:to>
                                    </p:set>
                                    <p:animEffect transition="in" filter="wipe(down)">
                                      <p:cBhvr>
                                        <p:cTn id="29"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82120"/>
            <a:ext cx="17068800" cy="979979"/>
          </a:xfrm>
        </p:spPr>
        <p:txBody>
          <a:bodyPr>
            <a:noAutofit/>
          </a:bodyPr>
          <a:lstStyle/>
          <a:p>
            <a:r>
              <a:rPr lang="ar-EG" sz="5400" b="1" u="sng" dirty="0">
                <a:solidFill>
                  <a:srgbClr val="56AAF0"/>
                </a:solidFill>
                <a:latin typeface="Dynamo"/>
                <a:ea typeface="+mn-ea"/>
                <a:cs typeface="+mn-cs"/>
              </a:rPr>
              <a:t> </a:t>
            </a:r>
            <a:r>
              <a:rPr lang="ar-SA" sz="5400" b="1" u="sng" dirty="0">
                <a:solidFill>
                  <a:srgbClr val="56AAF0"/>
                </a:solidFill>
                <a:latin typeface="Dynamo"/>
                <a:ea typeface="+mn-ea"/>
                <a:cs typeface="+mn-cs"/>
              </a:rPr>
              <a:t>الموجودة بالمشروع</a:t>
            </a:r>
            <a:r>
              <a:rPr lang="en-US" sz="5400" b="1" u="sng" dirty="0">
                <a:solidFill>
                  <a:srgbClr val="56AAF0"/>
                </a:solidFill>
                <a:latin typeface="Dynamo"/>
                <a:ea typeface="+mn-ea"/>
                <a:cs typeface="+mn-cs"/>
              </a:rPr>
              <a:t>IR</a:t>
            </a:r>
            <a:r>
              <a:rPr lang="ar-SA" sz="5400" b="1" u="sng" dirty="0">
                <a:solidFill>
                  <a:srgbClr val="56AAF0"/>
                </a:solidFill>
                <a:latin typeface="Dynamo"/>
                <a:ea typeface="+mn-ea"/>
                <a:cs typeface="+mn-cs"/>
              </a:rPr>
              <a:t> رسمة توضح </a:t>
            </a:r>
            <a:r>
              <a:rPr lang="ar-EG" sz="5400" b="1" u="sng" dirty="0">
                <a:solidFill>
                  <a:srgbClr val="56AAF0"/>
                </a:solidFill>
                <a:latin typeface="Dynamo"/>
                <a:ea typeface="+mn-ea"/>
                <a:cs typeface="+mn-cs"/>
              </a:rPr>
              <a:t>اماكن</a:t>
            </a:r>
            <a:r>
              <a:rPr lang="ar-SA" sz="5400" b="1" u="sng" dirty="0">
                <a:solidFill>
                  <a:srgbClr val="56AAF0"/>
                </a:solidFill>
                <a:latin typeface="Dynamo"/>
                <a:ea typeface="+mn-ea"/>
                <a:cs typeface="+mn-cs"/>
              </a:rPr>
              <a:t> حساسات</a:t>
            </a:r>
            <a:r>
              <a:rPr lang="ar-EG" sz="5400" b="1" u="sng" dirty="0">
                <a:solidFill>
                  <a:srgbClr val="56AAF0"/>
                </a:solidFill>
                <a:latin typeface="Dynamo"/>
                <a:ea typeface="+mn-ea"/>
                <a:cs typeface="+mn-cs"/>
              </a:rPr>
              <a:t> </a:t>
            </a:r>
            <a:br>
              <a:rPr lang="en-US" sz="5400" dirty="0">
                <a:solidFill>
                  <a:srgbClr val="FF0000"/>
                </a:solidFill>
              </a:rPr>
            </a:br>
            <a:endParaRPr lang="en-US" sz="5400" dirty="0">
              <a:solidFill>
                <a:srgbClr val="FF0000"/>
              </a:solidFill>
            </a:endParaRPr>
          </a:p>
        </p:txBody>
      </p:sp>
      <p:pic>
        <p:nvPicPr>
          <p:cNvPr id="4" name="Content Placeholder 3"/>
          <p:cNvPicPr>
            <a:picLocks noGrp="1" noChangeAspect="1"/>
          </p:cNvPicPr>
          <p:nvPr>
            <p:ph idx="1"/>
          </p:nvPr>
        </p:nvPicPr>
        <p:blipFill>
          <a:blip r:embed="rId2"/>
          <a:stretch>
            <a:fillRect/>
          </a:stretch>
        </p:blipFill>
        <p:spPr>
          <a:xfrm>
            <a:off x="685800" y="1714500"/>
            <a:ext cx="16840200" cy="7459662"/>
          </a:xfrm>
          <a:prstGeom prst="rect">
            <a:avLst/>
          </a:prstGeom>
        </p:spPr>
      </p:pic>
      <p:grpSp>
        <p:nvGrpSpPr>
          <p:cNvPr id="3" name="Group 12">
            <a:extLst>
              <a:ext uri="{FF2B5EF4-FFF2-40B4-BE49-F238E27FC236}">
                <a16:creationId xmlns:a16="http://schemas.microsoft.com/office/drawing/2014/main" id="{492A54B3-89A6-758E-A677-20A1CFFEBFF2}"/>
              </a:ext>
            </a:extLst>
          </p:cNvPr>
          <p:cNvGrpSpPr/>
          <p:nvPr/>
        </p:nvGrpSpPr>
        <p:grpSpPr>
          <a:xfrm>
            <a:off x="-4006574" y="-369454"/>
            <a:ext cx="7009358" cy="1159703"/>
            <a:chOff x="0" y="0"/>
            <a:chExt cx="1250766" cy="206940"/>
          </a:xfrm>
        </p:grpSpPr>
        <p:sp>
          <p:nvSpPr>
            <p:cNvPr id="5" name="Freeform 13">
              <a:extLst>
                <a:ext uri="{FF2B5EF4-FFF2-40B4-BE49-F238E27FC236}">
                  <a16:creationId xmlns:a16="http://schemas.microsoft.com/office/drawing/2014/main" id="{B6826B7D-BE84-6E9F-FD4B-A9D44D2D7A06}"/>
                </a:ext>
              </a:extLst>
            </p:cNvPr>
            <p:cNvSpPr/>
            <p:nvPr/>
          </p:nvSpPr>
          <p:spPr>
            <a:xfrm>
              <a:off x="11494" y="0"/>
              <a:ext cx="1227777" cy="206940"/>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solidFill>
              <a:srgbClr val="3275C5"/>
            </a:solidFill>
          </p:spPr>
        </p:sp>
        <p:sp>
          <p:nvSpPr>
            <p:cNvPr id="6" name="TextBox 14">
              <a:extLst>
                <a:ext uri="{FF2B5EF4-FFF2-40B4-BE49-F238E27FC236}">
                  <a16:creationId xmlns:a16="http://schemas.microsoft.com/office/drawing/2014/main" id="{70D11A4D-3D6D-B803-9DC0-11E4C9D38CD3}"/>
                </a:ext>
              </a:extLst>
            </p:cNvPr>
            <p:cNvSpPr txBox="1"/>
            <p:nvPr/>
          </p:nvSpPr>
          <p:spPr>
            <a:xfrm>
              <a:off x="101600" y="19050"/>
              <a:ext cx="1047566" cy="187890"/>
            </a:xfrm>
            <a:prstGeom prst="rect">
              <a:avLst/>
            </a:prstGeom>
          </p:spPr>
          <p:txBody>
            <a:bodyPr lIns="83282" tIns="83282" rIns="83282" bIns="83282" rtlCol="0" anchor="ctr"/>
            <a:lstStyle/>
            <a:p>
              <a:pPr algn="ctr">
                <a:lnSpc>
                  <a:spcPts val="1993"/>
                </a:lnSpc>
              </a:pPr>
              <a:endParaRPr/>
            </a:p>
          </p:txBody>
        </p:sp>
      </p:grpSp>
      <p:grpSp>
        <p:nvGrpSpPr>
          <p:cNvPr id="7" name="Group 15">
            <a:extLst>
              <a:ext uri="{FF2B5EF4-FFF2-40B4-BE49-F238E27FC236}">
                <a16:creationId xmlns:a16="http://schemas.microsoft.com/office/drawing/2014/main" id="{0BF0AC1D-B1B2-3D6D-C238-9EDCE4F45FD7}"/>
              </a:ext>
            </a:extLst>
          </p:cNvPr>
          <p:cNvGrpSpPr/>
          <p:nvPr/>
        </p:nvGrpSpPr>
        <p:grpSpPr>
          <a:xfrm>
            <a:off x="-1748459" y="508418"/>
            <a:ext cx="3144637" cy="520282"/>
            <a:chOff x="0" y="0"/>
            <a:chExt cx="1250766" cy="206940"/>
          </a:xfrm>
        </p:grpSpPr>
        <p:sp>
          <p:nvSpPr>
            <p:cNvPr id="8" name="Freeform 16">
              <a:extLst>
                <a:ext uri="{FF2B5EF4-FFF2-40B4-BE49-F238E27FC236}">
                  <a16:creationId xmlns:a16="http://schemas.microsoft.com/office/drawing/2014/main" id="{9F90DD17-BE06-72B1-02D4-5B7CD0C805EB}"/>
                </a:ext>
              </a:extLst>
            </p:cNvPr>
            <p:cNvSpPr/>
            <p:nvPr/>
          </p:nvSpPr>
          <p:spPr>
            <a:xfrm>
              <a:off x="13485" y="0"/>
              <a:ext cx="1223797" cy="206940"/>
            </a:xfrm>
            <a:custGeom>
              <a:avLst/>
              <a:gdLst/>
              <a:ahLst/>
              <a:cxnLst/>
              <a:rect l="l" t="t" r="r" b="b"/>
              <a:pathLst>
                <a:path w="1223797" h="206940">
                  <a:moveTo>
                    <a:pt x="214334" y="0"/>
                  </a:moveTo>
                  <a:lnTo>
                    <a:pt x="1212662" y="0"/>
                  </a:lnTo>
                  <a:cubicBezTo>
                    <a:pt x="1216822" y="0"/>
                    <a:pt x="1220577" y="2496"/>
                    <a:pt x="1222187" y="6333"/>
                  </a:cubicBezTo>
                  <a:cubicBezTo>
                    <a:pt x="1223796" y="10170"/>
                    <a:pt x="1222947" y="14598"/>
                    <a:pt x="1220032" y="17567"/>
                  </a:cubicBezTo>
                  <a:lnTo>
                    <a:pt x="1051330" y="189373"/>
                  </a:lnTo>
                  <a:cubicBezTo>
                    <a:pt x="1040297" y="200610"/>
                    <a:pt x="1025210" y="206940"/>
                    <a:pt x="1009462" y="206940"/>
                  </a:cubicBezTo>
                  <a:lnTo>
                    <a:pt x="11134" y="206940"/>
                  </a:lnTo>
                  <a:cubicBezTo>
                    <a:pt x="6974" y="206940"/>
                    <a:pt x="3219" y="204444"/>
                    <a:pt x="1609" y="200607"/>
                  </a:cubicBezTo>
                  <a:cubicBezTo>
                    <a:pt x="0" y="196770"/>
                    <a:pt x="849" y="192342"/>
                    <a:pt x="3764" y="189373"/>
                  </a:cubicBezTo>
                  <a:lnTo>
                    <a:pt x="172466" y="17567"/>
                  </a:lnTo>
                  <a:cubicBezTo>
                    <a:pt x="183499" y="6330"/>
                    <a:pt x="198586" y="0"/>
                    <a:pt x="214334" y="0"/>
                  </a:cubicBezTo>
                  <a:close/>
                </a:path>
              </a:pathLst>
            </a:custGeom>
            <a:solidFill>
              <a:srgbClr val="64CAF4"/>
            </a:solidFill>
          </p:spPr>
        </p:sp>
        <p:sp>
          <p:nvSpPr>
            <p:cNvPr id="9" name="TextBox 17">
              <a:extLst>
                <a:ext uri="{FF2B5EF4-FFF2-40B4-BE49-F238E27FC236}">
                  <a16:creationId xmlns:a16="http://schemas.microsoft.com/office/drawing/2014/main" id="{A8AE4F26-8C19-A0B6-FA10-987DA494B6C4}"/>
                </a:ext>
              </a:extLst>
            </p:cNvPr>
            <p:cNvSpPr txBox="1"/>
            <p:nvPr/>
          </p:nvSpPr>
          <p:spPr>
            <a:xfrm>
              <a:off x="101600" y="19050"/>
              <a:ext cx="1047566" cy="187890"/>
            </a:xfrm>
            <a:prstGeom prst="rect">
              <a:avLst/>
            </a:prstGeom>
          </p:spPr>
          <p:txBody>
            <a:bodyPr lIns="83282" tIns="83282" rIns="83282" bIns="83282" rtlCol="0" anchor="ctr"/>
            <a:lstStyle/>
            <a:p>
              <a:pPr algn="ctr">
                <a:lnSpc>
                  <a:spcPts val="1993"/>
                </a:lnSpc>
              </a:pPr>
              <a:endParaRPr/>
            </a:p>
          </p:txBody>
        </p:sp>
      </p:grpSp>
      <p:grpSp>
        <p:nvGrpSpPr>
          <p:cNvPr id="10" name="Group 18">
            <a:extLst>
              <a:ext uri="{FF2B5EF4-FFF2-40B4-BE49-F238E27FC236}">
                <a16:creationId xmlns:a16="http://schemas.microsoft.com/office/drawing/2014/main" id="{39D13F09-F463-15E4-15D0-25396F3639B3}"/>
              </a:ext>
            </a:extLst>
          </p:cNvPr>
          <p:cNvGrpSpPr/>
          <p:nvPr/>
        </p:nvGrpSpPr>
        <p:grpSpPr>
          <a:xfrm>
            <a:off x="14410002" y="-369454"/>
            <a:ext cx="7009358" cy="1138013"/>
            <a:chOff x="0" y="0"/>
            <a:chExt cx="812800" cy="131963"/>
          </a:xfrm>
        </p:grpSpPr>
        <p:sp>
          <p:nvSpPr>
            <p:cNvPr id="11" name="Freeform 19">
              <a:extLst>
                <a:ext uri="{FF2B5EF4-FFF2-40B4-BE49-F238E27FC236}">
                  <a16:creationId xmlns:a16="http://schemas.microsoft.com/office/drawing/2014/main" id="{A1819FD0-31BC-C9A9-2461-6D9E8771ED13}"/>
                </a:ext>
              </a:extLst>
            </p:cNvPr>
            <p:cNvSpPr/>
            <p:nvPr/>
          </p:nvSpPr>
          <p:spPr>
            <a:xfrm>
              <a:off x="14243" y="0"/>
              <a:ext cx="784313" cy="131963"/>
            </a:xfrm>
            <a:custGeom>
              <a:avLst/>
              <a:gdLst/>
              <a:ahLst/>
              <a:cxnLst/>
              <a:rect l="l" t="t" r="r" b="b"/>
              <a:pathLst>
                <a:path w="784313" h="131963">
                  <a:moveTo>
                    <a:pt x="574371" y="0"/>
                  </a:moveTo>
                  <a:lnTo>
                    <a:pt x="6743" y="0"/>
                  </a:lnTo>
                  <a:cubicBezTo>
                    <a:pt x="3990" y="0"/>
                    <a:pt x="1564" y="1811"/>
                    <a:pt x="782" y="4451"/>
                  </a:cubicBezTo>
                  <a:cubicBezTo>
                    <a:pt x="0" y="7091"/>
                    <a:pt x="1048" y="9930"/>
                    <a:pt x="3357" y="11430"/>
                  </a:cubicBezTo>
                  <a:lnTo>
                    <a:pt x="171357" y="120533"/>
                  </a:lnTo>
                  <a:cubicBezTo>
                    <a:pt x="182844" y="127993"/>
                    <a:pt x="196246" y="131963"/>
                    <a:pt x="209943" y="131963"/>
                  </a:cubicBezTo>
                  <a:lnTo>
                    <a:pt x="777571" y="131963"/>
                  </a:lnTo>
                  <a:cubicBezTo>
                    <a:pt x="780324" y="131963"/>
                    <a:pt x="782750" y="130152"/>
                    <a:pt x="783532" y="127512"/>
                  </a:cubicBezTo>
                  <a:cubicBezTo>
                    <a:pt x="784314" y="124873"/>
                    <a:pt x="783266" y="122033"/>
                    <a:pt x="780957" y="120533"/>
                  </a:cubicBezTo>
                  <a:lnTo>
                    <a:pt x="612957" y="11430"/>
                  </a:lnTo>
                  <a:cubicBezTo>
                    <a:pt x="601470" y="3970"/>
                    <a:pt x="588068" y="0"/>
                    <a:pt x="574371" y="0"/>
                  </a:cubicBezTo>
                  <a:close/>
                </a:path>
              </a:pathLst>
            </a:custGeom>
            <a:solidFill>
              <a:srgbClr val="3275C5"/>
            </a:solidFill>
          </p:spPr>
        </p:sp>
        <p:sp>
          <p:nvSpPr>
            <p:cNvPr id="12" name="TextBox 20">
              <a:extLst>
                <a:ext uri="{FF2B5EF4-FFF2-40B4-BE49-F238E27FC236}">
                  <a16:creationId xmlns:a16="http://schemas.microsoft.com/office/drawing/2014/main" id="{981F310E-5490-682B-11BE-E9E95380C552}"/>
                </a:ext>
              </a:extLst>
            </p:cNvPr>
            <p:cNvSpPr txBox="1"/>
            <p:nvPr/>
          </p:nvSpPr>
          <p:spPr>
            <a:xfrm>
              <a:off x="101600" y="19050"/>
              <a:ext cx="609600" cy="112913"/>
            </a:xfrm>
            <a:prstGeom prst="rect">
              <a:avLst/>
            </a:prstGeom>
          </p:spPr>
          <p:txBody>
            <a:bodyPr lIns="83282" tIns="83282" rIns="83282" bIns="83282" rtlCol="0" anchor="ctr"/>
            <a:lstStyle/>
            <a:p>
              <a:pPr algn="ctr">
                <a:lnSpc>
                  <a:spcPts val="1993"/>
                </a:lnSpc>
              </a:pPr>
              <a:endParaRPr/>
            </a:p>
          </p:txBody>
        </p:sp>
      </p:grpSp>
      <p:grpSp>
        <p:nvGrpSpPr>
          <p:cNvPr id="13" name="Group 21">
            <a:extLst>
              <a:ext uri="{FF2B5EF4-FFF2-40B4-BE49-F238E27FC236}">
                <a16:creationId xmlns:a16="http://schemas.microsoft.com/office/drawing/2014/main" id="{BFA816D9-0CB8-892A-6465-BB95A0F00348}"/>
              </a:ext>
            </a:extLst>
          </p:cNvPr>
          <p:cNvGrpSpPr/>
          <p:nvPr/>
        </p:nvGrpSpPr>
        <p:grpSpPr>
          <a:xfrm>
            <a:off x="16629956" y="508418"/>
            <a:ext cx="3144637" cy="520282"/>
            <a:chOff x="0" y="0"/>
            <a:chExt cx="812800" cy="134478"/>
          </a:xfrm>
        </p:grpSpPr>
        <p:sp>
          <p:nvSpPr>
            <p:cNvPr id="14" name="Freeform 22">
              <a:extLst>
                <a:ext uri="{FF2B5EF4-FFF2-40B4-BE49-F238E27FC236}">
                  <a16:creationId xmlns:a16="http://schemas.microsoft.com/office/drawing/2014/main" id="{6E44C284-55AC-CE86-4CEF-CBA6F3E882E6}"/>
                </a:ext>
              </a:extLst>
            </p:cNvPr>
            <p:cNvSpPr/>
            <p:nvPr/>
          </p:nvSpPr>
          <p:spPr>
            <a:xfrm>
              <a:off x="26532" y="0"/>
              <a:ext cx="759735" cy="134478"/>
            </a:xfrm>
            <a:custGeom>
              <a:avLst/>
              <a:gdLst/>
              <a:ahLst/>
              <a:cxnLst/>
              <a:rect l="l" t="t" r="r" b="b"/>
              <a:pathLst>
                <a:path w="759735" h="134478">
                  <a:moveTo>
                    <a:pt x="543677" y="0"/>
                  </a:moveTo>
                  <a:lnTo>
                    <a:pt x="12859" y="0"/>
                  </a:lnTo>
                  <a:cubicBezTo>
                    <a:pt x="7628" y="0"/>
                    <a:pt x="3015" y="3429"/>
                    <a:pt x="1508" y="8438"/>
                  </a:cubicBezTo>
                  <a:cubicBezTo>
                    <a:pt x="0" y="13447"/>
                    <a:pt x="1955" y="18853"/>
                    <a:pt x="6317" y="21740"/>
                  </a:cubicBezTo>
                  <a:lnTo>
                    <a:pt x="143819" y="112739"/>
                  </a:lnTo>
                  <a:cubicBezTo>
                    <a:pt x="165244" y="126918"/>
                    <a:pt x="190367" y="134478"/>
                    <a:pt x="216059" y="134478"/>
                  </a:cubicBezTo>
                  <a:lnTo>
                    <a:pt x="746877" y="134478"/>
                  </a:lnTo>
                  <a:cubicBezTo>
                    <a:pt x="752108" y="134478"/>
                    <a:pt x="756721" y="131049"/>
                    <a:pt x="758228" y="126040"/>
                  </a:cubicBezTo>
                  <a:cubicBezTo>
                    <a:pt x="759736" y="121031"/>
                    <a:pt x="757781" y="115626"/>
                    <a:pt x="753419" y="112739"/>
                  </a:cubicBezTo>
                  <a:lnTo>
                    <a:pt x="615917" y="21740"/>
                  </a:lnTo>
                  <a:cubicBezTo>
                    <a:pt x="594492" y="7561"/>
                    <a:pt x="569369" y="0"/>
                    <a:pt x="543677" y="0"/>
                  </a:cubicBezTo>
                  <a:close/>
                </a:path>
              </a:pathLst>
            </a:custGeom>
            <a:solidFill>
              <a:srgbClr val="64CAF4"/>
            </a:solidFill>
          </p:spPr>
        </p:sp>
        <p:sp>
          <p:nvSpPr>
            <p:cNvPr id="15" name="TextBox 23">
              <a:extLst>
                <a:ext uri="{FF2B5EF4-FFF2-40B4-BE49-F238E27FC236}">
                  <a16:creationId xmlns:a16="http://schemas.microsoft.com/office/drawing/2014/main" id="{6BD1569A-C842-817C-AB80-043125BCF8F6}"/>
                </a:ext>
              </a:extLst>
            </p:cNvPr>
            <p:cNvSpPr txBox="1"/>
            <p:nvPr/>
          </p:nvSpPr>
          <p:spPr>
            <a:xfrm>
              <a:off x="101600" y="19050"/>
              <a:ext cx="609600" cy="115428"/>
            </a:xfrm>
            <a:prstGeom prst="rect">
              <a:avLst/>
            </a:prstGeom>
          </p:spPr>
          <p:txBody>
            <a:bodyPr lIns="83282" tIns="83282" rIns="83282" bIns="83282" rtlCol="0" anchor="ctr"/>
            <a:lstStyle/>
            <a:p>
              <a:pPr algn="ctr">
                <a:lnSpc>
                  <a:spcPts val="1993"/>
                </a:lnSpc>
              </a:pPr>
              <a:endParaRPr/>
            </a:p>
          </p:txBody>
        </p:sp>
      </p:grpSp>
    </p:spTree>
    <p:extLst>
      <p:ext uri="{BB962C8B-B14F-4D97-AF65-F5344CB8AC3E}">
        <p14:creationId xmlns:p14="http://schemas.microsoft.com/office/powerpoint/2010/main" val="3782088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down)">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2DFCB2-3EBE-2927-AF8A-05B862750D53}"/>
              </a:ext>
            </a:extLst>
          </p:cNvPr>
          <p:cNvSpPr txBox="1"/>
          <p:nvPr/>
        </p:nvSpPr>
        <p:spPr>
          <a:xfrm>
            <a:off x="3810000" y="114300"/>
            <a:ext cx="10668000" cy="1575368"/>
          </a:xfrm>
          <a:prstGeom prst="rect">
            <a:avLst/>
          </a:prstGeom>
          <a:noFill/>
        </p:spPr>
        <p:txBody>
          <a:bodyPr wrap="square" rtlCol="0">
            <a:spAutoFit/>
          </a:bodyPr>
          <a:lstStyle/>
          <a:p>
            <a:pPr algn="ctr">
              <a:lnSpc>
                <a:spcPct val="150000"/>
              </a:lnSpc>
              <a:spcBef>
                <a:spcPts val="0"/>
              </a:spcBef>
              <a:spcAft>
                <a:spcPts val="0"/>
              </a:spcAft>
              <a:buClrTx/>
              <a:buSzPts val="2800"/>
            </a:pPr>
            <a:r>
              <a:rPr lang="ar-EG" sz="7200" b="1" u="sng" dirty="0">
                <a:solidFill>
                  <a:srgbClr val="56AAF0"/>
                </a:solidFill>
                <a:latin typeface="Dynamo"/>
              </a:rPr>
              <a:t>الدائرة الكهربية</a:t>
            </a:r>
            <a:endParaRPr lang="en-US" sz="7200" b="1" u="sng" dirty="0">
              <a:solidFill>
                <a:srgbClr val="56AAF0"/>
              </a:solidFill>
              <a:latin typeface="Dynamo"/>
            </a:endParaRPr>
          </a:p>
        </p:txBody>
      </p:sp>
      <p:sp>
        <p:nvSpPr>
          <p:cNvPr id="3" name="TextBox 2">
            <a:extLst>
              <a:ext uri="{FF2B5EF4-FFF2-40B4-BE49-F238E27FC236}">
                <a16:creationId xmlns:a16="http://schemas.microsoft.com/office/drawing/2014/main" id="{DFB700D7-59AA-E34A-63F1-177A38B28ADB}"/>
              </a:ext>
            </a:extLst>
          </p:cNvPr>
          <p:cNvSpPr txBox="1"/>
          <p:nvPr/>
        </p:nvSpPr>
        <p:spPr>
          <a:xfrm>
            <a:off x="12192000" y="1850302"/>
            <a:ext cx="5943600" cy="769441"/>
          </a:xfrm>
          <a:prstGeom prst="rect">
            <a:avLst/>
          </a:prstGeom>
          <a:noFill/>
        </p:spPr>
        <p:txBody>
          <a:bodyPr wrap="square" rtlCol="0">
            <a:spAutoFit/>
          </a:bodyPr>
          <a:lstStyle/>
          <a:p>
            <a:pPr algn="r"/>
            <a:r>
              <a:rPr lang="ar-EG" sz="4400" b="1" u="sng" dirty="0">
                <a:solidFill>
                  <a:srgbClr val="7030A0"/>
                </a:solidFill>
                <a:latin typeface="+mj-lt"/>
                <a:ea typeface="+mj-ea"/>
                <a:cs typeface="+mj-cs"/>
              </a:rPr>
              <a:t>الدائرة الكهربية للسكة :-</a:t>
            </a:r>
            <a:endParaRPr lang="en-US" sz="4400" b="1" u="sng" dirty="0">
              <a:solidFill>
                <a:srgbClr val="7030A0"/>
              </a:solidFill>
              <a:latin typeface="+mj-lt"/>
              <a:ea typeface="+mj-ea"/>
              <a:cs typeface="+mj-cs"/>
            </a:endParaRPr>
          </a:p>
        </p:txBody>
      </p:sp>
      <p:pic>
        <p:nvPicPr>
          <p:cNvPr id="6" name="Picture 5"/>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0" y="2703727"/>
            <a:ext cx="18288000" cy="7583273"/>
          </a:xfrm>
          <a:prstGeom prst="rect">
            <a:avLst/>
          </a:prstGeom>
        </p:spPr>
      </p:pic>
      <p:pic>
        <p:nvPicPr>
          <p:cNvPr id="7" name="Picture 6"/>
          <p:cNvPicPr/>
          <p:nvPr/>
        </p:nvPicPr>
        <p:blipFill>
          <a:blip r:embed="rId4" cstate="print">
            <a:extLst>
              <a:ext uri="{28A0092B-C50C-407E-A947-70E740481C1C}">
                <a14:useLocalDpi xmlns:a14="http://schemas.microsoft.com/office/drawing/2010/main" val="0"/>
              </a:ext>
            </a:extLst>
          </a:blip>
          <a:stretch>
            <a:fillRect/>
          </a:stretch>
        </p:blipFill>
        <p:spPr>
          <a:xfrm>
            <a:off x="13944600" y="6495363"/>
            <a:ext cx="2087880" cy="1269716"/>
          </a:xfrm>
          <a:prstGeom prst="rect">
            <a:avLst/>
          </a:prstGeom>
        </p:spPr>
      </p:pic>
      <p:pic>
        <p:nvPicPr>
          <p:cNvPr id="8" name="Picture 7"/>
          <p:cNvPicPr/>
          <p:nvPr/>
        </p:nvPicPr>
        <p:blipFill rotWithShape="1">
          <a:blip r:embed="rId5" cstate="print">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l="16395"/>
          <a:stretch/>
        </p:blipFill>
        <p:spPr bwMode="auto">
          <a:xfrm>
            <a:off x="0" y="9436195"/>
            <a:ext cx="1772920" cy="850805"/>
          </a:xfrm>
          <a:prstGeom prst="rect">
            <a:avLst/>
          </a:prstGeom>
          <a:ln>
            <a:noFill/>
          </a:ln>
          <a:extLst>
            <a:ext uri="{53640926-AAD7-44D8-BBD7-CCE9431645EC}">
              <a14:shadowObscured xmlns:a14="http://schemas.microsoft.com/office/drawing/2010/main"/>
            </a:ext>
          </a:extLst>
        </p:spPr>
      </p:pic>
      <p:grpSp>
        <p:nvGrpSpPr>
          <p:cNvPr id="4" name="Group 12">
            <a:extLst>
              <a:ext uri="{FF2B5EF4-FFF2-40B4-BE49-F238E27FC236}">
                <a16:creationId xmlns:a16="http://schemas.microsoft.com/office/drawing/2014/main" id="{C8D3672F-747F-C804-566B-E3E819FD7687}"/>
              </a:ext>
            </a:extLst>
          </p:cNvPr>
          <p:cNvGrpSpPr/>
          <p:nvPr/>
        </p:nvGrpSpPr>
        <p:grpSpPr>
          <a:xfrm>
            <a:off x="-4006574" y="-369454"/>
            <a:ext cx="7009358" cy="1159703"/>
            <a:chOff x="0" y="0"/>
            <a:chExt cx="1250766" cy="206940"/>
          </a:xfrm>
        </p:grpSpPr>
        <p:sp>
          <p:nvSpPr>
            <p:cNvPr id="5" name="Freeform 13">
              <a:extLst>
                <a:ext uri="{FF2B5EF4-FFF2-40B4-BE49-F238E27FC236}">
                  <a16:creationId xmlns:a16="http://schemas.microsoft.com/office/drawing/2014/main" id="{B7F58083-B578-BE83-79F4-37AE10A14755}"/>
                </a:ext>
              </a:extLst>
            </p:cNvPr>
            <p:cNvSpPr/>
            <p:nvPr/>
          </p:nvSpPr>
          <p:spPr>
            <a:xfrm>
              <a:off x="11494" y="0"/>
              <a:ext cx="1227777" cy="206940"/>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solidFill>
              <a:srgbClr val="3275C5"/>
            </a:solidFill>
          </p:spPr>
        </p:sp>
        <p:sp>
          <p:nvSpPr>
            <p:cNvPr id="9" name="TextBox 14">
              <a:extLst>
                <a:ext uri="{FF2B5EF4-FFF2-40B4-BE49-F238E27FC236}">
                  <a16:creationId xmlns:a16="http://schemas.microsoft.com/office/drawing/2014/main" id="{47DA544E-6FF1-7E97-E8F3-0A6D9B488438}"/>
                </a:ext>
              </a:extLst>
            </p:cNvPr>
            <p:cNvSpPr txBox="1"/>
            <p:nvPr/>
          </p:nvSpPr>
          <p:spPr>
            <a:xfrm>
              <a:off x="101600" y="19050"/>
              <a:ext cx="1047566" cy="187890"/>
            </a:xfrm>
            <a:prstGeom prst="rect">
              <a:avLst/>
            </a:prstGeom>
          </p:spPr>
          <p:txBody>
            <a:bodyPr lIns="83282" tIns="83282" rIns="83282" bIns="83282" rtlCol="0" anchor="ctr"/>
            <a:lstStyle/>
            <a:p>
              <a:pPr algn="ctr">
                <a:lnSpc>
                  <a:spcPts val="1993"/>
                </a:lnSpc>
              </a:pPr>
              <a:endParaRPr/>
            </a:p>
          </p:txBody>
        </p:sp>
      </p:grpSp>
      <p:grpSp>
        <p:nvGrpSpPr>
          <p:cNvPr id="10" name="Group 15">
            <a:extLst>
              <a:ext uri="{FF2B5EF4-FFF2-40B4-BE49-F238E27FC236}">
                <a16:creationId xmlns:a16="http://schemas.microsoft.com/office/drawing/2014/main" id="{4413C4A1-A381-9BA1-B0D8-8EA70575F28A}"/>
              </a:ext>
            </a:extLst>
          </p:cNvPr>
          <p:cNvGrpSpPr/>
          <p:nvPr/>
        </p:nvGrpSpPr>
        <p:grpSpPr>
          <a:xfrm>
            <a:off x="-1748459" y="508418"/>
            <a:ext cx="3144637" cy="520282"/>
            <a:chOff x="0" y="0"/>
            <a:chExt cx="1250766" cy="206940"/>
          </a:xfrm>
        </p:grpSpPr>
        <p:sp>
          <p:nvSpPr>
            <p:cNvPr id="11" name="Freeform 16">
              <a:extLst>
                <a:ext uri="{FF2B5EF4-FFF2-40B4-BE49-F238E27FC236}">
                  <a16:creationId xmlns:a16="http://schemas.microsoft.com/office/drawing/2014/main" id="{7A6ACB39-4DCF-726A-868A-A3FA31CF8BA1}"/>
                </a:ext>
              </a:extLst>
            </p:cNvPr>
            <p:cNvSpPr/>
            <p:nvPr/>
          </p:nvSpPr>
          <p:spPr>
            <a:xfrm>
              <a:off x="13485" y="0"/>
              <a:ext cx="1223797" cy="206940"/>
            </a:xfrm>
            <a:custGeom>
              <a:avLst/>
              <a:gdLst/>
              <a:ahLst/>
              <a:cxnLst/>
              <a:rect l="l" t="t" r="r" b="b"/>
              <a:pathLst>
                <a:path w="1223797" h="206940">
                  <a:moveTo>
                    <a:pt x="214334" y="0"/>
                  </a:moveTo>
                  <a:lnTo>
                    <a:pt x="1212662" y="0"/>
                  </a:lnTo>
                  <a:cubicBezTo>
                    <a:pt x="1216822" y="0"/>
                    <a:pt x="1220577" y="2496"/>
                    <a:pt x="1222187" y="6333"/>
                  </a:cubicBezTo>
                  <a:cubicBezTo>
                    <a:pt x="1223796" y="10170"/>
                    <a:pt x="1222947" y="14598"/>
                    <a:pt x="1220032" y="17567"/>
                  </a:cubicBezTo>
                  <a:lnTo>
                    <a:pt x="1051330" y="189373"/>
                  </a:lnTo>
                  <a:cubicBezTo>
                    <a:pt x="1040297" y="200610"/>
                    <a:pt x="1025210" y="206940"/>
                    <a:pt x="1009462" y="206940"/>
                  </a:cubicBezTo>
                  <a:lnTo>
                    <a:pt x="11134" y="206940"/>
                  </a:lnTo>
                  <a:cubicBezTo>
                    <a:pt x="6974" y="206940"/>
                    <a:pt x="3219" y="204444"/>
                    <a:pt x="1609" y="200607"/>
                  </a:cubicBezTo>
                  <a:cubicBezTo>
                    <a:pt x="0" y="196770"/>
                    <a:pt x="849" y="192342"/>
                    <a:pt x="3764" y="189373"/>
                  </a:cubicBezTo>
                  <a:lnTo>
                    <a:pt x="172466" y="17567"/>
                  </a:lnTo>
                  <a:cubicBezTo>
                    <a:pt x="183499" y="6330"/>
                    <a:pt x="198586" y="0"/>
                    <a:pt x="214334" y="0"/>
                  </a:cubicBezTo>
                  <a:close/>
                </a:path>
              </a:pathLst>
            </a:custGeom>
            <a:solidFill>
              <a:srgbClr val="64CAF4"/>
            </a:solidFill>
          </p:spPr>
        </p:sp>
        <p:sp>
          <p:nvSpPr>
            <p:cNvPr id="12" name="TextBox 17">
              <a:extLst>
                <a:ext uri="{FF2B5EF4-FFF2-40B4-BE49-F238E27FC236}">
                  <a16:creationId xmlns:a16="http://schemas.microsoft.com/office/drawing/2014/main" id="{B61C5488-0CCC-399D-869C-9EF0219B1BC1}"/>
                </a:ext>
              </a:extLst>
            </p:cNvPr>
            <p:cNvSpPr txBox="1"/>
            <p:nvPr/>
          </p:nvSpPr>
          <p:spPr>
            <a:xfrm>
              <a:off x="101600" y="19050"/>
              <a:ext cx="1047566" cy="187890"/>
            </a:xfrm>
            <a:prstGeom prst="rect">
              <a:avLst/>
            </a:prstGeom>
          </p:spPr>
          <p:txBody>
            <a:bodyPr lIns="83282" tIns="83282" rIns="83282" bIns="83282" rtlCol="0" anchor="ctr"/>
            <a:lstStyle/>
            <a:p>
              <a:pPr algn="ctr">
                <a:lnSpc>
                  <a:spcPts val="1993"/>
                </a:lnSpc>
              </a:pPr>
              <a:endParaRPr/>
            </a:p>
          </p:txBody>
        </p:sp>
      </p:grpSp>
      <p:grpSp>
        <p:nvGrpSpPr>
          <p:cNvPr id="13" name="Group 18">
            <a:extLst>
              <a:ext uri="{FF2B5EF4-FFF2-40B4-BE49-F238E27FC236}">
                <a16:creationId xmlns:a16="http://schemas.microsoft.com/office/drawing/2014/main" id="{845CF918-3AB6-BF63-568D-FBF7CCAD3074}"/>
              </a:ext>
            </a:extLst>
          </p:cNvPr>
          <p:cNvGrpSpPr/>
          <p:nvPr/>
        </p:nvGrpSpPr>
        <p:grpSpPr>
          <a:xfrm>
            <a:off x="14410002" y="-369454"/>
            <a:ext cx="7009358" cy="1138013"/>
            <a:chOff x="0" y="0"/>
            <a:chExt cx="812800" cy="131963"/>
          </a:xfrm>
        </p:grpSpPr>
        <p:sp>
          <p:nvSpPr>
            <p:cNvPr id="14" name="Freeform 19">
              <a:extLst>
                <a:ext uri="{FF2B5EF4-FFF2-40B4-BE49-F238E27FC236}">
                  <a16:creationId xmlns:a16="http://schemas.microsoft.com/office/drawing/2014/main" id="{E4444C7F-BE87-B56A-2CFA-F0CA5AB8E8A1}"/>
                </a:ext>
              </a:extLst>
            </p:cNvPr>
            <p:cNvSpPr/>
            <p:nvPr/>
          </p:nvSpPr>
          <p:spPr>
            <a:xfrm>
              <a:off x="14243" y="0"/>
              <a:ext cx="784313" cy="131963"/>
            </a:xfrm>
            <a:custGeom>
              <a:avLst/>
              <a:gdLst/>
              <a:ahLst/>
              <a:cxnLst/>
              <a:rect l="l" t="t" r="r" b="b"/>
              <a:pathLst>
                <a:path w="784313" h="131963">
                  <a:moveTo>
                    <a:pt x="574371" y="0"/>
                  </a:moveTo>
                  <a:lnTo>
                    <a:pt x="6743" y="0"/>
                  </a:lnTo>
                  <a:cubicBezTo>
                    <a:pt x="3990" y="0"/>
                    <a:pt x="1564" y="1811"/>
                    <a:pt x="782" y="4451"/>
                  </a:cubicBezTo>
                  <a:cubicBezTo>
                    <a:pt x="0" y="7091"/>
                    <a:pt x="1048" y="9930"/>
                    <a:pt x="3357" y="11430"/>
                  </a:cubicBezTo>
                  <a:lnTo>
                    <a:pt x="171357" y="120533"/>
                  </a:lnTo>
                  <a:cubicBezTo>
                    <a:pt x="182844" y="127993"/>
                    <a:pt x="196246" y="131963"/>
                    <a:pt x="209943" y="131963"/>
                  </a:cubicBezTo>
                  <a:lnTo>
                    <a:pt x="777571" y="131963"/>
                  </a:lnTo>
                  <a:cubicBezTo>
                    <a:pt x="780324" y="131963"/>
                    <a:pt x="782750" y="130152"/>
                    <a:pt x="783532" y="127512"/>
                  </a:cubicBezTo>
                  <a:cubicBezTo>
                    <a:pt x="784314" y="124873"/>
                    <a:pt x="783266" y="122033"/>
                    <a:pt x="780957" y="120533"/>
                  </a:cubicBezTo>
                  <a:lnTo>
                    <a:pt x="612957" y="11430"/>
                  </a:lnTo>
                  <a:cubicBezTo>
                    <a:pt x="601470" y="3970"/>
                    <a:pt x="588068" y="0"/>
                    <a:pt x="574371" y="0"/>
                  </a:cubicBezTo>
                  <a:close/>
                </a:path>
              </a:pathLst>
            </a:custGeom>
            <a:solidFill>
              <a:srgbClr val="3275C5"/>
            </a:solidFill>
          </p:spPr>
        </p:sp>
        <p:sp>
          <p:nvSpPr>
            <p:cNvPr id="15" name="TextBox 20">
              <a:extLst>
                <a:ext uri="{FF2B5EF4-FFF2-40B4-BE49-F238E27FC236}">
                  <a16:creationId xmlns:a16="http://schemas.microsoft.com/office/drawing/2014/main" id="{55D0E6F1-9C47-AF23-2291-F33166F2698B}"/>
                </a:ext>
              </a:extLst>
            </p:cNvPr>
            <p:cNvSpPr txBox="1"/>
            <p:nvPr/>
          </p:nvSpPr>
          <p:spPr>
            <a:xfrm>
              <a:off x="101600" y="19050"/>
              <a:ext cx="609600" cy="112913"/>
            </a:xfrm>
            <a:prstGeom prst="rect">
              <a:avLst/>
            </a:prstGeom>
          </p:spPr>
          <p:txBody>
            <a:bodyPr lIns="83282" tIns="83282" rIns="83282" bIns="83282" rtlCol="0" anchor="ctr"/>
            <a:lstStyle/>
            <a:p>
              <a:pPr algn="ctr">
                <a:lnSpc>
                  <a:spcPts val="1993"/>
                </a:lnSpc>
              </a:pPr>
              <a:endParaRPr/>
            </a:p>
          </p:txBody>
        </p:sp>
      </p:grpSp>
      <p:grpSp>
        <p:nvGrpSpPr>
          <p:cNvPr id="16" name="Group 21">
            <a:extLst>
              <a:ext uri="{FF2B5EF4-FFF2-40B4-BE49-F238E27FC236}">
                <a16:creationId xmlns:a16="http://schemas.microsoft.com/office/drawing/2014/main" id="{0A2C0F25-E38B-5EFF-410F-72ED292B8AC7}"/>
              </a:ext>
            </a:extLst>
          </p:cNvPr>
          <p:cNvGrpSpPr/>
          <p:nvPr/>
        </p:nvGrpSpPr>
        <p:grpSpPr>
          <a:xfrm>
            <a:off x="16629956" y="508418"/>
            <a:ext cx="3144637" cy="520282"/>
            <a:chOff x="0" y="0"/>
            <a:chExt cx="812800" cy="134478"/>
          </a:xfrm>
        </p:grpSpPr>
        <p:sp>
          <p:nvSpPr>
            <p:cNvPr id="17" name="Freeform 22">
              <a:extLst>
                <a:ext uri="{FF2B5EF4-FFF2-40B4-BE49-F238E27FC236}">
                  <a16:creationId xmlns:a16="http://schemas.microsoft.com/office/drawing/2014/main" id="{9BA6A77C-FABE-A4A5-B2C3-6196840A560B}"/>
                </a:ext>
              </a:extLst>
            </p:cNvPr>
            <p:cNvSpPr/>
            <p:nvPr/>
          </p:nvSpPr>
          <p:spPr>
            <a:xfrm>
              <a:off x="26532" y="0"/>
              <a:ext cx="759735" cy="134478"/>
            </a:xfrm>
            <a:custGeom>
              <a:avLst/>
              <a:gdLst/>
              <a:ahLst/>
              <a:cxnLst/>
              <a:rect l="l" t="t" r="r" b="b"/>
              <a:pathLst>
                <a:path w="759735" h="134478">
                  <a:moveTo>
                    <a:pt x="543677" y="0"/>
                  </a:moveTo>
                  <a:lnTo>
                    <a:pt x="12859" y="0"/>
                  </a:lnTo>
                  <a:cubicBezTo>
                    <a:pt x="7628" y="0"/>
                    <a:pt x="3015" y="3429"/>
                    <a:pt x="1508" y="8438"/>
                  </a:cubicBezTo>
                  <a:cubicBezTo>
                    <a:pt x="0" y="13447"/>
                    <a:pt x="1955" y="18853"/>
                    <a:pt x="6317" y="21740"/>
                  </a:cubicBezTo>
                  <a:lnTo>
                    <a:pt x="143819" y="112739"/>
                  </a:lnTo>
                  <a:cubicBezTo>
                    <a:pt x="165244" y="126918"/>
                    <a:pt x="190367" y="134478"/>
                    <a:pt x="216059" y="134478"/>
                  </a:cubicBezTo>
                  <a:lnTo>
                    <a:pt x="746877" y="134478"/>
                  </a:lnTo>
                  <a:cubicBezTo>
                    <a:pt x="752108" y="134478"/>
                    <a:pt x="756721" y="131049"/>
                    <a:pt x="758228" y="126040"/>
                  </a:cubicBezTo>
                  <a:cubicBezTo>
                    <a:pt x="759736" y="121031"/>
                    <a:pt x="757781" y="115626"/>
                    <a:pt x="753419" y="112739"/>
                  </a:cubicBezTo>
                  <a:lnTo>
                    <a:pt x="615917" y="21740"/>
                  </a:lnTo>
                  <a:cubicBezTo>
                    <a:pt x="594492" y="7561"/>
                    <a:pt x="569369" y="0"/>
                    <a:pt x="543677" y="0"/>
                  </a:cubicBezTo>
                  <a:close/>
                </a:path>
              </a:pathLst>
            </a:custGeom>
            <a:solidFill>
              <a:srgbClr val="64CAF4"/>
            </a:solidFill>
          </p:spPr>
        </p:sp>
        <p:sp>
          <p:nvSpPr>
            <p:cNvPr id="18" name="TextBox 23">
              <a:extLst>
                <a:ext uri="{FF2B5EF4-FFF2-40B4-BE49-F238E27FC236}">
                  <a16:creationId xmlns:a16="http://schemas.microsoft.com/office/drawing/2014/main" id="{B0D7CAB3-3E9C-BB32-EA8E-F79A8CAEDD1A}"/>
                </a:ext>
              </a:extLst>
            </p:cNvPr>
            <p:cNvSpPr txBox="1"/>
            <p:nvPr/>
          </p:nvSpPr>
          <p:spPr>
            <a:xfrm>
              <a:off x="101600" y="19050"/>
              <a:ext cx="609600" cy="115428"/>
            </a:xfrm>
            <a:prstGeom prst="rect">
              <a:avLst/>
            </a:prstGeom>
          </p:spPr>
          <p:txBody>
            <a:bodyPr lIns="83282" tIns="83282" rIns="83282" bIns="83282" rtlCol="0" anchor="ctr"/>
            <a:lstStyle/>
            <a:p>
              <a:pPr algn="ctr">
                <a:lnSpc>
                  <a:spcPts val="1993"/>
                </a:lnSpc>
              </a:pPr>
              <a:endParaRPr/>
            </a:p>
          </p:txBody>
        </p:sp>
      </p:grpSp>
    </p:spTree>
    <p:extLst>
      <p:ext uri="{BB962C8B-B14F-4D97-AF65-F5344CB8AC3E}">
        <p14:creationId xmlns:p14="http://schemas.microsoft.com/office/powerpoint/2010/main" val="112583123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barn(inVertical)">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Effect transition="in" filter="fade">
                                      <p:cBhvr>
                                        <p:cTn id="19" dur="500"/>
                                        <p:tgtEl>
                                          <p:spTgt spid="3">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down)">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down)">
                                      <p:cBhvr>
                                        <p:cTn id="2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94E4A0-39ED-AE15-F4C3-AD660B7BFB2B}"/>
              </a:ext>
            </a:extLst>
          </p:cNvPr>
          <p:cNvSpPr txBox="1"/>
          <p:nvPr/>
        </p:nvSpPr>
        <p:spPr>
          <a:xfrm>
            <a:off x="3810000" y="114300"/>
            <a:ext cx="10668000" cy="1575368"/>
          </a:xfrm>
          <a:prstGeom prst="rect">
            <a:avLst/>
          </a:prstGeom>
          <a:noFill/>
        </p:spPr>
        <p:txBody>
          <a:bodyPr wrap="square" rtlCol="0">
            <a:spAutoFit/>
          </a:bodyPr>
          <a:lstStyle/>
          <a:p>
            <a:pPr algn="ctr">
              <a:lnSpc>
                <a:spcPct val="150000"/>
              </a:lnSpc>
              <a:spcBef>
                <a:spcPts val="0"/>
              </a:spcBef>
              <a:spcAft>
                <a:spcPts val="0"/>
              </a:spcAft>
              <a:buClrTx/>
              <a:buSzPts val="2800"/>
            </a:pPr>
            <a:r>
              <a:rPr lang="ar-EG" sz="7200" b="1" u="sng" dirty="0">
                <a:solidFill>
                  <a:srgbClr val="56AAF0"/>
                </a:solidFill>
                <a:latin typeface="Dynamo"/>
              </a:rPr>
              <a:t>الدائرة الكهربية</a:t>
            </a:r>
            <a:endParaRPr lang="en-US" sz="7200" b="1" u="sng" dirty="0">
              <a:solidFill>
                <a:srgbClr val="56AAF0"/>
              </a:solidFill>
              <a:latin typeface="Dynamo"/>
            </a:endParaRPr>
          </a:p>
        </p:txBody>
      </p:sp>
      <p:sp>
        <p:nvSpPr>
          <p:cNvPr id="3" name="TextBox 2">
            <a:extLst>
              <a:ext uri="{FF2B5EF4-FFF2-40B4-BE49-F238E27FC236}">
                <a16:creationId xmlns:a16="http://schemas.microsoft.com/office/drawing/2014/main" id="{AC2CE540-6DA1-9DDD-F1CF-EB0FA200C6DE}"/>
              </a:ext>
            </a:extLst>
          </p:cNvPr>
          <p:cNvSpPr txBox="1"/>
          <p:nvPr/>
        </p:nvSpPr>
        <p:spPr>
          <a:xfrm>
            <a:off x="12275127" y="1689668"/>
            <a:ext cx="5943600" cy="769441"/>
          </a:xfrm>
          <a:prstGeom prst="rect">
            <a:avLst/>
          </a:prstGeom>
          <a:noFill/>
        </p:spPr>
        <p:txBody>
          <a:bodyPr wrap="square" rtlCol="0">
            <a:spAutoFit/>
          </a:bodyPr>
          <a:lstStyle/>
          <a:p>
            <a:pPr algn="r"/>
            <a:r>
              <a:rPr lang="ar-EG" sz="4400" b="1" u="sng" dirty="0">
                <a:solidFill>
                  <a:srgbClr val="7030A0"/>
                </a:solidFill>
                <a:latin typeface="+mj-lt"/>
                <a:ea typeface="+mj-ea"/>
                <a:cs typeface="+mj-cs"/>
              </a:rPr>
              <a:t>الدائرة الكهربية للجرار :-</a:t>
            </a:r>
            <a:endParaRPr lang="en-US" sz="4400" b="1" u="sng" dirty="0">
              <a:solidFill>
                <a:srgbClr val="7030A0"/>
              </a:solidFill>
              <a:latin typeface="+mj-lt"/>
              <a:ea typeface="+mj-ea"/>
              <a:cs typeface="+mj-cs"/>
            </a:endParaRPr>
          </a:p>
        </p:txBody>
      </p:sp>
      <p:pic>
        <p:nvPicPr>
          <p:cNvPr id="6" name="Picture 5"/>
          <p:cNvPicPr/>
          <p:nvPr/>
        </p:nvPicPr>
        <p:blipFill>
          <a:blip r:embed="rId2"/>
          <a:stretch>
            <a:fillRect/>
          </a:stretch>
        </p:blipFill>
        <p:spPr>
          <a:xfrm>
            <a:off x="0" y="2665627"/>
            <a:ext cx="18288000" cy="7621373"/>
          </a:xfrm>
          <a:prstGeom prst="rect">
            <a:avLst/>
          </a:prstGeom>
        </p:spPr>
      </p:pic>
      <p:pic>
        <p:nvPicPr>
          <p:cNvPr id="7" name="Picture 6"/>
          <p:cNvPicPr/>
          <p:nvPr/>
        </p:nvPicPr>
        <p:blipFill rotWithShape="1">
          <a:blip r:embed="rId3" cstate="print">
            <a:extLst>
              <a:ext uri="{28A0092B-C50C-407E-A947-70E740481C1C}">
                <a14:useLocalDpi xmlns:a14="http://schemas.microsoft.com/office/drawing/2010/main" val="0"/>
              </a:ext>
            </a:extLst>
          </a:blip>
          <a:srcRect l="1" t="1972" r="4588"/>
          <a:stretch/>
        </p:blipFill>
        <p:spPr bwMode="auto">
          <a:xfrm>
            <a:off x="14478000" y="3086100"/>
            <a:ext cx="2356485" cy="2403832"/>
          </a:xfrm>
          <a:prstGeom prst="rect">
            <a:avLst/>
          </a:prstGeom>
          <a:noFill/>
          <a:ln>
            <a:noFill/>
          </a:ln>
          <a:extLst>
            <a:ext uri="{53640926-AAD7-44D8-BBD7-CCE9431645EC}">
              <a14:shadowObscured xmlns:a14="http://schemas.microsoft.com/office/drawing/2010/main"/>
            </a:ext>
          </a:extLst>
        </p:spPr>
      </p:pic>
      <p:pic>
        <p:nvPicPr>
          <p:cNvPr id="8" name="Picture 7"/>
          <p:cNvPicPr/>
          <p:nvPr/>
        </p:nvPicPr>
        <p:blipFill>
          <a:blip r:embed="rId4" cstate="print">
            <a:extLst>
              <a:ext uri="{28A0092B-C50C-407E-A947-70E740481C1C}">
                <a14:useLocalDpi xmlns:a14="http://schemas.microsoft.com/office/drawing/2010/main" val="0"/>
              </a:ext>
            </a:extLst>
          </a:blip>
          <a:stretch>
            <a:fillRect/>
          </a:stretch>
        </p:blipFill>
        <p:spPr>
          <a:xfrm>
            <a:off x="6019800" y="3009900"/>
            <a:ext cx="1371600" cy="873760"/>
          </a:xfrm>
          <a:prstGeom prst="rect">
            <a:avLst/>
          </a:prstGeom>
        </p:spPr>
      </p:pic>
      <p:pic>
        <p:nvPicPr>
          <p:cNvPr id="9" name="Picture 8"/>
          <p:cNvPicPr/>
          <p:nvPr/>
        </p:nvPicPr>
        <p:blipFill rotWithShape="1">
          <a:blip r:embed="rId5" cstate="print">
            <a:extLst>
              <a:ext uri="{28A0092B-C50C-407E-A947-70E740481C1C}">
                <a14:useLocalDpi xmlns:a14="http://schemas.microsoft.com/office/drawing/2010/main" val="0"/>
              </a:ext>
            </a:extLst>
          </a:blip>
          <a:srcRect l="10769" t="7359" r="8487"/>
          <a:stretch/>
        </p:blipFill>
        <p:spPr bwMode="auto">
          <a:xfrm>
            <a:off x="2667000" y="8115300"/>
            <a:ext cx="4038600" cy="1576070"/>
          </a:xfrm>
          <a:prstGeom prst="rect">
            <a:avLst/>
          </a:prstGeom>
          <a:ln>
            <a:noFill/>
          </a:ln>
          <a:extLst>
            <a:ext uri="{53640926-AAD7-44D8-BBD7-CCE9431645EC}">
              <a14:shadowObscured xmlns:a14="http://schemas.microsoft.com/office/drawing/2010/main"/>
            </a:ext>
          </a:extLst>
        </p:spPr>
      </p:pic>
      <p:grpSp>
        <p:nvGrpSpPr>
          <p:cNvPr id="4" name="Group 12">
            <a:extLst>
              <a:ext uri="{FF2B5EF4-FFF2-40B4-BE49-F238E27FC236}">
                <a16:creationId xmlns:a16="http://schemas.microsoft.com/office/drawing/2014/main" id="{0F515E95-98A3-C374-A9DA-DFA3CFF6B268}"/>
              </a:ext>
            </a:extLst>
          </p:cNvPr>
          <p:cNvGrpSpPr/>
          <p:nvPr/>
        </p:nvGrpSpPr>
        <p:grpSpPr>
          <a:xfrm>
            <a:off x="-4006574" y="-369454"/>
            <a:ext cx="7009358" cy="1159703"/>
            <a:chOff x="0" y="0"/>
            <a:chExt cx="1250766" cy="206940"/>
          </a:xfrm>
        </p:grpSpPr>
        <p:sp>
          <p:nvSpPr>
            <p:cNvPr id="5" name="Freeform 13">
              <a:extLst>
                <a:ext uri="{FF2B5EF4-FFF2-40B4-BE49-F238E27FC236}">
                  <a16:creationId xmlns:a16="http://schemas.microsoft.com/office/drawing/2014/main" id="{49B368E2-8481-8B4D-8DE5-D2A96E896B65}"/>
                </a:ext>
              </a:extLst>
            </p:cNvPr>
            <p:cNvSpPr/>
            <p:nvPr/>
          </p:nvSpPr>
          <p:spPr>
            <a:xfrm>
              <a:off x="11494" y="0"/>
              <a:ext cx="1227777" cy="206940"/>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solidFill>
              <a:srgbClr val="3275C5"/>
            </a:solidFill>
          </p:spPr>
        </p:sp>
        <p:sp>
          <p:nvSpPr>
            <p:cNvPr id="10" name="TextBox 14">
              <a:extLst>
                <a:ext uri="{FF2B5EF4-FFF2-40B4-BE49-F238E27FC236}">
                  <a16:creationId xmlns:a16="http://schemas.microsoft.com/office/drawing/2014/main" id="{EAA4CD0B-844D-9005-C6B5-67DFEBE08015}"/>
                </a:ext>
              </a:extLst>
            </p:cNvPr>
            <p:cNvSpPr txBox="1"/>
            <p:nvPr/>
          </p:nvSpPr>
          <p:spPr>
            <a:xfrm>
              <a:off x="101600" y="19050"/>
              <a:ext cx="1047566" cy="187890"/>
            </a:xfrm>
            <a:prstGeom prst="rect">
              <a:avLst/>
            </a:prstGeom>
          </p:spPr>
          <p:txBody>
            <a:bodyPr lIns="83282" tIns="83282" rIns="83282" bIns="83282" rtlCol="0" anchor="ctr"/>
            <a:lstStyle/>
            <a:p>
              <a:pPr algn="ctr">
                <a:lnSpc>
                  <a:spcPts val="1993"/>
                </a:lnSpc>
              </a:pPr>
              <a:endParaRPr/>
            </a:p>
          </p:txBody>
        </p:sp>
      </p:grpSp>
      <p:grpSp>
        <p:nvGrpSpPr>
          <p:cNvPr id="11" name="Group 15">
            <a:extLst>
              <a:ext uri="{FF2B5EF4-FFF2-40B4-BE49-F238E27FC236}">
                <a16:creationId xmlns:a16="http://schemas.microsoft.com/office/drawing/2014/main" id="{0D86B160-2160-AEAD-A67C-37FA5B26174B}"/>
              </a:ext>
            </a:extLst>
          </p:cNvPr>
          <p:cNvGrpSpPr/>
          <p:nvPr/>
        </p:nvGrpSpPr>
        <p:grpSpPr>
          <a:xfrm>
            <a:off x="-1748459" y="508418"/>
            <a:ext cx="3144637" cy="520282"/>
            <a:chOff x="0" y="0"/>
            <a:chExt cx="1250766" cy="206940"/>
          </a:xfrm>
        </p:grpSpPr>
        <p:sp>
          <p:nvSpPr>
            <p:cNvPr id="12" name="Freeform 16">
              <a:extLst>
                <a:ext uri="{FF2B5EF4-FFF2-40B4-BE49-F238E27FC236}">
                  <a16:creationId xmlns:a16="http://schemas.microsoft.com/office/drawing/2014/main" id="{14E805F6-396B-7D2B-0FCD-0BD8953342BE}"/>
                </a:ext>
              </a:extLst>
            </p:cNvPr>
            <p:cNvSpPr/>
            <p:nvPr/>
          </p:nvSpPr>
          <p:spPr>
            <a:xfrm>
              <a:off x="13485" y="0"/>
              <a:ext cx="1223797" cy="206940"/>
            </a:xfrm>
            <a:custGeom>
              <a:avLst/>
              <a:gdLst/>
              <a:ahLst/>
              <a:cxnLst/>
              <a:rect l="l" t="t" r="r" b="b"/>
              <a:pathLst>
                <a:path w="1223797" h="206940">
                  <a:moveTo>
                    <a:pt x="214334" y="0"/>
                  </a:moveTo>
                  <a:lnTo>
                    <a:pt x="1212662" y="0"/>
                  </a:lnTo>
                  <a:cubicBezTo>
                    <a:pt x="1216822" y="0"/>
                    <a:pt x="1220577" y="2496"/>
                    <a:pt x="1222187" y="6333"/>
                  </a:cubicBezTo>
                  <a:cubicBezTo>
                    <a:pt x="1223796" y="10170"/>
                    <a:pt x="1222947" y="14598"/>
                    <a:pt x="1220032" y="17567"/>
                  </a:cubicBezTo>
                  <a:lnTo>
                    <a:pt x="1051330" y="189373"/>
                  </a:lnTo>
                  <a:cubicBezTo>
                    <a:pt x="1040297" y="200610"/>
                    <a:pt x="1025210" y="206940"/>
                    <a:pt x="1009462" y="206940"/>
                  </a:cubicBezTo>
                  <a:lnTo>
                    <a:pt x="11134" y="206940"/>
                  </a:lnTo>
                  <a:cubicBezTo>
                    <a:pt x="6974" y="206940"/>
                    <a:pt x="3219" y="204444"/>
                    <a:pt x="1609" y="200607"/>
                  </a:cubicBezTo>
                  <a:cubicBezTo>
                    <a:pt x="0" y="196770"/>
                    <a:pt x="849" y="192342"/>
                    <a:pt x="3764" y="189373"/>
                  </a:cubicBezTo>
                  <a:lnTo>
                    <a:pt x="172466" y="17567"/>
                  </a:lnTo>
                  <a:cubicBezTo>
                    <a:pt x="183499" y="6330"/>
                    <a:pt x="198586" y="0"/>
                    <a:pt x="214334" y="0"/>
                  </a:cubicBezTo>
                  <a:close/>
                </a:path>
              </a:pathLst>
            </a:custGeom>
            <a:solidFill>
              <a:srgbClr val="64CAF4"/>
            </a:solidFill>
          </p:spPr>
        </p:sp>
        <p:sp>
          <p:nvSpPr>
            <p:cNvPr id="13" name="TextBox 17">
              <a:extLst>
                <a:ext uri="{FF2B5EF4-FFF2-40B4-BE49-F238E27FC236}">
                  <a16:creationId xmlns:a16="http://schemas.microsoft.com/office/drawing/2014/main" id="{24645F0E-5ED9-0421-68A0-779C97595C7B}"/>
                </a:ext>
              </a:extLst>
            </p:cNvPr>
            <p:cNvSpPr txBox="1"/>
            <p:nvPr/>
          </p:nvSpPr>
          <p:spPr>
            <a:xfrm>
              <a:off x="101600" y="19050"/>
              <a:ext cx="1047566" cy="187890"/>
            </a:xfrm>
            <a:prstGeom prst="rect">
              <a:avLst/>
            </a:prstGeom>
          </p:spPr>
          <p:txBody>
            <a:bodyPr lIns="83282" tIns="83282" rIns="83282" bIns="83282" rtlCol="0" anchor="ctr"/>
            <a:lstStyle/>
            <a:p>
              <a:pPr algn="ctr">
                <a:lnSpc>
                  <a:spcPts val="1993"/>
                </a:lnSpc>
              </a:pPr>
              <a:endParaRPr/>
            </a:p>
          </p:txBody>
        </p:sp>
      </p:grpSp>
      <p:grpSp>
        <p:nvGrpSpPr>
          <p:cNvPr id="14" name="Group 18">
            <a:extLst>
              <a:ext uri="{FF2B5EF4-FFF2-40B4-BE49-F238E27FC236}">
                <a16:creationId xmlns:a16="http://schemas.microsoft.com/office/drawing/2014/main" id="{29AAC57B-133A-5075-57E4-3518D4EB383F}"/>
              </a:ext>
            </a:extLst>
          </p:cNvPr>
          <p:cNvGrpSpPr/>
          <p:nvPr/>
        </p:nvGrpSpPr>
        <p:grpSpPr>
          <a:xfrm>
            <a:off x="14410002" y="-369454"/>
            <a:ext cx="7009358" cy="1138013"/>
            <a:chOff x="0" y="0"/>
            <a:chExt cx="812800" cy="131963"/>
          </a:xfrm>
        </p:grpSpPr>
        <p:sp>
          <p:nvSpPr>
            <p:cNvPr id="15" name="Freeform 19">
              <a:extLst>
                <a:ext uri="{FF2B5EF4-FFF2-40B4-BE49-F238E27FC236}">
                  <a16:creationId xmlns:a16="http://schemas.microsoft.com/office/drawing/2014/main" id="{62370056-58F8-80D6-1B28-AD6D2E47D9F6}"/>
                </a:ext>
              </a:extLst>
            </p:cNvPr>
            <p:cNvSpPr/>
            <p:nvPr/>
          </p:nvSpPr>
          <p:spPr>
            <a:xfrm>
              <a:off x="14243" y="0"/>
              <a:ext cx="784313" cy="131963"/>
            </a:xfrm>
            <a:custGeom>
              <a:avLst/>
              <a:gdLst/>
              <a:ahLst/>
              <a:cxnLst/>
              <a:rect l="l" t="t" r="r" b="b"/>
              <a:pathLst>
                <a:path w="784313" h="131963">
                  <a:moveTo>
                    <a:pt x="574371" y="0"/>
                  </a:moveTo>
                  <a:lnTo>
                    <a:pt x="6743" y="0"/>
                  </a:lnTo>
                  <a:cubicBezTo>
                    <a:pt x="3990" y="0"/>
                    <a:pt x="1564" y="1811"/>
                    <a:pt x="782" y="4451"/>
                  </a:cubicBezTo>
                  <a:cubicBezTo>
                    <a:pt x="0" y="7091"/>
                    <a:pt x="1048" y="9930"/>
                    <a:pt x="3357" y="11430"/>
                  </a:cubicBezTo>
                  <a:lnTo>
                    <a:pt x="171357" y="120533"/>
                  </a:lnTo>
                  <a:cubicBezTo>
                    <a:pt x="182844" y="127993"/>
                    <a:pt x="196246" y="131963"/>
                    <a:pt x="209943" y="131963"/>
                  </a:cubicBezTo>
                  <a:lnTo>
                    <a:pt x="777571" y="131963"/>
                  </a:lnTo>
                  <a:cubicBezTo>
                    <a:pt x="780324" y="131963"/>
                    <a:pt x="782750" y="130152"/>
                    <a:pt x="783532" y="127512"/>
                  </a:cubicBezTo>
                  <a:cubicBezTo>
                    <a:pt x="784314" y="124873"/>
                    <a:pt x="783266" y="122033"/>
                    <a:pt x="780957" y="120533"/>
                  </a:cubicBezTo>
                  <a:lnTo>
                    <a:pt x="612957" y="11430"/>
                  </a:lnTo>
                  <a:cubicBezTo>
                    <a:pt x="601470" y="3970"/>
                    <a:pt x="588068" y="0"/>
                    <a:pt x="574371" y="0"/>
                  </a:cubicBezTo>
                  <a:close/>
                </a:path>
              </a:pathLst>
            </a:custGeom>
            <a:solidFill>
              <a:srgbClr val="3275C5"/>
            </a:solidFill>
          </p:spPr>
        </p:sp>
        <p:sp>
          <p:nvSpPr>
            <p:cNvPr id="16" name="TextBox 20">
              <a:extLst>
                <a:ext uri="{FF2B5EF4-FFF2-40B4-BE49-F238E27FC236}">
                  <a16:creationId xmlns:a16="http://schemas.microsoft.com/office/drawing/2014/main" id="{85FB5DE2-BDDB-B8EB-7ABE-F0E50F5AEC01}"/>
                </a:ext>
              </a:extLst>
            </p:cNvPr>
            <p:cNvSpPr txBox="1"/>
            <p:nvPr/>
          </p:nvSpPr>
          <p:spPr>
            <a:xfrm>
              <a:off x="101600" y="19050"/>
              <a:ext cx="609600" cy="112913"/>
            </a:xfrm>
            <a:prstGeom prst="rect">
              <a:avLst/>
            </a:prstGeom>
          </p:spPr>
          <p:txBody>
            <a:bodyPr lIns="83282" tIns="83282" rIns="83282" bIns="83282" rtlCol="0" anchor="ctr"/>
            <a:lstStyle/>
            <a:p>
              <a:pPr algn="ctr">
                <a:lnSpc>
                  <a:spcPts val="1993"/>
                </a:lnSpc>
              </a:pPr>
              <a:endParaRPr/>
            </a:p>
          </p:txBody>
        </p:sp>
      </p:grpSp>
      <p:grpSp>
        <p:nvGrpSpPr>
          <p:cNvPr id="17" name="Group 21">
            <a:extLst>
              <a:ext uri="{FF2B5EF4-FFF2-40B4-BE49-F238E27FC236}">
                <a16:creationId xmlns:a16="http://schemas.microsoft.com/office/drawing/2014/main" id="{74214CED-F65E-97A5-5866-FA11C65B4625}"/>
              </a:ext>
            </a:extLst>
          </p:cNvPr>
          <p:cNvGrpSpPr/>
          <p:nvPr/>
        </p:nvGrpSpPr>
        <p:grpSpPr>
          <a:xfrm>
            <a:off x="16629956" y="508418"/>
            <a:ext cx="3144637" cy="520282"/>
            <a:chOff x="0" y="0"/>
            <a:chExt cx="812800" cy="134478"/>
          </a:xfrm>
        </p:grpSpPr>
        <p:sp>
          <p:nvSpPr>
            <p:cNvPr id="18" name="Freeform 22">
              <a:extLst>
                <a:ext uri="{FF2B5EF4-FFF2-40B4-BE49-F238E27FC236}">
                  <a16:creationId xmlns:a16="http://schemas.microsoft.com/office/drawing/2014/main" id="{743A5F1E-CD81-97DA-39E0-7E39C6EDA2BC}"/>
                </a:ext>
              </a:extLst>
            </p:cNvPr>
            <p:cNvSpPr/>
            <p:nvPr/>
          </p:nvSpPr>
          <p:spPr>
            <a:xfrm>
              <a:off x="26532" y="0"/>
              <a:ext cx="759735" cy="134478"/>
            </a:xfrm>
            <a:custGeom>
              <a:avLst/>
              <a:gdLst/>
              <a:ahLst/>
              <a:cxnLst/>
              <a:rect l="l" t="t" r="r" b="b"/>
              <a:pathLst>
                <a:path w="759735" h="134478">
                  <a:moveTo>
                    <a:pt x="543677" y="0"/>
                  </a:moveTo>
                  <a:lnTo>
                    <a:pt x="12859" y="0"/>
                  </a:lnTo>
                  <a:cubicBezTo>
                    <a:pt x="7628" y="0"/>
                    <a:pt x="3015" y="3429"/>
                    <a:pt x="1508" y="8438"/>
                  </a:cubicBezTo>
                  <a:cubicBezTo>
                    <a:pt x="0" y="13447"/>
                    <a:pt x="1955" y="18853"/>
                    <a:pt x="6317" y="21740"/>
                  </a:cubicBezTo>
                  <a:lnTo>
                    <a:pt x="143819" y="112739"/>
                  </a:lnTo>
                  <a:cubicBezTo>
                    <a:pt x="165244" y="126918"/>
                    <a:pt x="190367" y="134478"/>
                    <a:pt x="216059" y="134478"/>
                  </a:cubicBezTo>
                  <a:lnTo>
                    <a:pt x="746877" y="134478"/>
                  </a:lnTo>
                  <a:cubicBezTo>
                    <a:pt x="752108" y="134478"/>
                    <a:pt x="756721" y="131049"/>
                    <a:pt x="758228" y="126040"/>
                  </a:cubicBezTo>
                  <a:cubicBezTo>
                    <a:pt x="759736" y="121031"/>
                    <a:pt x="757781" y="115626"/>
                    <a:pt x="753419" y="112739"/>
                  </a:cubicBezTo>
                  <a:lnTo>
                    <a:pt x="615917" y="21740"/>
                  </a:lnTo>
                  <a:cubicBezTo>
                    <a:pt x="594492" y="7561"/>
                    <a:pt x="569369" y="0"/>
                    <a:pt x="543677" y="0"/>
                  </a:cubicBezTo>
                  <a:close/>
                </a:path>
              </a:pathLst>
            </a:custGeom>
            <a:solidFill>
              <a:srgbClr val="64CAF4"/>
            </a:solidFill>
          </p:spPr>
        </p:sp>
        <p:sp>
          <p:nvSpPr>
            <p:cNvPr id="19" name="TextBox 23">
              <a:extLst>
                <a:ext uri="{FF2B5EF4-FFF2-40B4-BE49-F238E27FC236}">
                  <a16:creationId xmlns:a16="http://schemas.microsoft.com/office/drawing/2014/main" id="{DE1C015C-CF7F-7D5D-0EEE-EF1BAA3B6169}"/>
                </a:ext>
              </a:extLst>
            </p:cNvPr>
            <p:cNvSpPr txBox="1"/>
            <p:nvPr/>
          </p:nvSpPr>
          <p:spPr>
            <a:xfrm>
              <a:off x="101600" y="19050"/>
              <a:ext cx="609600" cy="115428"/>
            </a:xfrm>
            <a:prstGeom prst="rect">
              <a:avLst/>
            </a:prstGeom>
          </p:spPr>
          <p:txBody>
            <a:bodyPr lIns="83282" tIns="83282" rIns="83282" bIns="83282" rtlCol="0" anchor="ctr"/>
            <a:lstStyle/>
            <a:p>
              <a:pPr algn="ctr">
                <a:lnSpc>
                  <a:spcPts val="1993"/>
                </a:lnSpc>
              </a:pPr>
              <a:endParaRPr/>
            </a:p>
          </p:txBody>
        </p:sp>
      </p:grpSp>
    </p:spTree>
    <p:extLst>
      <p:ext uri="{BB962C8B-B14F-4D97-AF65-F5344CB8AC3E}">
        <p14:creationId xmlns:p14="http://schemas.microsoft.com/office/powerpoint/2010/main" val="2855510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down)">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down)">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down)">
                                      <p:cBhvr>
                                        <p:cTn id="29" dur="50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wipe(down)">
                                      <p:cBhvr>
                                        <p:cTn id="3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27955" y="77998"/>
            <a:ext cx="15432087" cy="1219199"/>
          </a:xfrm>
        </p:spPr>
        <p:txBody>
          <a:bodyPr>
            <a:normAutofit/>
          </a:bodyPr>
          <a:lstStyle/>
          <a:p>
            <a:pPr algn="ctr"/>
            <a:r>
              <a:rPr lang="en-US" sz="7200" b="1" u="sng" dirty="0">
                <a:solidFill>
                  <a:srgbClr val="56AAF0"/>
                </a:solidFill>
                <a:latin typeface="Dynamo"/>
              </a:rPr>
              <a:t>Flow chart of train and ultra sonic </a:t>
            </a:r>
          </a:p>
        </p:txBody>
      </p:sp>
      <p:sp>
        <p:nvSpPr>
          <p:cNvPr id="4" name="Oval 3"/>
          <p:cNvSpPr/>
          <p:nvPr/>
        </p:nvSpPr>
        <p:spPr>
          <a:xfrm>
            <a:off x="8039100" y="1479382"/>
            <a:ext cx="2209799" cy="76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dirty="0">
                <a:solidFill>
                  <a:schemeClr val="bg1"/>
                </a:solidFill>
              </a:rPr>
              <a:t>start</a:t>
            </a:r>
          </a:p>
        </p:txBody>
      </p:sp>
      <p:sp>
        <p:nvSpPr>
          <p:cNvPr id="5" name="Down Arrow 4"/>
          <p:cNvSpPr/>
          <p:nvPr/>
        </p:nvSpPr>
        <p:spPr>
          <a:xfrm>
            <a:off x="8915400" y="2275150"/>
            <a:ext cx="457200" cy="1143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lowchart: Data 5"/>
          <p:cNvSpPr/>
          <p:nvPr/>
        </p:nvSpPr>
        <p:spPr>
          <a:xfrm>
            <a:off x="6286500" y="3408626"/>
            <a:ext cx="6172200" cy="106680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Input ultra sonic sensor reading (distance)</a:t>
            </a:r>
          </a:p>
        </p:txBody>
      </p:sp>
      <p:sp>
        <p:nvSpPr>
          <p:cNvPr id="8" name="Down Arrow 7"/>
          <p:cNvSpPr/>
          <p:nvPr/>
        </p:nvSpPr>
        <p:spPr>
          <a:xfrm>
            <a:off x="8915400" y="4498018"/>
            <a:ext cx="457200" cy="1143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lowchart: Decision 6"/>
          <p:cNvSpPr/>
          <p:nvPr/>
        </p:nvSpPr>
        <p:spPr>
          <a:xfrm>
            <a:off x="7543800" y="5659414"/>
            <a:ext cx="3200400" cy="1524000"/>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Distance &lt;=15</a:t>
            </a:r>
          </a:p>
        </p:txBody>
      </p:sp>
      <p:cxnSp>
        <p:nvCxnSpPr>
          <p:cNvPr id="10" name="Straight Connector 9"/>
          <p:cNvCxnSpPr>
            <a:stCxn id="7" idx="1"/>
          </p:cNvCxnSpPr>
          <p:nvPr/>
        </p:nvCxnSpPr>
        <p:spPr>
          <a:xfrm flipH="1">
            <a:off x="3937948" y="6421414"/>
            <a:ext cx="3605852" cy="0"/>
          </a:xfrm>
          <a:prstGeom prst="line">
            <a:avLst/>
          </a:prstGeom>
        </p:spPr>
        <p:style>
          <a:lnRef idx="3">
            <a:schemeClr val="dk1"/>
          </a:lnRef>
          <a:fillRef idx="0">
            <a:schemeClr val="dk1"/>
          </a:fillRef>
          <a:effectRef idx="2">
            <a:schemeClr val="dk1"/>
          </a:effectRef>
          <a:fontRef idx="minor">
            <a:schemeClr val="tx1"/>
          </a:fontRef>
        </p:style>
      </p:cxnSp>
      <p:cxnSp>
        <p:nvCxnSpPr>
          <p:cNvPr id="12" name="Straight Connector 11"/>
          <p:cNvCxnSpPr/>
          <p:nvPr/>
        </p:nvCxnSpPr>
        <p:spPr>
          <a:xfrm flipH="1">
            <a:off x="10744200" y="6421414"/>
            <a:ext cx="3771900" cy="0"/>
          </a:xfrm>
          <a:prstGeom prst="line">
            <a:avLst/>
          </a:prstGeom>
        </p:spPr>
        <p:style>
          <a:lnRef idx="3">
            <a:schemeClr val="dk1"/>
          </a:lnRef>
          <a:fillRef idx="0">
            <a:schemeClr val="dk1"/>
          </a:fillRef>
          <a:effectRef idx="2">
            <a:schemeClr val="dk1"/>
          </a:effectRef>
          <a:fontRef idx="minor">
            <a:schemeClr val="tx1"/>
          </a:fontRef>
        </p:style>
      </p:cxnSp>
      <p:sp>
        <p:nvSpPr>
          <p:cNvPr id="11" name="TextBox 10"/>
          <p:cNvSpPr txBox="1"/>
          <p:nvPr/>
        </p:nvSpPr>
        <p:spPr>
          <a:xfrm>
            <a:off x="11296650" y="5716565"/>
            <a:ext cx="1143000" cy="584775"/>
          </a:xfrm>
          <a:prstGeom prst="rect">
            <a:avLst/>
          </a:prstGeom>
          <a:noFill/>
        </p:spPr>
        <p:txBody>
          <a:bodyPr wrap="square" rtlCol="0">
            <a:spAutoFit/>
          </a:bodyPr>
          <a:lstStyle/>
          <a:p>
            <a:r>
              <a:rPr lang="en-US" sz="3200" dirty="0"/>
              <a:t>yes</a:t>
            </a:r>
          </a:p>
        </p:txBody>
      </p:sp>
      <p:sp>
        <p:nvSpPr>
          <p:cNvPr id="13" name="Rectangle 12"/>
          <p:cNvSpPr/>
          <p:nvPr/>
        </p:nvSpPr>
        <p:spPr>
          <a:xfrm>
            <a:off x="6598408" y="6755442"/>
            <a:ext cx="665567" cy="584775"/>
          </a:xfrm>
          <a:prstGeom prst="rect">
            <a:avLst/>
          </a:prstGeom>
        </p:spPr>
        <p:txBody>
          <a:bodyPr wrap="none">
            <a:spAutoFit/>
          </a:bodyPr>
          <a:lstStyle/>
          <a:p>
            <a:r>
              <a:rPr lang="en-US" sz="3200" dirty="0"/>
              <a:t>No</a:t>
            </a:r>
          </a:p>
        </p:txBody>
      </p:sp>
      <p:sp>
        <p:nvSpPr>
          <p:cNvPr id="15" name="Down Arrow 14"/>
          <p:cNvSpPr/>
          <p:nvPr/>
        </p:nvSpPr>
        <p:spPr>
          <a:xfrm>
            <a:off x="14255371" y="6383314"/>
            <a:ext cx="457200" cy="1143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own Arrow 15"/>
          <p:cNvSpPr/>
          <p:nvPr/>
        </p:nvSpPr>
        <p:spPr>
          <a:xfrm>
            <a:off x="3804029" y="6421414"/>
            <a:ext cx="457200" cy="1143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12359896" y="7526314"/>
            <a:ext cx="424815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Buzzer on, led red, green on </a:t>
            </a:r>
          </a:p>
        </p:txBody>
      </p:sp>
      <p:sp>
        <p:nvSpPr>
          <p:cNvPr id="18" name="Down Arrow 17"/>
          <p:cNvSpPr/>
          <p:nvPr/>
        </p:nvSpPr>
        <p:spPr>
          <a:xfrm>
            <a:off x="14217271" y="8212114"/>
            <a:ext cx="457200" cy="1143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p:cNvSpPr/>
          <p:nvPr/>
        </p:nvSpPr>
        <p:spPr>
          <a:xfrm>
            <a:off x="13296900" y="9355114"/>
            <a:ext cx="2362200" cy="4952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Train stop</a:t>
            </a:r>
          </a:p>
        </p:txBody>
      </p:sp>
      <p:sp>
        <p:nvSpPr>
          <p:cNvPr id="20" name="Rectangle 19"/>
          <p:cNvSpPr/>
          <p:nvPr/>
        </p:nvSpPr>
        <p:spPr>
          <a:xfrm>
            <a:off x="2038350" y="7564414"/>
            <a:ext cx="424815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Buzzer off, greed on</a:t>
            </a:r>
          </a:p>
        </p:txBody>
      </p:sp>
      <p:sp>
        <p:nvSpPr>
          <p:cNvPr id="21" name="Rounded Rectangle 20"/>
          <p:cNvSpPr/>
          <p:nvPr/>
        </p:nvSpPr>
        <p:spPr>
          <a:xfrm>
            <a:off x="2756848" y="9434204"/>
            <a:ext cx="2362200" cy="4952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Train run</a:t>
            </a:r>
          </a:p>
        </p:txBody>
      </p:sp>
      <p:sp>
        <p:nvSpPr>
          <p:cNvPr id="22" name="Down Arrow 21"/>
          <p:cNvSpPr/>
          <p:nvPr/>
        </p:nvSpPr>
        <p:spPr>
          <a:xfrm>
            <a:off x="3807583" y="8270709"/>
            <a:ext cx="457200" cy="1143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8572500" y="9355114"/>
            <a:ext cx="1905000" cy="8000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End</a:t>
            </a:r>
          </a:p>
        </p:txBody>
      </p:sp>
      <p:sp>
        <p:nvSpPr>
          <p:cNvPr id="23" name="Right Arrow 22"/>
          <p:cNvSpPr/>
          <p:nvPr/>
        </p:nvSpPr>
        <p:spPr>
          <a:xfrm>
            <a:off x="5119048" y="9621813"/>
            <a:ext cx="3453452" cy="3281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ight Arrow 24"/>
          <p:cNvSpPr/>
          <p:nvPr/>
        </p:nvSpPr>
        <p:spPr>
          <a:xfrm rot="10800000">
            <a:off x="10477499" y="9571884"/>
            <a:ext cx="2819399" cy="3781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2">
            <a:extLst>
              <a:ext uri="{FF2B5EF4-FFF2-40B4-BE49-F238E27FC236}">
                <a16:creationId xmlns:a16="http://schemas.microsoft.com/office/drawing/2014/main" id="{C41216A4-28D0-0E1D-A913-D5F9AF8FC922}"/>
              </a:ext>
            </a:extLst>
          </p:cNvPr>
          <p:cNvGrpSpPr/>
          <p:nvPr/>
        </p:nvGrpSpPr>
        <p:grpSpPr>
          <a:xfrm>
            <a:off x="-4006574" y="-369454"/>
            <a:ext cx="7009358" cy="1159703"/>
            <a:chOff x="0" y="0"/>
            <a:chExt cx="1250766" cy="206940"/>
          </a:xfrm>
        </p:grpSpPr>
        <p:sp>
          <p:nvSpPr>
            <p:cNvPr id="9" name="Freeform 13">
              <a:extLst>
                <a:ext uri="{FF2B5EF4-FFF2-40B4-BE49-F238E27FC236}">
                  <a16:creationId xmlns:a16="http://schemas.microsoft.com/office/drawing/2014/main" id="{472A8E18-2612-9CCF-F73A-F2ADF6166F6A}"/>
                </a:ext>
              </a:extLst>
            </p:cNvPr>
            <p:cNvSpPr/>
            <p:nvPr/>
          </p:nvSpPr>
          <p:spPr>
            <a:xfrm>
              <a:off x="11494" y="0"/>
              <a:ext cx="1227777" cy="206940"/>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solidFill>
              <a:srgbClr val="3275C5"/>
            </a:solidFill>
          </p:spPr>
        </p:sp>
        <p:sp>
          <p:nvSpPr>
            <p:cNvPr id="24" name="TextBox 14">
              <a:extLst>
                <a:ext uri="{FF2B5EF4-FFF2-40B4-BE49-F238E27FC236}">
                  <a16:creationId xmlns:a16="http://schemas.microsoft.com/office/drawing/2014/main" id="{173A8E5A-D598-3BAA-4D7C-39910F7FB0F2}"/>
                </a:ext>
              </a:extLst>
            </p:cNvPr>
            <p:cNvSpPr txBox="1"/>
            <p:nvPr/>
          </p:nvSpPr>
          <p:spPr>
            <a:xfrm>
              <a:off x="101600" y="19050"/>
              <a:ext cx="1047566" cy="187890"/>
            </a:xfrm>
            <a:prstGeom prst="rect">
              <a:avLst/>
            </a:prstGeom>
          </p:spPr>
          <p:txBody>
            <a:bodyPr lIns="83282" tIns="83282" rIns="83282" bIns="83282" rtlCol="0" anchor="ctr"/>
            <a:lstStyle/>
            <a:p>
              <a:pPr algn="ctr">
                <a:lnSpc>
                  <a:spcPts val="1993"/>
                </a:lnSpc>
              </a:pPr>
              <a:endParaRPr/>
            </a:p>
          </p:txBody>
        </p:sp>
      </p:grpSp>
      <p:grpSp>
        <p:nvGrpSpPr>
          <p:cNvPr id="26" name="Group 15">
            <a:extLst>
              <a:ext uri="{FF2B5EF4-FFF2-40B4-BE49-F238E27FC236}">
                <a16:creationId xmlns:a16="http://schemas.microsoft.com/office/drawing/2014/main" id="{3D37B0FA-01DF-7BF9-7F30-BECD214561E3}"/>
              </a:ext>
            </a:extLst>
          </p:cNvPr>
          <p:cNvGrpSpPr/>
          <p:nvPr/>
        </p:nvGrpSpPr>
        <p:grpSpPr>
          <a:xfrm>
            <a:off x="-1748459" y="508418"/>
            <a:ext cx="3144637" cy="520282"/>
            <a:chOff x="0" y="0"/>
            <a:chExt cx="1250766" cy="206940"/>
          </a:xfrm>
        </p:grpSpPr>
        <p:sp>
          <p:nvSpPr>
            <p:cNvPr id="27" name="Freeform 16">
              <a:extLst>
                <a:ext uri="{FF2B5EF4-FFF2-40B4-BE49-F238E27FC236}">
                  <a16:creationId xmlns:a16="http://schemas.microsoft.com/office/drawing/2014/main" id="{1E7D7B02-D6D9-36F9-F11F-EC6C31452352}"/>
                </a:ext>
              </a:extLst>
            </p:cNvPr>
            <p:cNvSpPr/>
            <p:nvPr/>
          </p:nvSpPr>
          <p:spPr>
            <a:xfrm>
              <a:off x="13485" y="0"/>
              <a:ext cx="1223797" cy="206940"/>
            </a:xfrm>
            <a:custGeom>
              <a:avLst/>
              <a:gdLst/>
              <a:ahLst/>
              <a:cxnLst/>
              <a:rect l="l" t="t" r="r" b="b"/>
              <a:pathLst>
                <a:path w="1223797" h="206940">
                  <a:moveTo>
                    <a:pt x="214334" y="0"/>
                  </a:moveTo>
                  <a:lnTo>
                    <a:pt x="1212662" y="0"/>
                  </a:lnTo>
                  <a:cubicBezTo>
                    <a:pt x="1216822" y="0"/>
                    <a:pt x="1220577" y="2496"/>
                    <a:pt x="1222187" y="6333"/>
                  </a:cubicBezTo>
                  <a:cubicBezTo>
                    <a:pt x="1223796" y="10170"/>
                    <a:pt x="1222947" y="14598"/>
                    <a:pt x="1220032" y="17567"/>
                  </a:cubicBezTo>
                  <a:lnTo>
                    <a:pt x="1051330" y="189373"/>
                  </a:lnTo>
                  <a:cubicBezTo>
                    <a:pt x="1040297" y="200610"/>
                    <a:pt x="1025210" y="206940"/>
                    <a:pt x="1009462" y="206940"/>
                  </a:cubicBezTo>
                  <a:lnTo>
                    <a:pt x="11134" y="206940"/>
                  </a:lnTo>
                  <a:cubicBezTo>
                    <a:pt x="6974" y="206940"/>
                    <a:pt x="3219" y="204444"/>
                    <a:pt x="1609" y="200607"/>
                  </a:cubicBezTo>
                  <a:cubicBezTo>
                    <a:pt x="0" y="196770"/>
                    <a:pt x="849" y="192342"/>
                    <a:pt x="3764" y="189373"/>
                  </a:cubicBezTo>
                  <a:lnTo>
                    <a:pt x="172466" y="17567"/>
                  </a:lnTo>
                  <a:cubicBezTo>
                    <a:pt x="183499" y="6330"/>
                    <a:pt x="198586" y="0"/>
                    <a:pt x="214334" y="0"/>
                  </a:cubicBezTo>
                  <a:close/>
                </a:path>
              </a:pathLst>
            </a:custGeom>
            <a:solidFill>
              <a:srgbClr val="64CAF4"/>
            </a:solidFill>
          </p:spPr>
        </p:sp>
        <p:sp>
          <p:nvSpPr>
            <p:cNvPr id="28" name="TextBox 17">
              <a:extLst>
                <a:ext uri="{FF2B5EF4-FFF2-40B4-BE49-F238E27FC236}">
                  <a16:creationId xmlns:a16="http://schemas.microsoft.com/office/drawing/2014/main" id="{AD7C1BF2-4DE9-9CC7-870E-860B5A03F1E6}"/>
                </a:ext>
              </a:extLst>
            </p:cNvPr>
            <p:cNvSpPr txBox="1"/>
            <p:nvPr/>
          </p:nvSpPr>
          <p:spPr>
            <a:xfrm>
              <a:off x="101600" y="19050"/>
              <a:ext cx="1047566" cy="187890"/>
            </a:xfrm>
            <a:prstGeom prst="rect">
              <a:avLst/>
            </a:prstGeom>
          </p:spPr>
          <p:txBody>
            <a:bodyPr lIns="83282" tIns="83282" rIns="83282" bIns="83282" rtlCol="0" anchor="ctr"/>
            <a:lstStyle/>
            <a:p>
              <a:pPr algn="ctr">
                <a:lnSpc>
                  <a:spcPts val="1993"/>
                </a:lnSpc>
              </a:pPr>
              <a:endParaRPr/>
            </a:p>
          </p:txBody>
        </p:sp>
      </p:grpSp>
      <p:grpSp>
        <p:nvGrpSpPr>
          <p:cNvPr id="29" name="Group 18">
            <a:extLst>
              <a:ext uri="{FF2B5EF4-FFF2-40B4-BE49-F238E27FC236}">
                <a16:creationId xmlns:a16="http://schemas.microsoft.com/office/drawing/2014/main" id="{76FE73DB-23D1-8E0A-56EF-33F16C19F7F8}"/>
              </a:ext>
            </a:extLst>
          </p:cNvPr>
          <p:cNvGrpSpPr/>
          <p:nvPr/>
        </p:nvGrpSpPr>
        <p:grpSpPr>
          <a:xfrm>
            <a:off x="14410002" y="-369454"/>
            <a:ext cx="7009358" cy="1138013"/>
            <a:chOff x="0" y="0"/>
            <a:chExt cx="812800" cy="131963"/>
          </a:xfrm>
        </p:grpSpPr>
        <p:sp>
          <p:nvSpPr>
            <p:cNvPr id="30" name="Freeform 19">
              <a:extLst>
                <a:ext uri="{FF2B5EF4-FFF2-40B4-BE49-F238E27FC236}">
                  <a16:creationId xmlns:a16="http://schemas.microsoft.com/office/drawing/2014/main" id="{0655BD0E-EA01-D4D9-AD66-1C0120F89CFA}"/>
                </a:ext>
              </a:extLst>
            </p:cNvPr>
            <p:cNvSpPr/>
            <p:nvPr/>
          </p:nvSpPr>
          <p:spPr>
            <a:xfrm>
              <a:off x="14243" y="0"/>
              <a:ext cx="784313" cy="131963"/>
            </a:xfrm>
            <a:custGeom>
              <a:avLst/>
              <a:gdLst/>
              <a:ahLst/>
              <a:cxnLst/>
              <a:rect l="l" t="t" r="r" b="b"/>
              <a:pathLst>
                <a:path w="784313" h="131963">
                  <a:moveTo>
                    <a:pt x="574371" y="0"/>
                  </a:moveTo>
                  <a:lnTo>
                    <a:pt x="6743" y="0"/>
                  </a:lnTo>
                  <a:cubicBezTo>
                    <a:pt x="3990" y="0"/>
                    <a:pt x="1564" y="1811"/>
                    <a:pt x="782" y="4451"/>
                  </a:cubicBezTo>
                  <a:cubicBezTo>
                    <a:pt x="0" y="7091"/>
                    <a:pt x="1048" y="9930"/>
                    <a:pt x="3357" y="11430"/>
                  </a:cubicBezTo>
                  <a:lnTo>
                    <a:pt x="171357" y="120533"/>
                  </a:lnTo>
                  <a:cubicBezTo>
                    <a:pt x="182844" y="127993"/>
                    <a:pt x="196246" y="131963"/>
                    <a:pt x="209943" y="131963"/>
                  </a:cubicBezTo>
                  <a:lnTo>
                    <a:pt x="777571" y="131963"/>
                  </a:lnTo>
                  <a:cubicBezTo>
                    <a:pt x="780324" y="131963"/>
                    <a:pt x="782750" y="130152"/>
                    <a:pt x="783532" y="127512"/>
                  </a:cubicBezTo>
                  <a:cubicBezTo>
                    <a:pt x="784314" y="124873"/>
                    <a:pt x="783266" y="122033"/>
                    <a:pt x="780957" y="120533"/>
                  </a:cubicBezTo>
                  <a:lnTo>
                    <a:pt x="612957" y="11430"/>
                  </a:lnTo>
                  <a:cubicBezTo>
                    <a:pt x="601470" y="3970"/>
                    <a:pt x="588068" y="0"/>
                    <a:pt x="574371" y="0"/>
                  </a:cubicBezTo>
                  <a:close/>
                </a:path>
              </a:pathLst>
            </a:custGeom>
            <a:solidFill>
              <a:srgbClr val="3275C5"/>
            </a:solidFill>
          </p:spPr>
        </p:sp>
        <p:sp>
          <p:nvSpPr>
            <p:cNvPr id="31" name="TextBox 20">
              <a:extLst>
                <a:ext uri="{FF2B5EF4-FFF2-40B4-BE49-F238E27FC236}">
                  <a16:creationId xmlns:a16="http://schemas.microsoft.com/office/drawing/2014/main" id="{05A923B7-7E5A-34E1-CB20-86962AB8F224}"/>
                </a:ext>
              </a:extLst>
            </p:cNvPr>
            <p:cNvSpPr txBox="1"/>
            <p:nvPr/>
          </p:nvSpPr>
          <p:spPr>
            <a:xfrm>
              <a:off x="101600" y="19050"/>
              <a:ext cx="609600" cy="112913"/>
            </a:xfrm>
            <a:prstGeom prst="rect">
              <a:avLst/>
            </a:prstGeom>
          </p:spPr>
          <p:txBody>
            <a:bodyPr lIns="83282" tIns="83282" rIns="83282" bIns="83282" rtlCol="0" anchor="ctr"/>
            <a:lstStyle/>
            <a:p>
              <a:pPr algn="ctr">
                <a:lnSpc>
                  <a:spcPts val="1993"/>
                </a:lnSpc>
              </a:pPr>
              <a:endParaRPr/>
            </a:p>
          </p:txBody>
        </p:sp>
      </p:grpSp>
      <p:grpSp>
        <p:nvGrpSpPr>
          <p:cNvPr id="32" name="Group 21">
            <a:extLst>
              <a:ext uri="{FF2B5EF4-FFF2-40B4-BE49-F238E27FC236}">
                <a16:creationId xmlns:a16="http://schemas.microsoft.com/office/drawing/2014/main" id="{F146CA73-9687-47F0-17DF-3DB05B8F0D2B}"/>
              </a:ext>
            </a:extLst>
          </p:cNvPr>
          <p:cNvGrpSpPr/>
          <p:nvPr/>
        </p:nvGrpSpPr>
        <p:grpSpPr>
          <a:xfrm>
            <a:off x="16629956" y="508418"/>
            <a:ext cx="3144637" cy="520282"/>
            <a:chOff x="0" y="0"/>
            <a:chExt cx="812800" cy="134478"/>
          </a:xfrm>
        </p:grpSpPr>
        <p:sp>
          <p:nvSpPr>
            <p:cNvPr id="33" name="Freeform 22">
              <a:extLst>
                <a:ext uri="{FF2B5EF4-FFF2-40B4-BE49-F238E27FC236}">
                  <a16:creationId xmlns:a16="http://schemas.microsoft.com/office/drawing/2014/main" id="{470A4DFC-5702-C27C-DD00-95E516749377}"/>
                </a:ext>
              </a:extLst>
            </p:cNvPr>
            <p:cNvSpPr/>
            <p:nvPr/>
          </p:nvSpPr>
          <p:spPr>
            <a:xfrm>
              <a:off x="26532" y="0"/>
              <a:ext cx="759735" cy="134478"/>
            </a:xfrm>
            <a:custGeom>
              <a:avLst/>
              <a:gdLst/>
              <a:ahLst/>
              <a:cxnLst/>
              <a:rect l="l" t="t" r="r" b="b"/>
              <a:pathLst>
                <a:path w="759735" h="134478">
                  <a:moveTo>
                    <a:pt x="543677" y="0"/>
                  </a:moveTo>
                  <a:lnTo>
                    <a:pt x="12859" y="0"/>
                  </a:lnTo>
                  <a:cubicBezTo>
                    <a:pt x="7628" y="0"/>
                    <a:pt x="3015" y="3429"/>
                    <a:pt x="1508" y="8438"/>
                  </a:cubicBezTo>
                  <a:cubicBezTo>
                    <a:pt x="0" y="13447"/>
                    <a:pt x="1955" y="18853"/>
                    <a:pt x="6317" y="21740"/>
                  </a:cubicBezTo>
                  <a:lnTo>
                    <a:pt x="143819" y="112739"/>
                  </a:lnTo>
                  <a:cubicBezTo>
                    <a:pt x="165244" y="126918"/>
                    <a:pt x="190367" y="134478"/>
                    <a:pt x="216059" y="134478"/>
                  </a:cubicBezTo>
                  <a:lnTo>
                    <a:pt x="746877" y="134478"/>
                  </a:lnTo>
                  <a:cubicBezTo>
                    <a:pt x="752108" y="134478"/>
                    <a:pt x="756721" y="131049"/>
                    <a:pt x="758228" y="126040"/>
                  </a:cubicBezTo>
                  <a:cubicBezTo>
                    <a:pt x="759736" y="121031"/>
                    <a:pt x="757781" y="115626"/>
                    <a:pt x="753419" y="112739"/>
                  </a:cubicBezTo>
                  <a:lnTo>
                    <a:pt x="615917" y="21740"/>
                  </a:lnTo>
                  <a:cubicBezTo>
                    <a:pt x="594492" y="7561"/>
                    <a:pt x="569369" y="0"/>
                    <a:pt x="543677" y="0"/>
                  </a:cubicBezTo>
                  <a:close/>
                </a:path>
              </a:pathLst>
            </a:custGeom>
            <a:solidFill>
              <a:srgbClr val="64CAF4"/>
            </a:solidFill>
          </p:spPr>
        </p:sp>
        <p:sp>
          <p:nvSpPr>
            <p:cNvPr id="34" name="TextBox 23">
              <a:extLst>
                <a:ext uri="{FF2B5EF4-FFF2-40B4-BE49-F238E27FC236}">
                  <a16:creationId xmlns:a16="http://schemas.microsoft.com/office/drawing/2014/main" id="{D8BEC405-64BB-DA3A-D201-133000514A7B}"/>
                </a:ext>
              </a:extLst>
            </p:cNvPr>
            <p:cNvSpPr txBox="1"/>
            <p:nvPr/>
          </p:nvSpPr>
          <p:spPr>
            <a:xfrm>
              <a:off x="101600" y="19050"/>
              <a:ext cx="609600" cy="115428"/>
            </a:xfrm>
            <a:prstGeom prst="rect">
              <a:avLst/>
            </a:prstGeom>
          </p:spPr>
          <p:txBody>
            <a:bodyPr lIns="83282" tIns="83282" rIns="83282" bIns="83282" rtlCol="0" anchor="ctr"/>
            <a:lstStyle/>
            <a:p>
              <a:pPr algn="ctr">
                <a:lnSpc>
                  <a:spcPts val="1993"/>
                </a:lnSpc>
              </a:pPr>
              <a:endParaRPr/>
            </a:p>
          </p:txBody>
        </p:sp>
      </p:grpSp>
    </p:spTree>
    <p:extLst>
      <p:ext uri="{BB962C8B-B14F-4D97-AF65-F5344CB8AC3E}">
        <p14:creationId xmlns:p14="http://schemas.microsoft.com/office/powerpoint/2010/main" val="3853499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par>
                                <p:cTn id="27" presetID="10"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50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500"/>
                                        <p:tgtEl>
                                          <p:spTgt spid="2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500"/>
                                        <p:tgtEl>
                                          <p:spTgt spid="2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500"/>
                                        <p:tgtEl>
                                          <p:spTgt spid="2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500"/>
                                        <p:tgtEl>
                                          <p:spTgt spid="1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500"/>
                                        <p:tgtEl>
                                          <p:spTgt spid="2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500"/>
                                        <p:tgtEl>
                                          <p:spTgt spid="25"/>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14"/>
                                        </p:tgtEl>
                                        <p:attrNameLst>
                                          <p:attrName>style.visibility</p:attrName>
                                        </p:attrNameLst>
                                      </p:cBhvr>
                                      <p:to>
                                        <p:strVal val="visible"/>
                                      </p:to>
                                    </p:set>
                                    <p:animEffect transition="in" filter="fade">
                                      <p:cBhvr>
                                        <p:cTn id="68" dur="500"/>
                                        <p:tgtEl>
                                          <p:spTgt spid="1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17"/>
                                        </p:tgtEl>
                                        <p:attrNameLst>
                                          <p:attrName>style.visibility</p:attrName>
                                        </p:attrNameLst>
                                      </p:cBhvr>
                                      <p:to>
                                        <p:strVal val="visible"/>
                                      </p:to>
                                    </p:set>
                                    <p:animEffect transition="in" filter="fade">
                                      <p:cBhvr>
                                        <p:cTn id="7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6" grpId="0" animBg="1"/>
      <p:bldP spid="8" grpId="0" animBg="1"/>
      <p:bldP spid="7" grpId="0" animBg="1"/>
      <p:bldP spid="11" grpId="0"/>
      <p:bldP spid="13" grpId="0"/>
      <p:bldP spid="15" grpId="0" animBg="1"/>
      <p:bldP spid="16" grpId="0" animBg="1"/>
      <p:bldP spid="14" grpId="0" animBg="1"/>
      <p:bldP spid="18" grpId="0" animBg="1"/>
      <p:bldP spid="17" grpId="0" animBg="1"/>
      <p:bldP spid="20" grpId="0" animBg="1"/>
      <p:bldP spid="21" grpId="0" animBg="1"/>
      <p:bldP spid="22" grpId="0" animBg="1"/>
      <p:bldP spid="19" grpId="0" animBg="1"/>
      <p:bldP spid="23" grpId="0" animBg="1"/>
      <p:bldP spid="2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5" name="Freeform 5"/>
          <p:cNvSpPr/>
          <p:nvPr/>
        </p:nvSpPr>
        <p:spPr>
          <a:xfrm>
            <a:off x="3002783" y="4420667"/>
            <a:ext cx="1281730" cy="1223470"/>
          </a:xfrm>
          <a:custGeom>
            <a:avLst/>
            <a:gdLst/>
            <a:ahLst/>
            <a:cxnLst/>
            <a:rect l="l" t="t" r="r" b="b"/>
            <a:pathLst>
              <a:path w="1281730" h="1223470">
                <a:moveTo>
                  <a:pt x="0" y="0"/>
                </a:moveTo>
                <a:lnTo>
                  <a:pt x="1281731" y="0"/>
                </a:lnTo>
                <a:lnTo>
                  <a:pt x="1281731" y="1223470"/>
                </a:lnTo>
                <a:lnTo>
                  <a:pt x="0" y="12234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8489971" y="3543112"/>
            <a:ext cx="1251359" cy="1251359"/>
          </a:xfrm>
          <a:custGeom>
            <a:avLst/>
            <a:gdLst/>
            <a:ahLst/>
            <a:cxnLst/>
            <a:rect l="l" t="t" r="r" b="b"/>
            <a:pathLst>
              <a:path w="1251359" h="1251359">
                <a:moveTo>
                  <a:pt x="0" y="0"/>
                </a:moveTo>
                <a:lnTo>
                  <a:pt x="1251360" y="0"/>
                </a:lnTo>
                <a:lnTo>
                  <a:pt x="1251360" y="1251359"/>
                </a:lnTo>
                <a:lnTo>
                  <a:pt x="0" y="125135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TextBox 9"/>
          <p:cNvSpPr txBox="1"/>
          <p:nvPr/>
        </p:nvSpPr>
        <p:spPr>
          <a:xfrm>
            <a:off x="3763697" y="617823"/>
            <a:ext cx="10760605" cy="1313758"/>
          </a:xfrm>
          <a:prstGeom prst="rect">
            <a:avLst/>
          </a:prstGeom>
        </p:spPr>
        <p:txBody>
          <a:bodyPr lIns="0" tIns="0" rIns="0" bIns="0" rtlCol="0" anchor="t">
            <a:spAutoFit/>
          </a:bodyPr>
          <a:lstStyle/>
          <a:p>
            <a:pPr algn="ctr">
              <a:lnSpc>
                <a:spcPts val="11200"/>
              </a:lnSpc>
            </a:pPr>
            <a:r>
              <a:rPr lang="ar-EG" sz="7200" b="1" u="sng" dirty="0">
                <a:solidFill>
                  <a:srgbClr val="56AAF0"/>
                </a:solidFill>
                <a:latin typeface="Dynamo"/>
              </a:rPr>
              <a:t>اهداف المشروع</a:t>
            </a:r>
            <a:endParaRPr lang="en-US" sz="7200" b="1" u="sng" dirty="0">
              <a:solidFill>
                <a:srgbClr val="56AAF0"/>
              </a:solidFill>
              <a:latin typeface="Dynamo"/>
            </a:endParaRPr>
          </a:p>
        </p:txBody>
      </p:sp>
      <p:grpSp>
        <p:nvGrpSpPr>
          <p:cNvPr id="12" name="Group 12"/>
          <p:cNvGrpSpPr/>
          <p:nvPr/>
        </p:nvGrpSpPr>
        <p:grpSpPr>
          <a:xfrm>
            <a:off x="-4006574" y="-369454"/>
            <a:ext cx="7009358" cy="1159703"/>
            <a:chOff x="0" y="0"/>
            <a:chExt cx="1250766" cy="206940"/>
          </a:xfrm>
        </p:grpSpPr>
        <p:sp>
          <p:nvSpPr>
            <p:cNvPr id="13" name="Freeform 13"/>
            <p:cNvSpPr/>
            <p:nvPr/>
          </p:nvSpPr>
          <p:spPr>
            <a:xfrm>
              <a:off x="11494" y="0"/>
              <a:ext cx="1227777" cy="206940"/>
            </a:xfrm>
            <a:custGeom>
              <a:avLst/>
              <a:gdLst/>
              <a:ahLst/>
              <a:cxnLst/>
              <a:rect l="l" t="t" r="r" b="b"/>
              <a:pathLst>
                <a:path w="1227777" h="206940">
                  <a:moveTo>
                    <a:pt x="212692" y="0"/>
                  </a:moveTo>
                  <a:lnTo>
                    <a:pt x="1218286" y="0"/>
                  </a:lnTo>
                  <a:cubicBezTo>
                    <a:pt x="1221833" y="0"/>
                    <a:pt x="1225033" y="2128"/>
                    <a:pt x="1226405" y="5398"/>
                  </a:cubicBezTo>
                  <a:cubicBezTo>
                    <a:pt x="1227778" y="8669"/>
                    <a:pt x="1227054" y="12443"/>
                    <a:pt x="1224569" y="14974"/>
                  </a:cubicBezTo>
                  <a:lnTo>
                    <a:pt x="1050775" y="191966"/>
                  </a:lnTo>
                  <a:cubicBezTo>
                    <a:pt x="1041370" y="201544"/>
                    <a:pt x="1028510" y="206940"/>
                    <a:pt x="1015086" y="206940"/>
                  </a:cubicBezTo>
                  <a:lnTo>
                    <a:pt x="9492" y="206940"/>
                  </a:lnTo>
                  <a:cubicBezTo>
                    <a:pt x="5945" y="206940"/>
                    <a:pt x="2745" y="204812"/>
                    <a:pt x="1373" y="201542"/>
                  </a:cubicBezTo>
                  <a:cubicBezTo>
                    <a:pt x="0" y="198271"/>
                    <a:pt x="724" y="194497"/>
                    <a:pt x="3209" y="191966"/>
                  </a:cubicBezTo>
                  <a:lnTo>
                    <a:pt x="177003" y="14974"/>
                  </a:lnTo>
                  <a:cubicBezTo>
                    <a:pt x="186408" y="5396"/>
                    <a:pt x="199268" y="0"/>
                    <a:pt x="212692" y="0"/>
                  </a:cubicBezTo>
                  <a:close/>
                </a:path>
              </a:pathLst>
            </a:custGeom>
            <a:solidFill>
              <a:srgbClr val="3275C5"/>
            </a:solidFill>
          </p:spPr>
        </p:sp>
        <p:sp>
          <p:nvSpPr>
            <p:cNvPr id="14" name="TextBox 14"/>
            <p:cNvSpPr txBox="1"/>
            <p:nvPr/>
          </p:nvSpPr>
          <p:spPr>
            <a:xfrm>
              <a:off x="101600" y="19050"/>
              <a:ext cx="1047566" cy="187890"/>
            </a:xfrm>
            <a:prstGeom prst="rect">
              <a:avLst/>
            </a:prstGeom>
          </p:spPr>
          <p:txBody>
            <a:bodyPr lIns="83282" tIns="83282" rIns="83282" bIns="83282" rtlCol="0" anchor="ctr"/>
            <a:lstStyle/>
            <a:p>
              <a:pPr algn="ctr">
                <a:lnSpc>
                  <a:spcPts val="1993"/>
                </a:lnSpc>
              </a:pPr>
              <a:endParaRPr/>
            </a:p>
          </p:txBody>
        </p:sp>
      </p:grpSp>
      <p:grpSp>
        <p:nvGrpSpPr>
          <p:cNvPr id="15" name="Group 15"/>
          <p:cNvGrpSpPr/>
          <p:nvPr/>
        </p:nvGrpSpPr>
        <p:grpSpPr>
          <a:xfrm>
            <a:off x="-1748459" y="508418"/>
            <a:ext cx="3144637" cy="520282"/>
            <a:chOff x="0" y="0"/>
            <a:chExt cx="1250766" cy="206940"/>
          </a:xfrm>
        </p:grpSpPr>
        <p:sp>
          <p:nvSpPr>
            <p:cNvPr id="16" name="Freeform 16"/>
            <p:cNvSpPr/>
            <p:nvPr/>
          </p:nvSpPr>
          <p:spPr>
            <a:xfrm>
              <a:off x="13485" y="0"/>
              <a:ext cx="1223797" cy="206940"/>
            </a:xfrm>
            <a:custGeom>
              <a:avLst/>
              <a:gdLst/>
              <a:ahLst/>
              <a:cxnLst/>
              <a:rect l="l" t="t" r="r" b="b"/>
              <a:pathLst>
                <a:path w="1223797" h="206940">
                  <a:moveTo>
                    <a:pt x="214334" y="0"/>
                  </a:moveTo>
                  <a:lnTo>
                    <a:pt x="1212662" y="0"/>
                  </a:lnTo>
                  <a:cubicBezTo>
                    <a:pt x="1216822" y="0"/>
                    <a:pt x="1220577" y="2496"/>
                    <a:pt x="1222187" y="6333"/>
                  </a:cubicBezTo>
                  <a:cubicBezTo>
                    <a:pt x="1223796" y="10170"/>
                    <a:pt x="1222947" y="14598"/>
                    <a:pt x="1220032" y="17567"/>
                  </a:cubicBezTo>
                  <a:lnTo>
                    <a:pt x="1051330" y="189373"/>
                  </a:lnTo>
                  <a:cubicBezTo>
                    <a:pt x="1040297" y="200610"/>
                    <a:pt x="1025210" y="206940"/>
                    <a:pt x="1009462" y="206940"/>
                  </a:cubicBezTo>
                  <a:lnTo>
                    <a:pt x="11134" y="206940"/>
                  </a:lnTo>
                  <a:cubicBezTo>
                    <a:pt x="6974" y="206940"/>
                    <a:pt x="3219" y="204444"/>
                    <a:pt x="1609" y="200607"/>
                  </a:cubicBezTo>
                  <a:cubicBezTo>
                    <a:pt x="0" y="196770"/>
                    <a:pt x="849" y="192342"/>
                    <a:pt x="3764" y="189373"/>
                  </a:cubicBezTo>
                  <a:lnTo>
                    <a:pt x="172466" y="17567"/>
                  </a:lnTo>
                  <a:cubicBezTo>
                    <a:pt x="183499" y="6330"/>
                    <a:pt x="198586" y="0"/>
                    <a:pt x="214334" y="0"/>
                  </a:cubicBezTo>
                  <a:close/>
                </a:path>
              </a:pathLst>
            </a:custGeom>
            <a:solidFill>
              <a:srgbClr val="64CAF4"/>
            </a:solidFill>
          </p:spPr>
        </p:sp>
        <p:sp>
          <p:nvSpPr>
            <p:cNvPr id="17" name="TextBox 17"/>
            <p:cNvSpPr txBox="1"/>
            <p:nvPr/>
          </p:nvSpPr>
          <p:spPr>
            <a:xfrm>
              <a:off x="101600" y="19050"/>
              <a:ext cx="1047566" cy="187890"/>
            </a:xfrm>
            <a:prstGeom prst="rect">
              <a:avLst/>
            </a:prstGeom>
          </p:spPr>
          <p:txBody>
            <a:bodyPr lIns="83282" tIns="83282" rIns="83282" bIns="83282" rtlCol="0" anchor="ctr"/>
            <a:lstStyle/>
            <a:p>
              <a:pPr algn="ctr">
                <a:lnSpc>
                  <a:spcPts val="1993"/>
                </a:lnSpc>
              </a:pPr>
              <a:endParaRPr/>
            </a:p>
          </p:txBody>
        </p:sp>
      </p:grpSp>
      <p:grpSp>
        <p:nvGrpSpPr>
          <p:cNvPr id="18" name="Group 18"/>
          <p:cNvGrpSpPr/>
          <p:nvPr/>
        </p:nvGrpSpPr>
        <p:grpSpPr>
          <a:xfrm>
            <a:off x="14410002" y="-369454"/>
            <a:ext cx="7009358" cy="1138013"/>
            <a:chOff x="0" y="0"/>
            <a:chExt cx="812800" cy="131963"/>
          </a:xfrm>
        </p:grpSpPr>
        <p:sp>
          <p:nvSpPr>
            <p:cNvPr id="19" name="Freeform 19"/>
            <p:cNvSpPr/>
            <p:nvPr/>
          </p:nvSpPr>
          <p:spPr>
            <a:xfrm>
              <a:off x="14243" y="0"/>
              <a:ext cx="784313" cy="131963"/>
            </a:xfrm>
            <a:custGeom>
              <a:avLst/>
              <a:gdLst/>
              <a:ahLst/>
              <a:cxnLst/>
              <a:rect l="l" t="t" r="r" b="b"/>
              <a:pathLst>
                <a:path w="784313" h="131963">
                  <a:moveTo>
                    <a:pt x="574371" y="0"/>
                  </a:moveTo>
                  <a:lnTo>
                    <a:pt x="6743" y="0"/>
                  </a:lnTo>
                  <a:cubicBezTo>
                    <a:pt x="3990" y="0"/>
                    <a:pt x="1564" y="1811"/>
                    <a:pt x="782" y="4451"/>
                  </a:cubicBezTo>
                  <a:cubicBezTo>
                    <a:pt x="0" y="7091"/>
                    <a:pt x="1048" y="9930"/>
                    <a:pt x="3357" y="11430"/>
                  </a:cubicBezTo>
                  <a:lnTo>
                    <a:pt x="171357" y="120533"/>
                  </a:lnTo>
                  <a:cubicBezTo>
                    <a:pt x="182844" y="127993"/>
                    <a:pt x="196246" y="131963"/>
                    <a:pt x="209943" y="131963"/>
                  </a:cubicBezTo>
                  <a:lnTo>
                    <a:pt x="777571" y="131963"/>
                  </a:lnTo>
                  <a:cubicBezTo>
                    <a:pt x="780324" y="131963"/>
                    <a:pt x="782750" y="130152"/>
                    <a:pt x="783532" y="127512"/>
                  </a:cubicBezTo>
                  <a:cubicBezTo>
                    <a:pt x="784314" y="124873"/>
                    <a:pt x="783266" y="122033"/>
                    <a:pt x="780957" y="120533"/>
                  </a:cubicBezTo>
                  <a:lnTo>
                    <a:pt x="612957" y="11430"/>
                  </a:lnTo>
                  <a:cubicBezTo>
                    <a:pt x="601470" y="3970"/>
                    <a:pt x="588068" y="0"/>
                    <a:pt x="574371" y="0"/>
                  </a:cubicBezTo>
                  <a:close/>
                </a:path>
              </a:pathLst>
            </a:custGeom>
            <a:solidFill>
              <a:srgbClr val="3275C5"/>
            </a:solidFill>
          </p:spPr>
        </p:sp>
        <p:sp>
          <p:nvSpPr>
            <p:cNvPr id="20" name="TextBox 20"/>
            <p:cNvSpPr txBox="1"/>
            <p:nvPr/>
          </p:nvSpPr>
          <p:spPr>
            <a:xfrm>
              <a:off x="101600" y="19050"/>
              <a:ext cx="609600" cy="112913"/>
            </a:xfrm>
            <a:prstGeom prst="rect">
              <a:avLst/>
            </a:prstGeom>
          </p:spPr>
          <p:txBody>
            <a:bodyPr lIns="83282" tIns="83282" rIns="83282" bIns="83282" rtlCol="0" anchor="ctr"/>
            <a:lstStyle/>
            <a:p>
              <a:pPr algn="ctr">
                <a:lnSpc>
                  <a:spcPts val="1993"/>
                </a:lnSpc>
              </a:pPr>
              <a:endParaRPr/>
            </a:p>
          </p:txBody>
        </p:sp>
      </p:grpSp>
      <p:grpSp>
        <p:nvGrpSpPr>
          <p:cNvPr id="21" name="Group 21"/>
          <p:cNvGrpSpPr/>
          <p:nvPr/>
        </p:nvGrpSpPr>
        <p:grpSpPr>
          <a:xfrm>
            <a:off x="16629956" y="508418"/>
            <a:ext cx="3144637" cy="520282"/>
            <a:chOff x="0" y="0"/>
            <a:chExt cx="812800" cy="134478"/>
          </a:xfrm>
        </p:grpSpPr>
        <p:sp>
          <p:nvSpPr>
            <p:cNvPr id="22" name="Freeform 22"/>
            <p:cNvSpPr/>
            <p:nvPr/>
          </p:nvSpPr>
          <p:spPr>
            <a:xfrm>
              <a:off x="26532" y="0"/>
              <a:ext cx="759735" cy="134478"/>
            </a:xfrm>
            <a:custGeom>
              <a:avLst/>
              <a:gdLst/>
              <a:ahLst/>
              <a:cxnLst/>
              <a:rect l="l" t="t" r="r" b="b"/>
              <a:pathLst>
                <a:path w="759735" h="134478">
                  <a:moveTo>
                    <a:pt x="543677" y="0"/>
                  </a:moveTo>
                  <a:lnTo>
                    <a:pt x="12859" y="0"/>
                  </a:lnTo>
                  <a:cubicBezTo>
                    <a:pt x="7628" y="0"/>
                    <a:pt x="3015" y="3429"/>
                    <a:pt x="1508" y="8438"/>
                  </a:cubicBezTo>
                  <a:cubicBezTo>
                    <a:pt x="0" y="13447"/>
                    <a:pt x="1955" y="18853"/>
                    <a:pt x="6317" y="21740"/>
                  </a:cubicBezTo>
                  <a:lnTo>
                    <a:pt x="143819" y="112739"/>
                  </a:lnTo>
                  <a:cubicBezTo>
                    <a:pt x="165244" y="126918"/>
                    <a:pt x="190367" y="134478"/>
                    <a:pt x="216059" y="134478"/>
                  </a:cubicBezTo>
                  <a:lnTo>
                    <a:pt x="746877" y="134478"/>
                  </a:lnTo>
                  <a:cubicBezTo>
                    <a:pt x="752108" y="134478"/>
                    <a:pt x="756721" y="131049"/>
                    <a:pt x="758228" y="126040"/>
                  </a:cubicBezTo>
                  <a:cubicBezTo>
                    <a:pt x="759736" y="121031"/>
                    <a:pt x="757781" y="115626"/>
                    <a:pt x="753419" y="112739"/>
                  </a:cubicBezTo>
                  <a:lnTo>
                    <a:pt x="615917" y="21740"/>
                  </a:lnTo>
                  <a:cubicBezTo>
                    <a:pt x="594492" y="7561"/>
                    <a:pt x="569369" y="0"/>
                    <a:pt x="543677" y="0"/>
                  </a:cubicBezTo>
                  <a:close/>
                </a:path>
              </a:pathLst>
            </a:custGeom>
            <a:solidFill>
              <a:srgbClr val="64CAF4"/>
            </a:solidFill>
          </p:spPr>
        </p:sp>
        <p:sp>
          <p:nvSpPr>
            <p:cNvPr id="23" name="TextBox 23"/>
            <p:cNvSpPr txBox="1"/>
            <p:nvPr/>
          </p:nvSpPr>
          <p:spPr>
            <a:xfrm>
              <a:off x="101600" y="19050"/>
              <a:ext cx="609600" cy="115428"/>
            </a:xfrm>
            <a:prstGeom prst="rect">
              <a:avLst/>
            </a:prstGeom>
          </p:spPr>
          <p:txBody>
            <a:bodyPr lIns="83282" tIns="83282" rIns="83282" bIns="83282" rtlCol="0" anchor="ctr"/>
            <a:lstStyle/>
            <a:p>
              <a:pPr algn="ctr">
                <a:lnSpc>
                  <a:spcPts val="1993"/>
                </a:lnSpc>
              </a:pPr>
              <a:endParaRPr/>
            </a:p>
          </p:txBody>
        </p:sp>
      </p:grpSp>
      <p:sp>
        <p:nvSpPr>
          <p:cNvPr id="24" name="TextBox 23">
            <a:extLst>
              <a:ext uri="{FF2B5EF4-FFF2-40B4-BE49-F238E27FC236}">
                <a16:creationId xmlns:a16="http://schemas.microsoft.com/office/drawing/2014/main" id="{8BFCE6F3-EC91-201A-E0B1-59FFA62D5DFE}"/>
              </a:ext>
            </a:extLst>
          </p:cNvPr>
          <p:cNvSpPr txBox="1"/>
          <p:nvPr/>
        </p:nvSpPr>
        <p:spPr>
          <a:xfrm>
            <a:off x="990600" y="2247900"/>
            <a:ext cx="15882296" cy="6637651"/>
          </a:xfrm>
          <a:prstGeom prst="rect">
            <a:avLst/>
          </a:prstGeom>
          <a:noFill/>
        </p:spPr>
        <p:txBody>
          <a:bodyPr wrap="square" rtlCol="0">
            <a:spAutoFit/>
          </a:bodyPr>
          <a:lstStyle/>
          <a:p>
            <a:pPr marL="571500" indent="-571500" algn="r" rtl="1">
              <a:lnSpc>
                <a:spcPct val="150000"/>
              </a:lnSpc>
              <a:buFont typeface="Arial" panose="020B0604020202020204" pitchFamily="34" charset="0"/>
              <a:buChar char="•"/>
            </a:pPr>
            <a:r>
              <a:rPr lang="ar-SA" sz="3600" b="1" spc="11" dirty="0">
                <a:solidFill>
                  <a:srgbClr val="3275C5"/>
                </a:solidFill>
                <a:latin typeface="Source Sans Pro"/>
              </a:rPr>
              <a:t>تطوير تقنيات وانظمة لتحسين سلامة حركة القطارات عند طريق تحديد العوائق المحتملة في المسار </a:t>
            </a:r>
            <a:endParaRPr lang="ar-EG" sz="3600" b="1" spc="11" dirty="0">
              <a:solidFill>
                <a:srgbClr val="3275C5"/>
              </a:solidFill>
              <a:latin typeface="Source Sans Pro"/>
            </a:endParaRPr>
          </a:p>
          <a:p>
            <a:pPr marL="571500" indent="-571500" algn="r" rtl="1">
              <a:lnSpc>
                <a:spcPct val="150000"/>
              </a:lnSpc>
              <a:buFont typeface="Arial" panose="020B0604020202020204" pitchFamily="34" charset="0"/>
              <a:buChar char="•"/>
            </a:pPr>
            <a:r>
              <a:rPr lang="ar-SA" sz="3600" b="1" spc="11" dirty="0">
                <a:solidFill>
                  <a:srgbClr val="3275C5"/>
                </a:solidFill>
                <a:latin typeface="Source Sans Pro"/>
              </a:rPr>
              <a:t>تحسين كفاءة السكة الحديد وتقليل التأثيرات السلبية للعوائق الامامية على جدول الرحلات والإنتاجية</a:t>
            </a:r>
            <a:endParaRPr lang="ar-EG" sz="3600" b="1" spc="11" dirty="0">
              <a:solidFill>
                <a:srgbClr val="3275C5"/>
              </a:solidFill>
              <a:latin typeface="Source Sans Pro"/>
            </a:endParaRPr>
          </a:p>
          <a:p>
            <a:pPr marL="571500" indent="-571500" algn="r" rtl="1">
              <a:lnSpc>
                <a:spcPct val="150000"/>
              </a:lnSpc>
              <a:buFont typeface="Arial" panose="020B0604020202020204" pitchFamily="34" charset="0"/>
              <a:buChar char="•"/>
            </a:pPr>
            <a:r>
              <a:rPr lang="ar-SA" sz="3600" b="1" spc="11" dirty="0">
                <a:solidFill>
                  <a:srgbClr val="3275C5"/>
                </a:solidFill>
                <a:latin typeface="Source Sans Pro"/>
              </a:rPr>
              <a:t>تقليل تكاليف الصيانة والاصلاح الناتجة عن حوادث القطارات </a:t>
            </a:r>
            <a:endParaRPr lang="ar-EG" sz="3600" b="1" spc="11" dirty="0">
              <a:solidFill>
                <a:srgbClr val="3275C5"/>
              </a:solidFill>
              <a:latin typeface="Source Sans Pro"/>
            </a:endParaRPr>
          </a:p>
          <a:p>
            <a:pPr marL="571500" indent="-571500" algn="r" rtl="1">
              <a:lnSpc>
                <a:spcPct val="150000"/>
              </a:lnSpc>
              <a:buFont typeface="Arial" panose="020B0604020202020204" pitchFamily="34" charset="0"/>
              <a:buChar char="•"/>
            </a:pPr>
            <a:r>
              <a:rPr lang="ar-EG" sz="3600" b="1" spc="11" dirty="0">
                <a:solidFill>
                  <a:srgbClr val="3275C5"/>
                </a:solidFill>
                <a:latin typeface="Source Sans Pro"/>
              </a:rPr>
              <a:t>ت</a:t>
            </a:r>
            <a:r>
              <a:rPr lang="ar-SA" sz="3600" b="1" spc="11" dirty="0">
                <a:solidFill>
                  <a:srgbClr val="3275C5"/>
                </a:solidFill>
                <a:latin typeface="Source Sans Pro"/>
              </a:rPr>
              <a:t>وفر موارد مالية ويعزز فعالية النظام </a:t>
            </a:r>
            <a:r>
              <a:rPr lang="ar-SA" sz="3600" b="1" spc="11" dirty="0" err="1">
                <a:solidFill>
                  <a:srgbClr val="3275C5"/>
                </a:solidFill>
                <a:latin typeface="Source Sans Pro"/>
              </a:rPr>
              <a:t>السككي</a:t>
            </a:r>
            <a:r>
              <a:rPr lang="ar-SA" sz="3600" b="1" spc="11" dirty="0">
                <a:solidFill>
                  <a:srgbClr val="3275C5"/>
                </a:solidFill>
                <a:latin typeface="Source Sans Pro"/>
              </a:rPr>
              <a:t> </a:t>
            </a:r>
            <a:endParaRPr lang="ar-EG" sz="3600" b="1" spc="11" dirty="0">
              <a:solidFill>
                <a:srgbClr val="3275C5"/>
              </a:solidFill>
              <a:latin typeface="Source Sans Pro"/>
            </a:endParaRPr>
          </a:p>
          <a:p>
            <a:pPr marL="571500" indent="-571500" algn="r" rtl="1">
              <a:lnSpc>
                <a:spcPct val="150000"/>
              </a:lnSpc>
              <a:buFont typeface="Arial" panose="020B0604020202020204" pitchFamily="34" charset="0"/>
              <a:buChar char="•"/>
            </a:pPr>
            <a:r>
              <a:rPr lang="ar-SA" sz="3600" b="1" spc="11" dirty="0">
                <a:solidFill>
                  <a:srgbClr val="3275C5"/>
                </a:solidFill>
                <a:latin typeface="Source Sans Pro"/>
              </a:rPr>
              <a:t>القدرة علي انقاذ عدد لا يحصي من</a:t>
            </a:r>
            <a:r>
              <a:rPr lang="ar-EG" sz="3600" b="1" spc="11" dirty="0">
                <a:solidFill>
                  <a:srgbClr val="3275C5"/>
                </a:solidFill>
                <a:latin typeface="Source Sans Pro"/>
              </a:rPr>
              <a:t> </a:t>
            </a:r>
            <a:r>
              <a:rPr lang="ar-SA" sz="3600" b="1" spc="11" dirty="0">
                <a:solidFill>
                  <a:srgbClr val="3275C5"/>
                </a:solidFill>
                <a:latin typeface="Source Sans Pro"/>
              </a:rPr>
              <a:t>الارواح وحماية البنية التحتية القيمة</a:t>
            </a:r>
            <a:endParaRPr lang="ar-EG" sz="3600" b="1" spc="11" dirty="0">
              <a:solidFill>
                <a:srgbClr val="3275C5"/>
              </a:solidFill>
              <a:latin typeface="Source Sans Pro"/>
            </a:endParaRPr>
          </a:p>
          <a:p>
            <a:pPr marL="571500" indent="-571500" algn="r" rtl="1">
              <a:lnSpc>
                <a:spcPct val="150000"/>
              </a:lnSpc>
              <a:buFont typeface="Arial" panose="020B0604020202020204" pitchFamily="34" charset="0"/>
              <a:buChar char="•"/>
            </a:pPr>
            <a:r>
              <a:rPr lang="ar-SA" sz="3600" b="1" spc="11" dirty="0">
                <a:solidFill>
                  <a:srgbClr val="3275C5"/>
                </a:solidFill>
                <a:latin typeface="Source Sans Pro"/>
              </a:rPr>
              <a:t>تعزيز السلامة العامة للمجتمع وتحسين جودة الحياة للمواطنين</a:t>
            </a:r>
            <a:endParaRPr lang="ar-EG" sz="3600" b="1" spc="11" dirty="0">
              <a:solidFill>
                <a:srgbClr val="3275C5"/>
              </a:solidFill>
              <a:latin typeface="Source Sans Pro"/>
            </a:endParaRPr>
          </a:p>
          <a:p>
            <a:pPr marL="571500" indent="-571500" algn="r" rtl="1">
              <a:lnSpc>
                <a:spcPct val="150000"/>
              </a:lnSpc>
              <a:buFont typeface="Arial" panose="020B0604020202020204" pitchFamily="34" charset="0"/>
              <a:buChar char="•"/>
            </a:pPr>
            <a:r>
              <a:rPr lang="ar-SA" sz="3600" b="1" spc="11" dirty="0">
                <a:solidFill>
                  <a:srgbClr val="3275C5"/>
                </a:solidFill>
                <a:latin typeface="Source Sans Pro"/>
              </a:rPr>
              <a:t>رفع مستوى الراحة النفسية والاستمتاع بالحياة اليومية دون قلق من</a:t>
            </a:r>
            <a:r>
              <a:rPr lang="ar-EG" sz="3600" b="1" spc="11" dirty="0">
                <a:solidFill>
                  <a:srgbClr val="3275C5"/>
                </a:solidFill>
                <a:latin typeface="Source Sans Pro"/>
              </a:rPr>
              <a:t> </a:t>
            </a:r>
            <a:r>
              <a:rPr lang="ar-SA" sz="3600" b="1" spc="11" dirty="0">
                <a:solidFill>
                  <a:srgbClr val="3275C5"/>
                </a:solidFill>
                <a:latin typeface="Source Sans Pro"/>
              </a:rPr>
              <a:t>حوادث النقل</a:t>
            </a:r>
            <a:endParaRPr lang="ar-EG" sz="3600" b="1" spc="11" dirty="0">
              <a:solidFill>
                <a:srgbClr val="3275C5"/>
              </a:solidFill>
              <a:latin typeface="Source Sans Pro"/>
            </a:endParaRPr>
          </a:p>
          <a:p>
            <a:pPr algn="r" rtl="1">
              <a:lnSpc>
                <a:spcPct val="150000"/>
              </a:lnSpc>
            </a:pPr>
            <a:endParaRPr lang="ar-EG" sz="3600" spc="11" dirty="0">
              <a:solidFill>
                <a:srgbClr val="3275C5"/>
              </a:solidFill>
              <a:latin typeface="Source Sans Pro"/>
            </a:endParaRPr>
          </a:p>
        </p:txBody>
      </p:sp>
      <p:sp>
        <p:nvSpPr>
          <p:cNvPr id="25" name="TextBox 24">
            <a:extLst>
              <a:ext uri="{FF2B5EF4-FFF2-40B4-BE49-F238E27FC236}">
                <a16:creationId xmlns:a16="http://schemas.microsoft.com/office/drawing/2014/main" id="{3A0F3FA9-05BC-FC37-932E-62261C3C667F}"/>
              </a:ext>
            </a:extLst>
          </p:cNvPr>
          <p:cNvSpPr txBox="1"/>
          <p:nvPr/>
        </p:nvSpPr>
        <p:spPr>
          <a:xfrm>
            <a:off x="990601" y="9105900"/>
            <a:ext cx="16459200" cy="861774"/>
          </a:xfrm>
          <a:prstGeom prst="rect">
            <a:avLst/>
          </a:prstGeom>
          <a:noFill/>
        </p:spPr>
        <p:txBody>
          <a:bodyPr wrap="square" rtlCol="0">
            <a:spAutoFit/>
          </a:bodyPr>
          <a:lstStyle/>
          <a:p>
            <a:pPr algn="ctr"/>
            <a:r>
              <a:rPr lang="ar-SA" sz="3200" b="1" u="sng" spc="11" dirty="0">
                <a:solidFill>
                  <a:srgbClr val="3275C5"/>
                </a:solidFill>
                <a:latin typeface="Source Sans Pro"/>
              </a:rPr>
              <a:t>علاوة علي ذلك فهو</a:t>
            </a:r>
            <a:r>
              <a:rPr lang="ar-EG" sz="3200" b="1" u="sng" spc="11" dirty="0">
                <a:solidFill>
                  <a:srgbClr val="3275C5"/>
                </a:solidFill>
                <a:latin typeface="Source Sans Pro"/>
              </a:rPr>
              <a:t> </a:t>
            </a:r>
            <a:r>
              <a:rPr lang="ar-SA" sz="3200" b="1" u="sng" spc="11" dirty="0">
                <a:solidFill>
                  <a:srgbClr val="3275C5"/>
                </a:solidFill>
                <a:latin typeface="Source Sans Pro"/>
              </a:rPr>
              <a:t>يقدم الطريق نحو ترسيخ مكانة لمصر كدولة متقدمة في مجال</a:t>
            </a:r>
            <a:r>
              <a:rPr lang="ar-EG" sz="3200" b="1" u="sng" spc="11" dirty="0">
                <a:solidFill>
                  <a:srgbClr val="3275C5"/>
                </a:solidFill>
                <a:latin typeface="Source Sans Pro"/>
              </a:rPr>
              <a:t> </a:t>
            </a:r>
            <a:r>
              <a:rPr lang="ar-SA" sz="3200" b="1" u="sng" spc="11" dirty="0">
                <a:solidFill>
                  <a:srgbClr val="3275C5"/>
                </a:solidFill>
                <a:latin typeface="Source Sans Pro"/>
              </a:rPr>
              <a:t>تكنولوجيا النقل (السكك الحديدية)</a:t>
            </a:r>
            <a:endParaRPr lang="en-US" sz="3200" b="1" u="sng" spc="11" dirty="0">
              <a:solidFill>
                <a:srgbClr val="3275C5"/>
              </a:solidFill>
              <a:latin typeface="Source Sans Pro"/>
            </a:endParaRPr>
          </a:p>
          <a:p>
            <a:pPr algn="ctr"/>
            <a:endParaRPr lang="en-US"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24">
                                            <p:txEl>
                                              <p:pRg st="0" end="0"/>
                                            </p:txEl>
                                          </p:spTgt>
                                        </p:tgtEl>
                                        <p:attrNameLst>
                                          <p:attrName>style.visibility</p:attrName>
                                        </p:attrNameLst>
                                      </p:cBhvr>
                                      <p:to>
                                        <p:strVal val="visible"/>
                                      </p:to>
                                    </p:set>
                                    <p:animEffect transition="in" filter="wipe(down)">
                                      <p:cBhvr>
                                        <p:cTn id="14" dur="500"/>
                                        <p:tgtEl>
                                          <p:spTgt spid="24">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24">
                                            <p:txEl>
                                              <p:pRg st="1" end="1"/>
                                            </p:txEl>
                                          </p:spTgt>
                                        </p:tgtEl>
                                        <p:attrNameLst>
                                          <p:attrName>style.visibility</p:attrName>
                                        </p:attrNameLst>
                                      </p:cBhvr>
                                      <p:to>
                                        <p:strVal val="visible"/>
                                      </p:to>
                                    </p:set>
                                    <p:animEffect transition="in" filter="wipe(down)">
                                      <p:cBhvr>
                                        <p:cTn id="19" dur="500"/>
                                        <p:tgtEl>
                                          <p:spTgt spid="24">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24">
                                            <p:txEl>
                                              <p:pRg st="2" end="2"/>
                                            </p:txEl>
                                          </p:spTgt>
                                        </p:tgtEl>
                                        <p:attrNameLst>
                                          <p:attrName>style.visibility</p:attrName>
                                        </p:attrNameLst>
                                      </p:cBhvr>
                                      <p:to>
                                        <p:strVal val="visible"/>
                                      </p:to>
                                    </p:set>
                                    <p:animEffect transition="in" filter="wipe(down)">
                                      <p:cBhvr>
                                        <p:cTn id="24" dur="500"/>
                                        <p:tgtEl>
                                          <p:spTgt spid="24">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24">
                                            <p:txEl>
                                              <p:pRg st="3" end="3"/>
                                            </p:txEl>
                                          </p:spTgt>
                                        </p:tgtEl>
                                        <p:attrNameLst>
                                          <p:attrName>style.visibility</p:attrName>
                                        </p:attrNameLst>
                                      </p:cBhvr>
                                      <p:to>
                                        <p:strVal val="visible"/>
                                      </p:to>
                                    </p:set>
                                    <p:animEffect transition="in" filter="wipe(down)">
                                      <p:cBhvr>
                                        <p:cTn id="29" dur="500"/>
                                        <p:tgtEl>
                                          <p:spTgt spid="24">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24">
                                            <p:txEl>
                                              <p:pRg st="4" end="4"/>
                                            </p:txEl>
                                          </p:spTgt>
                                        </p:tgtEl>
                                        <p:attrNameLst>
                                          <p:attrName>style.visibility</p:attrName>
                                        </p:attrNameLst>
                                      </p:cBhvr>
                                      <p:to>
                                        <p:strVal val="visible"/>
                                      </p:to>
                                    </p:set>
                                    <p:animEffect transition="in" filter="wipe(down)">
                                      <p:cBhvr>
                                        <p:cTn id="34" dur="500"/>
                                        <p:tgtEl>
                                          <p:spTgt spid="24">
                                            <p:txEl>
                                              <p:pRg st="4" end="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24">
                                            <p:txEl>
                                              <p:pRg st="5" end="5"/>
                                            </p:txEl>
                                          </p:spTgt>
                                        </p:tgtEl>
                                        <p:attrNameLst>
                                          <p:attrName>style.visibility</p:attrName>
                                        </p:attrNameLst>
                                      </p:cBhvr>
                                      <p:to>
                                        <p:strVal val="visible"/>
                                      </p:to>
                                    </p:set>
                                    <p:animEffect transition="in" filter="wipe(down)">
                                      <p:cBhvr>
                                        <p:cTn id="39" dur="500"/>
                                        <p:tgtEl>
                                          <p:spTgt spid="24">
                                            <p:txEl>
                                              <p:pRg st="5" end="5"/>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24">
                                            <p:txEl>
                                              <p:pRg st="6" end="6"/>
                                            </p:txEl>
                                          </p:spTgt>
                                        </p:tgtEl>
                                        <p:attrNameLst>
                                          <p:attrName>style.visibility</p:attrName>
                                        </p:attrNameLst>
                                      </p:cBhvr>
                                      <p:to>
                                        <p:strVal val="visible"/>
                                      </p:to>
                                    </p:set>
                                    <p:animEffect transition="in" filter="wipe(down)">
                                      <p:cBhvr>
                                        <p:cTn id="44" dur="500"/>
                                        <p:tgtEl>
                                          <p:spTgt spid="24">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4" presetClass="entr" presetSubtype="10" fill="hold" nodeType="clickEffect">
                                  <p:stCondLst>
                                    <p:cond delay="0"/>
                                  </p:stCondLst>
                                  <p:childTnLst>
                                    <p:set>
                                      <p:cBhvr>
                                        <p:cTn id="48" dur="1" fill="hold">
                                          <p:stCondLst>
                                            <p:cond delay="0"/>
                                          </p:stCondLst>
                                        </p:cTn>
                                        <p:tgtEl>
                                          <p:spTgt spid="25">
                                            <p:txEl>
                                              <p:pRg st="0" end="0"/>
                                            </p:txEl>
                                          </p:spTgt>
                                        </p:tgtEl>
                                        <p:attrNameLst>
                                          <p:attrName>style.visibility</p:attrName>
                                        </p:attrNameLst>
                                      </p:cBhvr>
                                      <p:to>
                                        <p:strVal val="visible"/>
                                      </p:to>
                                    </p:set>
                                    <p:animEffect transition="in" filter="randombar(horizontal)">
                                      <p:cBhvr>
                                        <p:cTn id="49" dur="500"/>
                                        <p:tgtEl>
                                          <p:spTgt spid="2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10" name="Freeform 10"/>
          <p:cNvSpPr/>
          <p:nvPr/>
        </p:nvSpPr>
        <p:spPr>
          <a:xfrm>
            <a:off x="-463075" y="7194550"/>
            <a:ext cx="5863057" cy="4114800"/>
          </a:xfrm>
          <a:custGeom>
            <a:avLst/>
            <a:gdLst/>
            <a:ahLst/>
            <a:cxnLst/>
            <a:rect l="l" t="t" r="r" b="b"/>
            <a:pathLst>
              <a:path w="5863057" h="4114800">
                <a:moveTo>
                  <a:pt x="0" y="0"/>
                </a:moveTo>
                <a:lnTo>
                  <a:pt x="5863057" y="0"/>
                </a:lnTo>
                <a:lnTo>
                  <a:pt x="5863057"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1" name="TextBox 11"/>
          <p:cNvSpPr txBox="1"/>
          <p:nvPr/>
        </p:nvSpPr>
        <p:spPr>
          <a:xfrm>
            <a:off x="5283122" y="423832"/>
            <a:ext cx="7721756" cy="1313758"/>
          </a:xfrm>
          <a:prstGeom prst="rect">
            <a:avLst/>
          </a:prstGeom>
        </p:spPr>
        <p:txBody>
          <a:bodyPr lIns="0" tIns="0" rIns="0" bIns="0" rtlCol="0" anchor="t">
            <a:spAutoFit/>
          </a:bodyPr>
          <a:lstStyle/>
          <a:p>
            <a:pPr algn="ctr">
              <a:lnSpc>
                <a:spcPts val="11200"/>
              </a:lnSpc>
            </a:pPr>
            <a:r>
              <a:rPr lang="ar-EG" sz="7200" b="1" u="sng" dirty="0">
                <a:solidFill>
                  <a:srgbClr val="56AAF0"/>
                </a:solidFill>
                <a:latin typeface="Dynamo"/>
              </a:rPr>
              <a:t>أسباب اختيار المشروع</a:t>
            </a:r>
            <a:endParaRPr lang="en-US" sz="7200" b="1" u="sng" dirty="0">
              <a:solidFill>
                <a:srgbClr val="56AAF0"/>
              </a:solidFill>
              <a:latin typeface="Dynamo"/>
            </a:endParaRPr>
          </a:p>
        </p:txBody>
      </p:sp>
      <p:sp>
        <p:nvSpPr>
          <p:cNvPr id="13" name="TextBox 13"/>
          <p:cNvSpPr txBox="1"/>
          <p:nvPr/>
        </p:nvSpPr>
        <p:spPr>
          <a:xfrm>
            <a:off x="6770501" y="6001380"/>
            <a:ext cx="2363810" cy="494276"/>
          </a:xfrm>
          <a:prstGeom prst="rect">
            <a:avLst/>
          </a:prstGeom>
        </p:spPr>
        <p:txBody>
          <a:bodyPr lIns="0" tIns="0" rIns="0" bIns="0" rtlCol="0" anchor="t">
            <a:spAutoFit/>
          </a:bodyPr>
          <a:lstStyle/>
          <a:p>
            <a:pPr algn="ctr">
              <a:lnSpc>
                <a:spcPts val="4032"/>
              </a:lnSpc>
            </a:pPr>
            <a:r>
              <a:rPr lang="en-US" sz="2880" spc="144">
                <a:solidFill>
                  <a:srgbClr val="FCFEFF"/>
                </a:solidFill>
                <a:latin typeface="Dynamo"/>
              </a:rPr>
              <a:t>SERVICE 02</a:t>
            </a:r>
          </a:p>
        </p:txBody>
      </p:sp>
      <p:sp>
        <p:nvSpPr>
          <p:cNvPr id="14" name="TextBox 14"/>
          <p:cNvSpPr txBox="1"/>
          <p:nvPr/>
        </p:nvSpPr>
        <p:spPr>
          <a:xfrm>
            <a:off x="10571177" y="3674386"/>
            <a:ext cx="2363810" cy="494276"/>
          </a:xfrm>
          <a:prstGeom prst="rect">
            <a:avLst/>
          </a:prstGeom>
        </p:spPr>
        <p:txBody>
          <a:bodyPr lIns="0" tIns="0" rIns="0" bIns="0" rtlCol="0" anchor="t">
            <a:spAutoFit/>
          </a:bodyPr>
          <a:lstStyle/>
          <a:p>
            <a:pPr algn="ctr">
              <a:lnSpc>
                <a:spcPts val="4032"/>
              </a:lnSpc>
            </a:pPr>
            <a:r>
              <a:rPr lang="en-US" sz="2880" spc="144">
                <a:solidFill>
                  <a:srgbClr val="FCFEFF"/>
                </a:solidFill>
                <a:latin typeface="Dynamo"/>
              </a:rPr>
              <a:t>SERVICE 03</a:t>
            </a:r>
          </a:p>
        </p:txBody>
      </p:sp>
      <p:sp>
        <p:nvSpPr>
          <p:cNvPr id="20" name="Freeform 20"/>
          <p:cNvSpPr/>
          <p:nvPr/>
        </p:nvSpPr>
        <p:spPr>
          <a:xfrm flipH="1" flipV="1">
            <a:off x="12866828" y="-976689"/>
            <a:ext cx="5863057" cy="4114800"/>
          </a:xfrm>
          <a:custGeom>
            <a:avLst/>
            <a:gdLst/>
            <a:ahLst/>
            <a:cxnLst/>
            <a:rect l="l" t="t" r="r" b="b"/>
            <a:pathLst>
              <a:path w="5863057" h="4114800">
                <a:moveTo>
                  <a:pt x="5863057" y="4114800"/>
                </a:moveTo>
                <a:lnTo>
                  <a:pt x="0" y="4114800"/>
                </a:lnTo>
                <a:lnTo>
                  <a:pt x="0" y="0"/>
                </a:lnTo>
                <a:lnTo>
                  <a:pt x="5863057" y="0"/>
                </a:lnTo>
                <a:lnTo>
                  <a:pt x="5863057"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4" name="TextBox 23">
            <a:extLst>
              <a:ext uri="{FF2B5EF4-FFF2-40B4-BE49-F238E27FC236}">
                <a16:creationId xmlns:a16="http://schemas.microsoft.com/office/drawing/2014/main" id="{0748B1B3-03A3-62E7-D670-A4EC305DA6F0}"/>
              </a:ext>
            </a:extLst>
          </p:cNvPr>
          <p:cNvSpPr txBox="1"/>
          <p:nvPr/>
        </p:nvSpPr>
        <p:spPr>
          <a:xfrm>
            <a:off x="1552411" y="2631226"/>
            <a:ext cx="15163800" cy="6740307"/>
          </a:xfrm>
          <a:prstGeom prst="rect">
            <a:avLst/>
          </a:prstGeom>
          <a:noFill/>
        </p:spPr>
        <p:txBody>
          <a:bodyPr wrap="square" rtlCol="0">
            <a:spAutoFit/>
          </a:bodyPr>
          <a:lstStyle/>
          <a:p>
            <a:pPr marL="457200" indent="-457200" algn="r" rtl="1">
              <a:buFont typeface="Arial" panose="020B0604020202020204" pitchFamily="34" charset="0"/>
              <a:buChar char="•"/>
            </a:pPr>
            <a:r>
              <a:rPr lang="ar-SA" sz="3600" b="1" u="sng" spc="11" dirty="0">
                <a:solidFill>
                  <a:srgbClr val="FF0000"/>
                </a:solidFill>
                <a:latin typeface="Source Sans Pro"/>
              </a:rPr>
              <a:t>سلامة الركاب والعاملين</a:t>
            </a:r>
            <a:r>
              <a:rPr lang="ar-EG" sz="3600" b="1" u="sng" spc="11" dirty="0">
                <a:solidFill>
                  <a:srgbClr val="FF0000"/>
                </a:solidFill>
                <a:latin typeface="Source Sans Pro"/>
              </a:rPr>
              <a:t>:-</a:t>
            </a:r>
          </a:p>
          <a:p>
            <a:pPr lvl="1" algn="r" rtl="1"/>
            <a:r>
              <a:rPr lang="ar-SA" sz="3600" spc="11" dirty="0">
                <a:solidFill>
                  <a:srgbClr val="3275C5"/>
                </a:solidFill>
                <a:latin typeface="Source Sans Pro"/>
              </a:rPr>
              <a:t> </a:t>
            </a:r>
            <a:r>
              <a:rPr lang="ar-SA" sz="3600" b="1" spc="11" dirty="0">
                <a:solidFill>
                  <a:srgbClr val="3275C5"/>
                </a:solidFill>
                <a:latin typeface="Source Sans Pro"/>
              </a:rPr>
              <a:t>يهدف المشروع إلى حماية حياة الركاب والعاملين </a:t>
            </a:r>
            <a:r>
              <a:rPr lang="ar-EG" sz="3600" b="1" spc="11" dirty="0">
                <a:solidFill>
                  <a:srgbClr val="3275C5"/>
                </a:solidFill>
                <a:latin typeface="Source Sans Pro"/>
              </a:rPr>
              <a:t>و </a:t>
            </a:r>
            <a:r>
              <a:rPr lang="ar-SA" sz="3600" b="1" spc="11" dirty="0">
                <a:solidFill>
                  <a:srgbClr val="3275C5"/>
                </a:solidFill>
                <a:latin typeface="Source Sans Pro"/>
              </a:rPr>
              <a:t>يقلل من خطر الإصابات والوفيات</a:t>
            </a:r>
            <a:endParaRPr lang="ar-EG" sz="3600" b="1" spc="11" dirty="0">
              <a:solidFill>
                <a:srgbClr val="3275C5"/>
              </a:solidFill>
              <a:latin typeface="Source Sans Pro"/>
            </a:endParaRPr>
          </a:p>
          <a:p>
            <a:pPr algn="r" rtl="1"/>
            <a:endParaRPr lang="ar-EG" sz="3600" spc="11" dirty="0">
              <a:solidFill>
                <a:srgbClr val="3275C5"/>
              </a:solidFill>
              <a:latin typeface="Source Sans Pro"/>
            </a:endParaRPr>
          </a:p>
          <a:p>
            <a:pPr marL="457200" indent="-457200" algn="r" rtl="1">
              <a:buFont typeface="Arial" panose="020B0604020202020204" pitchFamily="34" charset="0"/>
              <a:buChar char="•"/>
            </a:pPr>
            <a:r>
              <a:rPr lang="ar-SA" sz="3600" b="1" u="sng" spc="11" dirty="0">
                <a:solidFill>
                  <a:srgbClr val="FF0000"/>
                </a:solidFill>
                <a:latin typeface="Source Sans Pro"/>
              </a:rPr>
              <a:t>تحسين الكفاءة والاعتمادية</a:t>
            </a:r>
            <a:r>
              <a:rPr lang="ar-EG" sz="3600" b="1" u="sng" spc="11" dirty="0">
                <a:solidFill>
                  <a:srgbClr val="FF0000"/>
                </a:solidFill>
                <a:latin typeface="Source Sans Pro"/>
              </a:rPr>
              <a:t>:- </a:t>
            </a:r>
          </a:p>
          <a:p>
            <a:pPr lvl="1" algn="r" rtl="1"/>
            <a:r>
              <a:rPr lang="ar-SA" sz="3600" spc="11" dirty="0">
                <a:solidFill>
                  <a:srgbClr val="3275C5"/>
                </a:solidFill>
                <a:latin typeface="Source Sans Pro"/>
              </a:rPr>
              <a:t> </a:t>
            </a:r>
            <a:r>
              <a:rPr lang="ar-SA" sz="3600" b="1" spc="11" dirty="0">
                <a:solidFill>
                  <a:srgbClr val="3275C5"/>
                </a:solidFill>
                <a:latin typeface="Source Sans Pro"/>
              </a:rPr>
              <a:t>يساعد المشروع في تحسين كفاءة نقل الركاب والبضائع عبر القطارات من خلال تقليل حوادث التصادم</a:t>
            </a:r>
            <a:endParaRPr lang="ar-EG" sz="3600" b="1" spc="11" dirty="0">
              <a:solidFill>
                <a:srgbClr val="3275C5"/>
              </a:solidFill>
              <a:latin typeface="Source Sans Pro"/>
            </a:endParaRPr>
          </a:p>
          <a:p>
            <a:pPr algn="r" rtl="1"/>
            <a:endParaRPr lang="ar-EG" sz="3600" spc="11" dirty="0">
              <a:solidFill>
                <a:srgbClr val="3275C5"/>
              </a:solidFill>
              <a:latin typeface="Source Sans Pro"/>
            </a:endParaRPr>
          </a:p>
          <a:p>
            <a:pPr marL="457200" indent="-457200" algn="r" rtl="1">
              <a:buFont typeface="Arial" panose="020B0604020202020204" pitchFamily="34" charset="0"/>
              <a:buChar char="•"/>
            </a:pPr>
            <a:r>
              <a:rPr lang="ar-SA" sz="3600" b="1" u="sng" spc="11" dirty="0">
                <a:solidFill>
                  <a:srgbClr val="FF0000"/>
                </a:solidFill>
                <a:latin typeface="Source Sans Pro"/>
              </a:rPr>
              <a:t>الحد من التكاليف</a:t>
            </a:r>
            <a:r>
              <a:rPr lang="ar-EG" sz="3600" b="1" u="sng" spc="11" dirty="0">
                <a:solidFill>
                  <a:srgbClr val="FF0000"/>
                </a:solidFill>
                <a:latin typeface="Source Sans Pro"/>
              </a:rPr>
              <a:t>:- </a:t>
            </a:r>
          </a:p>
          <a:p>
            <a:pPr lvl="1" algn="r" rtl="1"/>
            <a:r>
              <a:rPr lang="ar-SA" sz="3600" b="1" spc="11" dirty="0">
                <a:solidFill>
                  <a:srgbClr val="0070C0"/>
                </a:solidFill>
                <a:latin typeface="Source Sans Pro"/>
              </a:rPr>
              <a:t> يمكن أن تكون تكاليف الحوادث التي تنجم عن تصادم القطارات مع العوائق باهظة</a:t>
            </a:r>
            <a:endParaRPr lang="ar-EG" sz="3600" b="1" spc="11" dirty="0">
              <a:solidFill>
                <a:srgbClr val="0070C0"/>
              </a:solidFill>
              <a:latin typeface="Source Sans Pro"/>
            </a:endParaRPr>
          </a:p>
          <a:p>
            <a:pPr algn="r" rtl="1"/>
            <a:endParaRPr lang="ar-EG" sz="3600" spc="11" dirty="0">
              <a:solidFill>
                <a:srgbClr val="3275C5"/>
              </a:solidFill>
              <a:latin typeface="Source Sans Pro"/>
            </a:endParaRPr>
          </a:p>
          <a:p>
            <a:pPr marL="457200" indent="-457200" algn="r" rtl="1">
              <a:buFont typeface="Arial" panose="020B0604020202020204" pitchFamily="34" charset="0"/>
              <a:buChar char="•"/>
            </a:pPr>
            <a:r>
              <a:rPr lang="ar-SA" sz="3600" b="1" u="sng" spc="11" dirty="0">
                <a:solidFill>
                  <a:srgbClr val="FF0000"/>
                </a:solidFill>
                <a:latin typeface="Source Sans Pro"/>
              </a:rPr>
              <a:t>توفير الراحة للمسافرين</a:t>
            </a:r>
            <a:r>
              <a:rPr lang="ar-EG" sz="3600" b="1" u="sng" spc="11" dirty="0">
                <a:solidFill>
                  <a:srgbClr val="FF0000"/>
                </a:solidFill>
                <a:latin typeface="Source Sans Pro"/>
              </a:rPr>
              <a:t>:-</a:t>
            </a:r>
          </a:p>
          <a:p>
            <a:pPr lvl="1" algn="r" rtl="1"/>
            <a:r>
              <a:rPr lang="ar-SA" sz="3600" b="1" spc="11" dirty="0">
                <a:solidFill>
                  <a:srgbClr val="3275C5"/>
                </a:solidFill>
                <a:latin typeface="Source Sans Pro"/>
              </a:rPr>
              <a:t> بالحد من الحوادث وتحسين السلامة</a:t>
            </a:r>
            <a:r>
              <a:rPr lang="ar-EG" sz="3600" b="1" spc="11" dirty="0">
                <a:solidFill>
                  <a:srgbClr val="3275C5"/>
                </a:solidFill>
                <a:latin typeface="Source Sans Pro"/>
              </a:rPr>
              <a:t> وزيادة الشعور بالأمان</a:t>
            </a:r>
            <a:endParaRPr lang="en-US" sz="3600" b="1" spc="11" dirty="0">
              <a:solidFill>
                <a:srgbClr val="3275C5"/>
              </a:solidFill>
              <a:latin typeface="Source Sans Pro"/>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24">
                                            <p:txEl>
                                              <p:pRg st="0" end="0"/>
                                            </p:txEl>
                                          </p:spTgt>
                                        </p:tgtEl>
                                        <p:attrNameLst>
                                          <p:attrName>style.visibility</p:attrName>
                                        </p:attrNameLst>
                                      </p:cBhvr>
                                      <p:to>
                                        <p:strVal val="visible"/>
                                      </p:to>
                                    </p:set>
                                    <p:animEffect transition="in" filter="wipe(down)">
                                      <p:cBhvr>
                                        <p:cTn id="14" dur="500"/>
                                        <p:tgtEl>
                                          <p:spTgt spid="24">
                                            <p:txEl>
                                              <p:pRg st="0" end="0"/>
                                            </p:txEl>
                                          </p:spTgt>
                                        </p:tgtEl>
                                      </p:cBhvr>
                                    </p:animEffect>
                                  </p:childTnLst>
                                </p:cTn>
                              </p:par>
                              <p:par>
                                <p:cTn id="15" presetID="22" presetClass="entr" presetSubtype="4" fill="hold" nodeType="withEffect">
                                  <p:stCondLst>
                                    <p:cond delay="0"/>
                                  </p:stCondLst>
                                  <p:childTnLst>
                                    <p:set>
                                      <p:cBhvr>
                                        <p:cTn id="16" dur="1" fill="hold">
                                          <p:stCondLst>
                                            <p:cond delay="0"/>
                                          </p:stCondLst>
                                        </p:cTn>
                                        <p:tgtEl>
                                          <p:spTgt spid="24">
                                            <p:txEl>
                                              <p:pRg st="1" end="1"/>
                                            </p:txEl>
                                          </p:spTgt>
                                        </p:tgtEl>
                                        <p:attrNameLst>
                                          <p:attrName>style.visibility</p:attrName>
                                        </p:attrNameLst>
                                      </p:cBhvr>
                                      <p:to>
                                        <p:strVal val="visible"/>
                                      </p:to>
                                    </p:set>
                                    <p:animEffect transition="in" filter="wipe(down)">
                                      <p:cBhvr>
                                        <p:cTn id="17" dur="500"/>
                                        <p:tgtEl>
                                          <p:spTgt spid="2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4">
                                            <p:txEl>
                                              <p:pRg st="3" end="3"/>
                                            </p:txEl>
                                          </p:spTgt>
                                        </p:tgtEl>
                                        <p:attrNameLst>
                                          <p:attrName>style.visibility</p:attrName>
                                        </p:attrNameLst>
                                      </p:cBhvr>
                                      <p:to>
                                        <p:strVal val="visible"/>
                                      </p:to>
                                    </p:set>
                                    <p:animEffect transition="in" filter="wipe(down)">
                                      <p:cBhvr>
                                        <p:cTn id="22" dur="500"/>
                                        <p:tgtEl>
                                          <p:spTgt spid="24">
                                            <p:txEl>
                                              <p:pRg st="3" end="3"/>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24">
                                            <p:txEl>
                                              <p:pRg st="4" end="4"/>
                                            </p:txEl>
                                          </p:spTgt>
                                        </p:tgtEl>
                                        <p:attrNameLst>
                                          <p:attrName>style.visibility</p:attrName>
                                        </p:attrNameLst>
                                      </p:cBhvr>
                                      <p:to>
                                        <p:strVal val="visible"/>
                                      </p:to>
                                    </p:set>
                                    <p:animEffect transition="in" filter="wipe(down)">
                                      <p:cBhvr>
                                        <p:cTn id="25" dur="500"/>
                                        <p:tgtEl>
                                          <p:spTgt spid="24">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24">
                                            <p:txEl>
                                              <p:pRg st="6" end="6"/>
                                            </p:txEl>
                                          </p:spTgt>
                                        </p:tgtEl>
                                        <p:attrNameLst>
                                          <p:attrName>style.visibility</p:attrName>
                                        </p:attrNameLst>
                                      </p:cBhvr>
                                      <p:to>
                                        <p:strVal val="visible"/>
                                      </p:to>
                                    </p:set>
                                    <p:animEffect transition="in" filter="wipe(down)">
                                      <p:cBhvr>
                                        <p:cTn id="30" dur="500"/>
                                        <p:tgtEl>
                                          <p:spTgt spid="24">
                                            <p:txEl>
                                              <p:pRg st="6" end="6"/>
                                            </p:txEl>
                                          </p:spTgt>
                                        </p:tgtEl>
                                      </p:cBhvr>
                                    </p:animEffect>
                                  </p:childTnLst>
                                </p:cTn>
                              </p:par>
                              <p:par>
                                <p:cTn id="31" presetID="22" presetClass="entr" presetSubtype="4" fill="hold" nodeType="withEffect">
                                  <p:stCondLst>
                                    <p:cond delay="0"/>
                                  </p:stCondLst>
                                  <p:childTnLst>
                                    <p:set>
                                      <p:cBhvr>
                                        <p:cTn id="32" dur="1" fill="hold">
                                          <p:stCondLst>
                                            <p:cond delay="0"/>
                                          </p:stCondLst>
                                        </p:cTn>
                                        <p:tgtEl>
                                          <p:spTgt spid="24">
                                            <p:txEl>
                                              <p:pRg st="7" end="7"/>
                                            </p:txEl>
                                          </p:spTgt>
                                        </p:tgtEl>
                                        <p:attrNameLst>
                                          <p:attrName>style.visibility</p:attrName>
                                        </p:attrNameLst>
                                      </p:cBhvr>
                                      <p:to>
                                        <p:strVal val="visible"/>
                                      </p:to>
                                    </p:set>
                                    <p:animEffect transition="in" filter="wipe(down)">
                                      <p:cBhvr>
                                        <p:cTn id="33" dur="500"/>
                                        <p:tgtEl>
                                          <p:spTgt spid="24">
                                            <p:txEl>
                                              <p:pRg st="7" end="7"/>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24">
                                            <p:txEl>
                                              <p:pRg st="9" end="9"/>
                                            </p:txEl>
                                          </p:spTgt>
                                        </p:tgtEl>
                                        <p:attrNameLst>
                                          <p:attrName>style.visibility</p:attrName>
                                        </p:attrNameLst>
                                      </p:cBhvr>
                                      <p:to>
                                        <p:strVal val="visible"/>
                                      </p:to>
                                    </p:set>
                                    <p:animEffect transition="in" filter="wipe(down)">
                                      <p:cBhvr>
                                        <p:cTn id="38" dur="500"/>
                                        <p:tgtEl>
                                          <p:spTgt spid="24">
                                            <p:txEl>
                                              <p:pRg st="9" end="9"/>
                                            </p:txEl>
                                          </p:spTgt>
                                        </p:tgtEl>
                                      </p:cBhvr>
                                    </p:animEffect>
                                  </p:childTnLst>
                                </p:cTn>
                              </p:par>
                              <p:par>
                                <p:cTn id="39" presetID="22" presetClass="entr" presetSubtype="4" fill="hold" nodeType="withEffect">
                                  <p:stCondLst>
                                    <p:cond delay="0"/>
                                  </p:stCondLst>
                                  <p:childTnLst>
                                    <p:set>
                                      <p:cBhvr>
                                        <p:cTn id="40" dur="1" fill="hold">
                                          <p:stCondLst>
                                            <p:cond delay="0"/>
                                          </p:stCondLst>
                                        </p:cTn>
                                        <p:tgtEl>
                                          <p:spTgt spid="24">
                                            <p:txEl>
                                              <p:pRg st="10" end="10"/>
                                            </p:txEl>
                                          </p:spTgt>
                                        </p:tgtEl>
                                        <p:attrNameLst>
                                          <p:attrName>style.visibility</p:attrName>
                                        </p:attrNameLst>
                                      </p:cBhvr>
                                      <p:to>
                                        <p:strVal val="visible"/>
                                      </p:to>
                                    </p:set>
                                    <p:animEffect transition="in" filter="wipe(down)">
                                      <p:cBhvr>
                                        <p:cTn id="41" dur="500"/>
                                        <p:tgtEl>
                                          <p:spTgt spid="2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C1B6C46-59D0-3247-94C9-1DD4C0D67C6A}"/>
              </a:ext>
            </a:extLst>
          </p:cNvPr>
          <p:cNvSpPr txBox="1"/>
          <p:nvPr/>
        </p:nvSpPr>
        <p:spPr>
          <a:xfrm>
            <a:off x="5181600" y="923754"/>
            <a:ext cx="8153400" cy="1200329"/>
          </a:xfrm>
          <a:prstGeom prst="rect">
            <a:avLst/>
          </a:prstGeom>
          <a:noFill/>
        </p:spPr>
        <p:txBody>
          <a:bodyPr wrap="square" rtlCol="0">
            <a:spAutoFit/>
          </a:bodyPr>
          <a:lstStyle/>
          <a:p>
            <a:pPr algn="ctr"/>
            <a:r>
              <a:rPr lang="ar-EG" sz="7200" b="1" u="sng" dirty="0">
                <a:solidFill>
                  <a:srgbClr val="56AAF0"/>
                </a:solidFill>
                <a:latin typeface="Dynamo"/>
              </a:rPr>
              <a:t>المقترحات</a:t>
            </a:r>
            <a:endParaRPr lang="en-US" sz="7200" b="1" u="sng" dirty="0">
              <a:solidFill>
                <a:srgbClr val="56AAF0"/>
              </a:solidFill>
              <a:latin typeface="Dynamo"/>
            </a:endParaRPr>
          </a:p>
        </p:txBody>
      </p:sp>
      <p:sp>
        <p:nvSpPr>
          <p:cNvPr id="6" name="TextBox 5">
            <a:extLst>
              <a:ext uri="{FF2B5EF4-FFF2-40B4-BE49-F238E27FC236}">
                <a16:creationId xmlns:a16="http://schemas.microsoft.com/office/drawing/2014/main" id="{8BFCE6F3-EC91-201A-E0B1-59FFA62D5DFE}"/>
              </a:ext>
            </a:extLst>
          </p:cNvPr>
          <p:cNvSpPr txBox="1"/>
          <p:nvPr/>
        </p:nvSpPr>
        <p:spPr>
          <a:xfrm>
            <a:off x="1012352" y="2400300"/>
            <a:ext cx="16491896" cy="7301294"/>
          </a:xfrm>
          <a:prstGeom prst="rect">
            <a:avLst/>
          </a:prstGeom>
          <a:noFill/>
        </p:spPr>
        <p:txBody>
          <a:bodyPr wrap="square" rtlCol="0">
            <a:spAutoFit/>
          </a:bodyPr>
          <a:lstStyle/>
          <a:p>
            <a:pPr algn="justLow" rtl="1">
              <a:lnSpc>
                <a:spcPct val="200000"/>
              </a:lnSpc>
            </a:pPr>
            <a:r>
              <a:rPr lang="ar-EG" sz="4000" b="1" u="sng" spc="11" dirty="0">
                <a:solidFill>
                  <a:srgbClr val="FF0000"/>
                </a:solidFill>
                <a:latin typeface="Source Sans Pro"/>
              </a:rPr>
              <a:t>1- تحسين التدريب والتوعية :-</a:t>
            </a:r>
            <a:r>
              <a:rPr lang="ar-EG" sz="4000" b="1" spc="11" dirty="0">
                <a:solidFill>
                  <a:srgbClr val="FF0000"/>
                </a:solidFill>
                <a:latin typeface="Source Sans Pro"/>
              </a:rPr>
              <a:t> </a:t>
            </a:r>
            <a:r>
              <a:rPr lang="ar-EG" sz="4000" spc="11" dirty="0">
                <a:solidFill>
                  <a:srgbClr val="3275C5"/>
                </a:solidFill>
                <a:latin typeface="Source Sans Pro"/>
              </a:rPr>
              <a:t>يجب تطوير برامج تدريبية شاملة لسائقي القطارات ومشغلي النظام.</a:t>
            </a:r>
          </a:p>
          <a:p>
            <a:pPr algn="justLow" rtl="1">
              <a:lnSpc>
                <a:spcPct val="200000"/>
              </a:lnSpc>
            </a:pPr>
            <a:r>
              <a:rPr lang="ar-EG" sz="4000" b="1" u="sng" spc="11" dirty="0">
                <a:solidFill>
                  <a:srgbClr val="FF0000"/>
                </a:solidFill>
                <a:latin typeface="Source Sans Pro"/>
              </a:rPr>
              <a:t>2- صيانة دورية :-</a:t>
            </a:r>
            <a:r>
              <a:rPr lang="ar-EG" sz="4000" b="1" spc="11" dirty="0">
                <a:solidFill>
                  <a:srgbClr val="FF0000"/>
                </a:solidFill>
                <a:latin typeface="Source Sans Pro"/>
              </a:rPr>
              <a:t> </a:t>
            </a:r>
            <a:r>
              <a:rPr lang="ar-EG" sz="4000" spc="11" dirty="0">
                <a:solidFill>
                  <a:srgbClr val="3275C5"/>
                </a:solidFill>
                <a:latin typeface="Source Sans Pro"/>
              </a:rPr>
              <a:t>القيام بصيانة وفحص لهذا النظام للتاكد من عمله بكفاءة عالية. </a:t>
            </a:r>
          </a:p>
          <a:p>
            <a:pPr algn="justLow" rtl="1">
              <a:lnSpc>
                <a:spcPct val="200000"/>
              </a:lnSpc>
            </a:pPr>
            <a:r>
              <a:rPr lang="ar-EG" sz="4000" b="1" u="sng" spc="11" dirty="0">
                <a:solidFill>
                  <a:srgbClr val="FF0000"/>
                </a:solidFill>
                <a:latin typeface="Source Sans Pro"/>
              </a:rPr>
              <a:t>3- توعية الجمهور :-</a:t>
            </a:r>
            <a:r>
              <a:rPr lang="ar-EG" sz="4000" spc="11" dirty="0">
                <a:solidFill>
                  <a:srgbClr val="FF0000"/>
                </a:solidFill>
                <a:latin typeface="Source Sans Pro"/>
              </a:rPr>
              <a:t> </a:t>
            </a:r>
            <a:r>
              <a:rPr lang="ar-EG" sz="4000" spc="11" dirty="0">
                <a:solidFill>
                  <a:srgbClr val="3275C5"/>
                </a:solidFill>
                <a:latin typeface="Source Sans Pro"/>
              </a:rPr>
              <a:t>تعزيز حملات التوعية للمسافرين والمارة بضرورة عدم التواجد علي مسار السكة الحديد او القيام باي اعمال قد تسبب عرقلة لحركة القطارات. </a:t>
            </a:r>
          </a:p>
          <a:p>
            <a:pPr algn="justLow" rtl="1">
              <a:lnSpc>
                <a:spcPct val="200000"/>
              </a:lnSpc>
            </a:pPr>
            <a:r>
              <a:rPr lang="ar-EG" sz="4000" b="1" u="sng" spc="11" dirty="0">
                <a:solidFill>
                  <a:srgbClr val="FF0000"/>
                </a:solidFill>
                <a:latin typeface="Source Sans Pro"/>
              </a:rPr>
              <a:t>4- التعاون الدولي :-</a:t>
            </a:r>
            <a:r>
              <a:rPr lang="ar-EG" sz="4000" b="1" spc="11" dirty="0">
                <a:solidFill>
                  <a:srgbClr val="FF0000"/>
                </a:solidFill>
                <a:latin typeface="Source Sans Pro"/>
              </a:rPr>
              <a:t> </a:t>
            </a:r>
            <a:r>
              <a:rPr lang="ar-EG" sz="4000" spc="11" dirty="0">
                <a:solidFill>
                  <a:srgbClr val="3275C5"/>
                </a:solidFill>
                <a:latin typeface="Source Sans Pro"/>
              </a:rPr>
              <a:t>تبادل المعرفة والتجارب مع الدول الاخري في مجال حماية مسارات القطارات والتعاون في تطوير معايير دولية لضمان سلامة النقل السككي في جميع انحاء العالم . </a:t>
            </a:r>
            <a:endParaRPr lang="en-US" sz="4000" spc="11" dirty="0">
              <a:solidFill>
                <a:srgbClr val="3275C5"/>
              </a:solidFill>
              <a:latin typeface="Source Sans Pro"/>
            </a:endParaRPr>
          </a:p>
        </p:txBody>
      </p:sp>
      <p:sp>
        <p:nvSpPr>
          <p:cNvPr id="4" name="Freeform 10">
            <a:extLst>
              <a:ext uri="{FF2B5EF4-FFF2-40B4-BE49-F238E27FC236}">
                <a16:creationId xmlns:a16="http://schemas.microsoft.com/office/drawing/2014/main" id="{8BB9DB3F-2470-613A-1693-F1AD637009CA}"/>
              </a:ext>
            </a:extLst>
          </p:cNvPr>
          <p:cNvSpPr/>
          <p:nvPr/>
        </p:nvSpPr>
        <p:spPr>
          <a:xfrm>
            <a:off x="381000" y="7658100"/>
            <a:ext cx="4120675" cy="2813050"/>
          </a:xfrm>
          <a:custGeom>
            <a:avLst/>
            <a:gdLst/>
            <a:ahLst/>
            <a:cxnLst/>
            <a:rect l="l" t="t" r="r" b="b"/>
            <a:pathLst>
              <a:path w="5863057" h="4114800">
                <a:moveTo>
                  <a:pt x="0" y="0"/>
                </a:moveTo>
                <a:lnTo>
                  <a:pt x="5863057" y="0"/>
                </a:lnTo>
                <a:lnTo>
                  <a:pt x="5863057"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20">
            <a:extLst>
              <a:ext uri="{FF2B5EF4-FFF2-40B4-BE49-F238E27FC236}">
                <a16:creationId xmlns:a16="http://schemas.microsoft.com/office/drawing/2014/main" id="{65307F19-1AD0-ED5B-7CC0-37FE50ED2C32}"/>
              </a:ext>
            </a:extLst>
          </p:cNvPr>
          <p:cNvSpPr/>
          <p:nvPr/>
        </p:nvSpPr>
        <p:spPr>
          <a:xfrm flipH="1" flipV="1">
            <a:off x="15059891" y="-47769"/>
            <a:ext cx="3228109" cy="3143373"/>
          </a:xfrm>
          <a:custGeom>
            <a:avLst/>
            <a:gdLst/>
            <a:ahLst/>
            <a:cxnLst/>
            <a:rect l="l" t="t" r="r" b="b"/>
            <a:pathLst>
              <a:path w="5863057" h="4114800">
                <a:moveTo>
                  <a:pt x="5863057" y="4114800"/>
                </a:moveTo>
                <a:lnTo>
                  <a:pt x="0" y="4114800"/>
                </a:lnTo>
                <a:lnTo>
                  <a:pt x="0" y="0"/>
                </a:lnTo>
                <a:lnTo>
                  <a:pt x="5863057" y="0"/>
                </a:lnTo>
                <a:lnTo>
                  <a:pt x="5863057" y="4114800"/>
                </a:lnTo>
                <a:close/>
              </a:path>
            </a:pathLst>
          </a:custGeom>
          <a:blipFill>
            <a:blip r:embed="rId2">
              <a:extLst>
                <a:ext uri="{96DAC541-7B7A-43D3-8B79-37D633B846F1}">
                  <asvg:svgBlip xmlns:asvg="http://schemas.microsoft.com/office/drawing/2016/SVG/main" r:embed="rId3"/>
                </a:ext>
              </a:extLst>
            </a:blip>
            <a:stretch>
              <a:fillRect/>
            </a:stretch>
          </a:blipFill>
        </p:spPr>
      </p:sp>
    </p:spTree>
    <p:extLst>
      <p:ext uri="{BB962C8B-B14F-4D97-AF65-F5344CB8AC3E}">
        <p14:creationId xmlns:p14="http://schemas.microsoft.com/office/powerpoint/2010/main" val="99311491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animEffect transition="in" filter="wipe(down)">
                                      <p:cBhvr>
                                        <p:cTn id="19" dur="500"/>
                                        <p:tgtEl>
                                          <p:spTgt spid="6">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6">
                                            <p:txEl>
                                              <p:pRg st="1" end="1"/>
                                            </p:txEl>
                                          </p:spTgt>
                                        </p:tgtEl>
                                        <p:attrNameLst>
                                          <p:attrName>style.visibility</p:attrName>
                                        </p:attrNameLst>
                                      </p:cBhvr>
                                      <p:to>
                                        <p:strVal val="visible"/>
                                      </p:to>
                                    </p:set>
                                    <p:animEffect transition="in" filter="wipe(down)">
                                      <p:cBhvr>
                                        <p:cTn id="24" dur="500"/>
                                        <p:tgtEl>
                                          <p:spTgt spid="6">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6">
                                            <p:txEl>
                                              <p:pRg st="2" end="2"/>
                                            </p:txEl>
                                          </p:spTgt>
                                        </p:tgtEl>
                                        <p:attrNameLst>
                                          <p:attrName>style.visibility</p:attrName>
                                        </p:attrNameLst>
                                      </p:cBhvr>
                                      <p:to>
                                        <p:strVal val="visible"/>
                                      </p:to>
                                    </p:set>
                                    <p:animEffect transition="in" filter="wipe(down)">
                                      <p:cBhvr>
                                        <p:cTn id="29" dur="500"/>
                                        <p:tgtEl>
                                          <p:spTgt spid="6">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6">
                                            <p:txEl>
                                              <p:pRg st="3" end="3"/>
                                            </p:txEl>
                                          </p:spTgt>
                                        </p:tgtEl>
                                        <p:attrNameLst>
                                          <p:attrName>style.visibility</p:attrName>
                                        </p:attrNameLst>
                                      </p:cBhvr>
                                      <p:to>
                                        <p:strVal val="visible"/>
                                      </p:to>
                                    </p:set>
                                    <p:animEffect transition="in" filter="wipe(down)">
                                      <p:cBhvr>
                                        <p:cTn id="34"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336A997D-CF36-2DD6-944F-9E763467C77A}"/>
              </a:ext>
            </a:extLst>
          </p:cNvPr>
          <p:cNvSpPr txBox="1"/>
          <p:nvPr/>
        </p:nvSpPr>
        <p:spPr>
          <a:xfrm>
            <a:off x="3505200" y="573345"/>
            <a:ext cx="11277600" cy="1406091"/>
          </a:xfrm>
          <a:prstGeom prst="rect">
            <a:avLst/>
          </a:prstGeom>
          <a:noFill/>
        </p:spPr>
        <p:txBody>
          <a:bodyPr wrap="square" rtlCol="0">
            <a:spAutoFit/>
          </a:bodyPr>
          <a:lstStyle/>
          <a:p>
            <a:pPr algn="ctr">
              <a:lnSpc>
                <a:spcPts val="11200"/>
              </a:lnSpc>
            </a:pPr>
            <a:r>
              <a:rPr lang="ar-EG" sz="7200" b="1" u="sng" dirty="0">
                <a:solidFill>
                  <a:srgbClr val="56AAF0"/>
                </a:solidFill>
                <a:latin typeface="Dynamo"/>
              </a:rPr>
              <a:t>الخاتمة</a:t>
            </a:r>
            <a:endParaRPr lang="en-US" sz="7200" b="1" u="sng" dirty="0">
              <a:solidFill>
                <a:srgbClr val="56AAF0"/>
              </a:solidFill>
              <a:latin typeface="Dynamo"/>
            </a:endParaRPr>
          </a:p>
        </p:txBody>
      </p:sp>
      <p:sp>
        <p:nvSpPr>
          <p:cNvPr id="12" name="TextBox 11">
            <a:extLst>
              <a:ext uri="{FF2B5EF4-FFF2-40B4-BE49-F238E27FC236}">
                <a16:creationId xmlns:a16="http://schemas.microsoft.com/office/drawing/2014/main" id="{41B4D970-C790-36D8-6AC6-17B90A15E5BD}"/>
              </a:ext>
            </a:extLst>
          </p:cNvPr>
          <p:cNvSpPr txBox="1"/>
          <p:nvPr/>
        </p:nvSpPr>
        <p:spPr>
          <a:xfrm>
            <a:off x="1219200" y="2552700"/>
            <a:ext cx="15849600" cy="5859489"/>
          </a:xfrm>
          <a:prstGeom prst="rect">
            <a:avLst/>
          </a:prstGeom>
          <a:noFill/>
        </p:spPr>
        <p:txBody>
          <a:bodyPr wrap="square" rtlCol="0">
            <a:spAutoFit/>
          </a:bodyPr>
          <a:lstStyle/>
          <a:p>
            <a:pPr algn="ctr" rtl="1"/>
            <a:r>
              <a:rPr lang="ar-SA" sz="4400" b="1" dirty="0">
                <a:solidFill>
                  <a:srgbClr val="7030A0"/>
                </a:solidFill>
                <a:latin typeface="+mj-lt"/>
                <a:ea typeface="+mj-ea"/>
                <a:cs typeface="+mj-cs"/>
              </a:rPr>
              <a:t>" الشكر والتقدير"</a:t>
            </a:r>
            <a:endParaRPr lang="ar-EG" sz="4400" b="1" dirty="0">
              <a:solidFill>
                <a:srgbClr val="7030A0"/>
              </a:solidFill>
              <a:latin typeface="+mj-lt"/>
              <a:ea typeface="+mj-ea"/>
              <a:cs typeface="+mj-cs"/>
            </a:endParaRPr>
          </a:p>
          <a:p>
            <a:pPr algn="just" rtl="1">
              <a:lnSpc>
                <a:spcPct val="150000"/>
              </a:lnSpc>
            </a:pPr>
            <a:r>
              <a:rPr lang="ar-SA" sz="3200" b="1" spc="11" dirty="0">
                <a:solidFill>
                  <a:srgbClr val="3275C5"/>
                </a:solidFill>
                <a:latin typeface="Source Sans Pro"/>
              </a:rPr>
              <a:t>الحمد لله الذي رزقنا القوة لإتمام عمل هذا المشروع وتقديمة كما رأيتموه حاولنا علي قد المستطاع تحليل وتفصيل مدي اهمية هذا المشروع وفي نهاية مشوارنا نشكر ربنا احسن شكر علي نعمه العديدة الكثيرة ثم نتقدم بكامل الشكر والعرفان الي المهندس طه رجب قائد المعهد العالي لتكنولوجيا النقل نحو التقدم والتطور والانضباط والذي شهده المعهد في عهده تطور هائل كما نتقدم بالشكر الي المهندس محمد سعد علي اشرافه وتقديمه النصح والتوجيه اذا كان</a:t>
            </a:r>
            <a:r>
              <a:rPr lang="ar-EG" sz="3200" b="1" spc="11" dirty="0">
                <a:solidFill>
                  <a:srgbClr val="3275C5"/>
                </a:solidFill>
                <a:latin typeface="Source Sans Pro"/>
              </a:rPr>
              <a:t> </a:t>
            </a:r>
            <a:r>
              <a:rPr lang="ar-SA" sz="3200" b="1" spc="11" dirty="0">
                <a:solidFill>
                  <a:srgbClr val="3275C5"/>
                </a:solidFill>
                <a:latin typeface="Source Sans Pro"/>
              </a:rPr>
              <a:t>لملحوظاته وتوجيهاته الفضل الكبير في هذا المشروع واخيرا نتوجه بالشكر والتقدير الي كل من مد يد العون والمساعدة والتشجيع والدعم في انجاز هذا المشروع نسال الله ان ينال هذا المشروع اعجابكم وفي الختام ندعوا الله ان ينير لنا طريقنا وان يحفظ مصرنا الحبيبة وان نري الهيئة القومية لسكك حديد مصر في احسن حال ومن</a:t>
            </a:r>
            <a:r>
              <a:rPr lang="ar-EG" sz="3200" b="1" spc="11" dirty="0">
                <a:solidFill>
                  <a:srgbClr val="3275C5"/>
                </a:solidFill>
                <a:latin typeface="Source Sans Pro"/>
              </a:rPr>
              <a:t> </a:t>
            </a:r>
            <a:r>
              <a:rPr lang="ar-SA" sz="3200" b="1" spc="11" dirty="0">
                <a:solidFill>
                  <a:srgbClr val="3275C5"/>
                </a:solidFill>
                <a:latin typeface="Source Sans Pro"/>
              </a:rPr>
              <a:t>الدول المتقدمة</a:t>
            </a:r>
            <a:r>
              <a:rPr lang="ar-EG" sz="3200" b="1" spc="11" dirty="0">
                <a:solidFill>
                  <a:srgbClr val="3275C5"/>
                </a:solidFill>
                <a:latin typeface="Source Sans Pro"/>
              </a:rPr>
              <a:t>.</a:t>
            </a:r>
            <a:endParaRPr lang="en-US" sz="3200" b="1" spc="11" dirty="0">
              <a:solidFill>
                <a:srgbClr val="3275C5"/>
              </a:solidFill>
              <a:latin typeface="Source Sans Pro"/>
            </a:endParaRPr>
          </a:p>
        </p:txBody>
      </p:sp>
      <p:sp>
        <p:nvSpPr>
          <p:cNvPr id="4" name="Freeform 8">
            <a:extLst>
              <a:ext uri="{FF2B5EF4-FFF2-40B4-BE49-F238E27FC236}">
                <a16:creationId xmlns:a16="http://schemas.microsoft.com/office/drawing/2014/main" id="{4C55D90F-D4D3-7D54-6CA8-E649B0E44353}"/>
              </a:ext>
            </a:extLst>
          </p:cNvPr>
          <p:cNvSpPr/>
          <p:nvPr/>
        </p:nvSpPr>
        <p:spPr>
          <a:xfrm rot="19038217">
            <a:off x="-2150393" y="-1597808"/>
            <a:ext cx="6000674" cy="4342306"/>
          </a:xfrm>
          <a:custGeom>
            <a:avLst/>
            <a:gdLst/>
            <a:ahLst/>
            <a:cxnLst/>
            <a:rect l="l" t="t" r="r" b="b"/>
            <a:pathLst>
              <a:path w="6000674" h="4342306">
                <a:moveTo>
                  <a:pt x="0" y="0"/>
                </a:moveTo>
                <a:lnTo>
                  <a:pt x="6000674" y="0"/>
                </a:lnTo>
                <a:lnTo>
                  <a:pt x="6000674" y="4342306"/>
                </a:lnTo>
                <a:lnTo>
                  <a:pt x="0" y="434230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9">
            <a:extLst>
              <a:ext uri="{FF2B5EF4-FFF2-40B4-BE49-F238E27FC236}">
                <a16:creationId xmlns:a16="http://schemas.microsoft.com/office/drawing/2014/main" id="{53A72829-C8F0-8847-E23A-1C27DBAA6508}"/>
              </a:ext>
            </a:extLst>
          </p:cNvPr>
          <p:cNvSpPr/>
          <p:nvPr/>
        </p:nvSpPr>
        <p:spPr>
          <a:xfrm rot="7616117">
            <a:off x="15473238" y="7167973"/>
            <a:ext cx="6000674" cy="4342306"/>
          </a:xfrm>
          <a:custGeom>
            <a:avLst/>
            <a:gdLst/>
            <a:ahLst/>
            <a:cxnLst/>
            <a:rect l="l" t="t" r="r" b="b"/>
            <a:pathLst>
              <a:path w="6000674" h="4342306">
                <a:moveTo>
                  <a:pt x="0" y="0"/>
                </a:moveTo>
                <a:lnTo>
                  <a:pt x="6000675" y="0"/>
                </a:lnTo>
                <a:lnTo>
                  <a:pt x="6000675" y="4342306"/>
                </a:lnTo>
                <a:lnTo>
                  <a:pt x="0" y="434230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1000"/>
                                        <p:tgtEl>
                                          <p:spTgt spid="11">
                                            <p:txEl>
                                              <p:pRg st="0" end="0"/>
                                            </p:txEl>
                                          </p:spTgt>
                                        </p:tgtEl>
                                      </p:cBhvr>
                                    </p:animEffect>
                                    <p:anim calcmode="lin" valueType="num">
                                      <p:cBhvr>
                                        <p:cTn id="8"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2">
                                            <p:txEl>
                                              <p:pRg st="0" end="0"/>
                                            </p:txEl>
                                          </p:spTgt>
                                        </p:tgtEl>
                                        <p:attrNameLst>
                                          <p:attrName>style.visibility</p:attrName>
                                        </p:attrNameLst>
                                      </p:cBhvr>
                                      <p:to>
                                        <p:strVal val="visible"/>
                                      </p:to>
                                    </p:set>
                                    <p:animEffect transition="in" filter="fade">
                                      <p:cBhvr>
                                        <p:cTn id="14" dur="500"/>
                                        <p:tgtEl>
                                          <p:spTgt spid="12">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animEffect transition="in" filter="fade">
                                      <p:cBhvr>
                                        <p:cTn id="19" dur="500"/>
                                        <p:tgtEl>
                                          <p:spTgt spid="1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F9540AC-031F-3D73-74DB-51281DBAC4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516600" cy="10287000"/>
          </a:xfrm>
          <a:prstGeom prst="rect">
            <a:avLst/>
          </a:prstGeom>
        </p:spPr>
      </p:pic>
      <p:sp>
        <p:nvSpPr>
          <p:cNvPr id="3" name="TextBox 13">
            <a:extLst>
              <a:ext uri="{FF2B5EF4-FFF2-40B4-BE49-F238E27FC236}">
                <a16:creationId xmlns:a16="http://schemas.microsoft.com/office/drawing/2014/main" id="{253205D8-75AD-5DCF-2185-335A9A23E29B}"/>
              </a:ext>
            </a:extLst>
          </p:cNvPr>
          <p:cNvSpPr txBox="1"/>
          <p:nvPr/>
        </p:nvSpPr>
        <p:spPr>
          <a:xfrm>
            <a:off x="5537161" y="513060"/>
            <a:ext cx="7442278" cy="553998"/>
          </a:xfrm>
          <a:prstGeom prst="rect">
            <a:avLst/>
          </a:prstGeom>
        </p:spPr>
        <p:txBody>
          <a:bodyPr wrap="square" lIns="0" tIns="0" rIns="0" bIns="0" rtlCol="0" anchor="t">
            <a:spAutoFit/>
          </a:bodyPr>
          <a:lstStyle/>
          <a:p>
            <a:pPr algn="ctr"/>
            <a:r>
              <a:rPr lang="en-US" sz="3600" b="1" u="sng" kern="1400" spc="100" dirty="0">
                <a:solidFill>
                  <a:srgbClr val="7030A0"/>
                </a:solidFill>
                <a:latin typeface="Agency FB" panose="020B0503020202020204" pitchFamily="34" charset="0"/>
                <a:ea typeface="Times New Roman" panose="02020603050405020304" pitchFamily="18" charset="0"/>
                <a:cs typeface="Times New Roman (Headings CS)"/>
              </a:rPr>
              <a:t>Team Members</a:t>
            </a:r>
            <a:endParaRPr lang="en-US" sz="3600" u="sng" dirty="0">
              <a:solidFill>
                <a:srgbClr val="7030A0"/>
              </a:solidFill>
            </a:endParaRPr>
          </a:p>
        </p:txBody>
      </p:sp>
      <p:pic>
        <p:nvPicPr>
          <p:cNvPr id="4" name="Picture 3">
            <a:extLst>
              <a:ext uri="{FF2B5EF4-FFF2-40B4-BE49-F238E27FC236}">
                <a16:creationId xmlns:a16="http://schemas.microsoft.com/office/drawing/2014/main" id="{DF4D9C62-4EA1-21F0-D16B-29080D6D0D9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12369" y="967441"/>
            <a:ext cx="3715114" cy="3715114"/>
          </a:xfrm>
          <a:prstGeom prst="rect">
            <a:avLst/>
          </a:prstGeom>
        </p:spPr>
      </p:pic>
      <p:sp>
        <p:nvSpPr>
          <p:cNvPr id="5" name="TextBox 4">
            <a:extLst>
              <a:ext uri="{FF2B5EF4-FFF2-40B4-BE49-F238E27FC236}">
                <a16:creationId xmlns:a16="http://schemas.microsoft.com/office/drawing/2014/main" id="{EECA42E0-B028-7E1C-7221-19521A897DF8}"/>
              </a:ext>
            </a:extLst>
          </p:cNvPr>
          <p:cNvSpPr txBox="1"/>
          <p:nvPr/>
        </p:nvSpPr>
        <p:spPr>
          <a:xfrm>
            <a:off x="474207" y="4114934"/>
            <a:ext cx="4711852" cy="1248227"/>
          </a:xfrm>
          <a:prstGeom prst="rect">
            <a:avLst/>
          </a:prstGeom>
          <a:noFill/>
        </p:spPr>
        <p:txBody>
          <a:bodyPr wrap="square" rtlCol="0">
            <a:spAutoFit/>
          </a:bodyPr>
          <a:lstStyle/>
          <a:p>
            <a:pPr algn="ctr" rtl="1">
              <a:lnSpc>
                <a:spcPct val="250000"/>
              </a:lnSpc>
            </a:pPr>
            <a:r>
              <a:rPr lang="en-US" sz="3600" b="1" spc="11" dirty="0" err="1">
                <a:solidFill>
                  <a:srgbClr val="3275C5"/>
                </a:solidFill>
                <a:latin typeface="Source Sans Pro"/>
              </a:rPr>
              <a:t>Khaled</a:t>
            </a:r>
            <a:r>
              <a:rPr lang="en-US" sz="3600" b="1" spc="11" dirty="0">
                <a:solidFill>
                  <a:srgbClr val="3275C5"/>
                </a:solidFill>
                <a:latin typeface="Source Sans Pro"/>
              </a:rPr>
              <a:t> Mahmoud</a:t>
            </a:r>
            <a:endParaRPr lang="ar-EG" sz="3600" b="1" spc="11" dirty="0">
              <a:solidFill>
                <a:srgbClr val="3275C5"/>
              </a:solidFill>
              <a:latin typeface="Source Sans Pro"/>
            </a:endParaRPr>
          </a:p>
        </p:txBody>
      </p:sp>
      <p:pic>
        <p:nvPicPr>
          <p:cNvPr id="6" name="Picture 5">
            <a:extLst>
              <a:ext uri="{FF2B5EF4-FFF2-40B4-BE49-F238E27FC236}">
                <a16:creationId xmlns:a16="http://schemas.microsoft.com/office/drawing/2014/main" id="{2BA50A21-AB03-B792-CC03-0C014C0DD4F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10759" y="1041183"/>
            <a:ext cx="3500634" cy="3500634"/>
          </a:xfrm>
          <a:prstGeom prst="rect">
            <a:avLst/>
          </a:prstGeom>
        </p:spPr>
      </p:pic>
      <p:sp>
        <p:nvSpPr>
          <p:cNvPr id="7" name="TextBox 6">
            <a:extLst>
              <a:ext uri="{FF2B5EF4-FFF2-40B4-BE49-F238E27FC236}">
                <a16:creationId xmlns:a16="http://schemas.microsoft.com/office/drawing/2014/main" id="{8929B16F-DEEC-C844-6BE0-E85F4BD13904}"/>
              </a:ext>
            </a:extLst>
          </p:cNvPr>
          <p:cNvSpPr txBox="1"/>
          <p:nvPr/>
        </p:nvSpPr>
        <p:spPr>
          <a:xfrm>
            <a:off x="5118347" y="4083761"/>
            <a:ext cx="4711852" cy="1248227"/>
          </a:xfrm>
          <a:prstGeom prst="rect">
            <a:avLst/>
          </a:prstGeom>
          <a:noFill/>
        </p:spPr>
        <p:txBody>
          <a:bodyPr wrap="square" rtlCol="0">
            <a:spAutoFit/>
          </a:bodyPr>
          <a:lstStyle/>
          <a:p>
            <a:pPr algn="ctr" rtl="1">
              <a:lnSpc>
                <a:spcPct val="250000"/>
              </a:lnSpc>
            </a:pPr>
            <a:r>
              <a:rPr lang="en-US" sz="3600" b="1" spc="11" dirty="0">
                <a:solidFill>
                  <a:srgbClr val="3275C5"/>
                </a:solidFill>
                <a:latin typeface="Source Sans Pro"/>
              </a:rPr>
              <a:t>Ahmed </a:t>
            </a:r>
            <a:r>
              <a:rPr lang="en-US" sz="3600" b="1" spc="11" dirty="0" err="1">
                <a:solidFill>
                  <a:srgbClr val="3275C5"/>
                </a:solidFill>
                <a:latin typeface="Source Sans Pro"/>
              </a:rPr>
              <a:t>Mohey</a:t>
            </a:r>
            <a:endParaRPr lang="ar-EG" sz="3600" b="1" spc="11" dirty="0">
              <a:solidFill>
                <a:srgbClr val="3275C5"/>
              </a:solidFill>
              <a:latin typeface="Source Sans Pro"/>
            </a:endParaRPr>
          </a:p>
        </p:txBody>
      </p:sp>
      <p:pic>
        <p:nvPicPr>
          <p:cNvPr id="8" name="Picture 7">
            <a:extLst>
              <a:ext uri="{FF2B5EF4-FFF2-40B4-BE49-F238E27FC236}">
                <a16:creationId xmlns:a16="http://schemas.microsoft.com/office/drawing/2014/main" id="{7F511CC4-E007-8BBD-C1BF-D588D03E8A0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815747" y="1105496"/>
            <a:ext cx="3439006" cy="3439004"/>
          </a:xfrm>
          <a:prstGeom prst="rect">
            <a:avLst/>
          </a:prstGeom>
        </p:spPr>
      </p:pic>
      <p:sp>
        <p:nvSpPr>
          <p:cNvPr id="9" name="TextBox 8">
            <a:extLst>
              <a:ext uri="{FF2B5EF4-FFF2-40B4-BE49-F238E27FC236}">
                <a16:creationId xmlns:a16="http://schemas.microsoft.com/office/drawing/2014/main" id="{30F24666-E80F-7AC7-4243-2B002FDF4B2C}"/>
              </a:ext>
            </a:extLst>
          </p:cNvPr>
          <p:cNvSpPr txBox="1"/>
          <p:nvPr/>
        </p:nvSpPr>
        <p:spPr>
          <a:xfrm>
            <a:off x="9378619" y="4114934"/>
            <a:ext cx="4711852" cy="1248227"/>
          </a:xfrm>
          <a:prstGeom prst="rect">
            <a:avLst/>
          </a:prstGeom>
          <a:noFill/>
        </p:spPr>
        <p:txBody>
          <a:bodyPr wrap="square" rtlCol="0">
            <a:spAutoFit/>
          </a:bodyPr>
          <a:lstStyle/>
          <a:p>
            <a:pPr algn="ctr" rtl="1">
              <a:lnSpc>
                <a:spcPct val="250000"/>
              </a:lnSpc>
            </a:pPr>
            <a:r>
              <a:rPr lang="en-US" sz="3600" b="1" spc="11" dirty="0" err="1">
                <a:solidFill>
                  <a:srgbClr val="3275C5"/>
                </a:solidFill>
                <a:latin typeface="Source Sans Pro"/>
              </a:rPr>
              <a:t>AhmedTamer</a:t>
            </a:r>
            <a:endParaRPr lang="ar-EG" sz="3600" b="1" spc="11" dirty="0">
              <a:solidFill>
                <a:srgbClr val="3275C5"/>
              </a:solidFill>
              <a:latin typeface="Source Sans Pro"/>
            </a:endParaRPr>
          </a:p>
        </p:txBody>
      </p:sp>
      <p:pic>
        <p:nvPicPr>
          <p:cNvPr id="10" name="Picture 9">
            <a:extLst>
              <a:ext uri="{FF2B5EF4-FFF2-40B4-BE49-F238E27FC236}">
                <a16:creationId xmlns:a16="http://schemas.microsoft.com/office/drawing/2014/main" id="{1E8366A4-6EA1-6356-7DEA-80196D4DF30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4055886" y="1157738"/>
            <a:ext cx="3398418" cy="3398418"/>
          </a:xfrm>
          <a:prstGeom prst="rect">
            <a:avLst/>
          </a:prstGeom>
        </p:spPr>
      </p:pic>
      <p:sp>
        <p:nvSpPr>
          <p:cNvPr id="11" name="TextBox 10">
            <a:extLst>
              <a:ext uri="{FF2B5EF4-FFF2-40B4-BE49-F238E27FC236}">
                <a16:creationId xmlns:a16="http://schemas.microsoft.com/office/drawing/2014/main" id="{F13A5BA3-698E-B2E0-D9F4-1F8061E6C6FA}"/>
              </a:ext>
            </a:extLst>
          </p:cNvPr>
          <p:cNvSpPr txBox="1"/>
          <p:nvPr/>
        </p:nvSpPr>
        <p:spPr>
          <a:xfrm>
            <a:off x="13388071" y="4114820"/>
            <a:ext cx="4711852" cy="1248227"/>
          </a:xfrm>
          <a:prstGeom prst="rect">
            <a:avLst/>
          </a:prstGeom>
          <a:noFill/>
        </p:spPr>
        <p:txBody>
          <a:bodyPr wrap="square" rtlCol="0">
            <a:spAutoFit/>
          </a:bodyPr>
          <a:lstStyle/>
          <a:p>
            <a:pPr algn="ctr" rtl="1">
              <a:lnSpc>
                <a:spcPct val="250000"/>
              </a:lnSpc>
            </a:pPr>
            <a:r>
              <a:rPr lang="en-US" sz="3600" b="1" spc="11" dirty="0">
                <a:solidFill>
                  <a:srgbClr val="3275C5"/>
                </a:solidFill>
                <a:latin typeface="Source Sans Pro"/>
              </a:rPr>
              <a:t>Ibrahim </a:t>
            </a:r>
            <a:r>
              <a:rPr lang="en-US" sz="3600" b="1" spc="11" dirty="0" err="1">
                <a:solidFill>
                  <a:srgbClr val="3275C5"/>
                </a:solidFill>
                <a:latin typeface="Source Sans Pro"/>
              </a:rPr>
              <a:t>Gabil</a:t>
            </a:r>
            <a:endParaRPr lang="ar-EG" sz="3600" b="1" spc="11" dirty="0">
              <a:solidFill>
                <a:srgbClr val="3275C5"/>
              </a:solidFill>
              <a:latin typeface="Source Sans Pro"/>
            </a:endParaRPr>
          </a:p>
        </p:txBody>
      </p:sp>
      <p:pic>
        <p:nvPicPr>
          <p:cNvPr id="12" name="Picture 11">
            <a:extLst>
              <a:ext uri="{FF2B5EF4-FFF2-40B4-BE49-F238E27FC236}">
                <a16:creationId xmlns:a16="http://schemas.microsoft.com/office/drawing/2014/main" id="{793EB375-A53F-1DB8-1842-B00DAE4FC8F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67269" y="5558610"/>
            <a:ext cx="3460214" cy="3460214"/>
          </a:xfrm>
          <a:prstGeom prst="rect">
            <a:avLst/>
          </a:prstGeom>
        </p:spPr>
      </p:pic>
      <p:sp>
        <p:nvSpPr>
          <p:cNvPr id="13" name="TextBox 12">
            <a:extLst>
              <a:ext uri="{FF2B5EF4-FFF2-40B4-BE49-F238E27FC236}">
                <a16:creationId xmlns:a16="http://schemas.microsoft.com/office/drawing/2014/main" id="{D98D41C4-6AE0-C67C-405C-55571AD7F9B4}"/>
              </a:ext>
            </a:extLst>
          </p:cNvPr>
          <p:cNvSpPr txBox="1"/>
          <p:nvPr/>
        </p:nvSpPr>
        <p:spPr>
          <a:xfrm>
            <a:off x="474207" y="8479481"/>
            <a:ext cx="4711852" cy="1248227"/>
          </a:xfrm>
          <a:prstGeom prst="rect">
            <a:avLst/>
          </a:prstGeom>
          <a:noFill/>
        </p:spPr>
        <p:txBody>
          <a:bodyPr wrap="square" rtlCol="0">
            <a:spAutoFit/>
          </a:bodyPr>
          <a:lstStyle/>
          <a:p>
            <a:pPr algn="ctr" rtl="1">
              <a:lnSpc>
                <a:spcPct val="250000"/>
              </a:lnSpc>
            </a:pPr>
            <a:r>
              <a:rPr lang="en-US" sz="3600" b="1" spc="11" dirty="0">
                <a:solidFill>
                  <a:srgbClr val="3275C5"/>
                </a:solidFill>
                <a:latin typeface="Source Sans Pro"/>
              </a:rPr>
              <a:t>Mohamed </a:t>
            </a:r>
            <a:r>
              <a:rPr lang="en-US" sz="3600" b="1" spc="11" dirty="0" err="1">
                <a:solidFill>
                  <a:srgbClr val="3275C5"/>
                </a:solidFill>
                <a:latin typeface="Source Sans Pro"/>
              </a:rPr>
              <a:t>Ramdan</a:t>
            </a:r>
            <a:endParaRPr lang="ar-EG" sz="3600" b="1" spc="11" dirty="0">
              <a:solidFill>
                <a:srgbClr val="3275C5"/>
              </a:solidFill>
              <a:latin typeface="Source Sans Pro"/>
            </a:endParaRPr>
          </a:p>
        </p:txBody>
      </p:sp>
      <p:pic>
        <p:nvPicPr>
          <p:cNvPr id="14" name="Picture 13">
            <a:extLst>
              <a:ext uri="{FF2B5EF4-FFF2-40B4-BE49-F238E27FC236}">
                <a16:creationId xmlns:a16="http://schemas.microsoft.com/office/drawing/2014/main" id="{74FC5E51-603B-9130-047F-D8EA1FE893E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496327" y="5557037"/>
            <a:ext cx="3424056" cy="3424054"/>
          </a:xfrm>
          <a:prstGeom prst="rect">
            <a:avLst/>
          </a:prstGeom>
        </p:spPr>
      </p:pic>
      <p:sp>
        <p:nvSpPr>
          <p:cNvPr id="15" name="TextBox 14">
            <a:extLst>
              <a:ext uri="{FF2B5EF4-FFF2-40B4-BE49-F238E27FC236}">
                <a16:creationId xmlns:a16="http://schemas.microsoft.com/office/drawing/2014/main" id="{06664BDF-C1AE-BEEF-29C2-703D2F188B4E}"/>
              </a:ext>
            </a:extLst>
          </p:cNvPr>
          <p:cNvSpPr txBox="1"/>
          <p:nvPr/>
        </p:nvSpPr>
        <p:spPr>
          <a:xfrm>
            <a:off x="5087110" y="8446500"/>
            <a:ext cx="4711852" cy="1248227"/>
          </a:xfrm>
          <a:prstGeom prst="rect">
            <a:avLst/>
          </a:prstGeom>
          <a:noFill/>
        </p:spPr>
        <p:txBody>
          <a:bodyPr wrap="square" rtlCol="0">
            <a:spAutoFit/>
          </a:bodyPr>
          <a:lstStyle/>
          <a:p>
            <a:pPr algn="ctr" rtl="1">
              <a:lnSpc>
                <a:spcPct val="250000"/>
              </a:lnSpc>
            </a:pPr>
            <a:r>
              <a:rPr lang="en-US" sz="3600" b="1" spc="11" dirty="0">
                <a:solidFill>
                  <a:srgbClr val="3275C5"/>
                </a:solidFill>
                <a:latin typeface="Source Sans Pro"/>
              </a:rPr>
              <a:t>Kareem Mohamed</a:t>
            </a:r>
            <a:endParaRPr lang="ar-EG" sz="3600" b="1" spc="11" dirty="0">
              <a:solidFill>
                <a:srgbClr val="3275C5"/>
              </a:solidFill>
              <a:latin typeface="Source Sans Pro"/>
            </a:endParaRPr>
          </a:p>
        </p:txBody>
      </p:sp>
      <p:pic>
        <p:nvPicPr>
          <p:cNvPr id="17" name="Picture 16">
            <a:extLst>
              <a:ext uri="{FF2B5EF4-FFF2-40B4-BE49-F238E27FC236}">
                <a16:creationId xmlns:a16="http://schemas.microsoft.com/office/drawing/2014/main" id="{03DB2158-484A-D133-CE5F-A2DDA3CA2407}"/>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3982992" y="5518774"/>
            <a:ext cx="3460214" cy="3460214"/>
          </a:xfrm>
          <a:prstGeom prst="rect">
            <a:avLst/>
          </a:prstGeom>
        </p:spPr>
      </p:pic>
      <p:pic>
        <p:nvPicPr>
          <p:cNvPr id="19" name="Picture 18">
            <a:extLst>
              <a:ext uri="{FF2B5EF4-FFF2-40B4-BE49-F238E27FC236}">
                <a16:creationId xmlns:a16="http://schemas.microsoft.com/office/drawing/2014/main" id="{B6BBC82B-DB1E-0372-E84F-35F8B4217B91}"/>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986361" y="5518774"/>
            <a:ext cx="3460214" cy="3460214"/>
          </a:xfrm>
          <a:prstGeom prst="rect">
            <a:avLst/>
          </a:prstGeom>
        </p:spPr>
      </p:pic>
      <p:sp>
        <p:nvSpPr>
          <p:cNvPr id="23" name="TextBox 22">
            <a:extLst>
              <a:ext uri="{FF2B5EF4-FFF2-40B4-BE49-F238E27FC236}">
                <a16:creationId xmlns:a16="http://schemas.microsoft.com/office/drawing/2014/main" id="{D3BD6E2E-C17F-65B5-2C18-1E6A31A7348C}"/>
              </a:ext>
            </a:extLst>
          </p:cNvPr>
          <p:cNvSpPr txBox="1"/>
          <p:nvPr/>
        </p:nvSpPr>
        <p:spPr>
          <a:xfrm>
            <a:off x="9830199" y="8424514"/>
            <a:ext cx="4109272" cy="1252651"/>
          </a:xfrm>
          <a:prstGeom prst="rect">
            <a:avLst/>
          </a:prstGeom>
          <a:noFill/>
        </p:spPr>
        <p:txBody>
          <a:bodyPr wrap="square" rtlCol="0">
            <a:spAutoFit/>
          </a:bodyPr>
          <a:lstStyle/>
          <a:p>
            <a:pPr marL="0" algn="ctr" rtl="1" eaLnBrk="1" latinLnBrk="0" hangingPunct="1">
              <a:lnSpc>
                <a:spcPct val="250000"/>
              </a:lnSpc>
              <a:spcBef>
                <a:spcPts val="0"/>
              </a:spcBef>
              <a:spcAft>
                <a:spcPts val="0"/>
              </a:spcAft>
            </a:pPr>
            <a:r>
              <a:rPr lang="en-US" sz="3600" b="1" kern="1200" spc="11" dirty="0">
                <a:solidFill>
                  <a:srgbClr val="3275C5"/>
                </a:solidFill>
                <a:effectLst/>
                <a:latin typeface="Source Sans Pro" panose="020B0503030403020204" pitchFamily="34" charset="0"/>
                <a:ea typeface="+mn-ea"/>
                <a:cs typeface="+mn-cs"/>
              </a:rPr>
              <a:t>Ibrahim Mohamed </a:t>
            </a:r>
            <a:endParaRPr lang="en-US" sz="3600" dirty="0">
              <a:effectLst/>
            </a:endParaRPr>
          </a:p>
        </p:txBody>
      </p:sp>
      <p:sp>
        <p:nvSpPr>
          <p:cNvPr id="24" name="TextBox 23">
            <a:extLst>
              <a:ext uri="{FF2B5EF4-FFF2-40B4-BE49-F238E27FC236}">
                <a16:creationId xmlns:a16="http://schemas.microsoft.com/office/drawing/2014/main" id="{A78AE07E-ECEC-06EF-BABE-AC7FA604D2C1}"/>
              </a:ext>
            </a:extLst>
          </p:cNvPr>
          <p:cNvSpPr txBox="1"/>
          <p:nvPr/>
        </p:nvSpPr>
        <p:spPr>
          <a:xfrm>
            <a:off x="14090471" y="9050839"/>
            <a:ext cx="3698550" cy="1200329"/>
          </a:xfrm>
          <a:prstGeom prst="rect">
            <a:avLst/>
          </a:prstGeom>
          <a:noFill/>
        </p:spPr>
        <p:txBody>
          <a:bodyPr wrap="square" rtlCol="0">
            <a:spAutoFit/>
          </a:bodyPr>
          <a:lstStyle/>
          <a:p>
            <a:r>
              <a:rPr lang="en-US" sz="3600" b="1" kern="1200" spc="11" dirty="0">
                <a:solidFill>
                  <a:srgbClr val="3275C5"/>
                </a:solidFill>
                <a:effectLst/>
                <a:latin typeface="Source Sans Pro" panose="020B0503030403020204" pitchFamily="34" charset="0"/>
                <a:ea typeface="+mn-ea"/>
                <a:cs typeface="+mn-cs"/>
              </a:rPr>
              <a:t>Khaled Mesbah</a:t>
            </a:r>
            <a:endParaRPr lang="en-US" sz="3600" dirty="0">
              <a:effectLst/>
            </a:endParaRPr>
          </a:p>
          <a:p>
            <a:endParaRPr lang="en-US" sz="3600" dirty="0"/>
          </a:p>
        </p:txBody>
      </p:sp>
    </p:spTree>
    <p:extLst>
      <p:ext uri="{BB962C8B-B14F-4D97-AF65-F5344CB8AC3E}">
        <p14:creationId xmlns:p14="http://schemas.microsoft.com/office/powerpoint/2010/main" val="806324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down)">
                                      <p:cBhvr>
                                        <p:cTn id="14" dur="500"/>
                                        <p:tgtEl>
                                          <p:spTgt spid="4"/>
                                        </p:tgtEl>
                                      </p:cBhvr>
                                    </p:animEffect>
                                  </p:childTnLst>
                                </p:cTn>
                              </p:par>
                              <p:par>
                                <p:cTn id="15" presetID="22" presetClass="entr" presetSubtype="4"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par>
                                <p:cTn id="18" presetID="22" presetClass="entr" presetSubtype="4" fill="hold"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down)">
                                      <p:cBhvr>
                                        <p:cTn id="20" dur="500"/>
                                        <p:tgtEl>
                                          <p:spTgt spid="6"/>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down)">
                                      <p:cBhvr>
                                        <p:cTn id="23" dur="500"/>
                                        <p:tgtEl>
                                          <p:spTgt spid="7"/>
                                        </p:tgtEl>
                                      </p:cBhvr>
                                    </p:animEffect>
                                  </p:childTnLst>
                                </p:cTn>
                              </p:par>
                              <p:par>
                                <p:cTn id="24" presetID="22" presetClass="entr" presetSubtype="4" fill="hold"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down)">
                                      <p:cBhvr>
                                        <p:cTn id="26" dur="500"/>
                                        <p:tgtEl>
                                          <p:spTgt spid="8"/>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wipe(down)">
                                      <p:cBhvr>
                                        <p:cTn id="29" dur="500"/>
                                        <p:tgtEl>
                                          <p:spTgt spid="9"/>
                                        </p:tgtEl>
                                      </p:cBhvr>
                                    </p:animEffect>
                                  </p:childTnLst>
                                </p:cTn>
                              </p:par>
                              <p:par>
                                <p:cTn id="30" presetID="22" presetClass="entr" presetSubtype="4" fill="hold"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down)">
                                      <p:cBhvr>
                                        <p:cTn id="32" dur="500"/>
                                        <p:tgtEl>
                                          <p:spTgt spid="10"/>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down)">
                                      <p:cBhvr>
                                        <p:cTn id="35" dur="500"/>
                                        <p:tgtEl>
                                          <p:spTgt spid="11"/>
                                        </p:tgtEl>
                                      </p:cBhvr>
                                    </p:animEffect>
                                  </p:childTnLst>
                                </p:cTn>
                              </p:par>
                              <p:par>
                                <p:cTn id="36" presetID="22" presetClass="entr" presetSubtype="4" fill="hold"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down)">
                                      <p:cBhvr>
                                        <p:cTn id="38" dur="500"/>
                                        <p:tgtEl>
                                          <p:spTgt spid="12"/>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wipe(down)">
                                      <p:cBhvr>
                                        <p:cTn id="41" dur="500"/>
                                        <p:tgtEl>
                                          <p:spTgt spid="13"/>
                                        </p:tgtEl>
                                      </p:cBhvr>
                                    </p:animEffect>
                                  </p:childTnLst>
                                </p:cTn>
                              </p:par>
                              <p:par>
                                <p:cTn id="42" presetID="22" presetClass="entr" presetSubtype="4" fill="hold"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wipe(down)">
                                      <p:cBhvr>
                                        <p:cTn id="44" dur="500"/>
                                        <p:tgtEl>
                                          <p:spTgt spid="14"/>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wipe(down)">
                                      <p:cBhvr>
                                        <p:cTn id="47" dur="500"/>
                                        <p:tgtEl>
                                          <p:spTgt spid="15"/>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23"/>
                                        </p:tgtEl>
                                        <p:attrNameLst>
                                          <p:attrName>style.visibility</p:attrName>
                                        </p:attrNameLst>
                                      </p:cBhvr>
                                      <p:to>
                                        <p:strVal val="visible"/>
                                      </p:to>
                                    </p:set>
                                    <p:animEffect transition="in" filter="wipe(down)">
                                      <p:cBhvr>
                                        <p:cTn id="50" dur="500"/>
                                        <p:tgtEl>
                                          <p:spTgt spid="23"/>
                                        </p:tgtEl>
                                      </p:cBhvr>
                                    </p:animEffect>
                                  </p:childTnLst>
                                </p:cTn>
                              </p:par>
                              <p:par>
                                <p:cTn id="51" presetID="22" presetClass="entr" presetSubtype="4" fill="hold" grpId="0" nodeType="with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wipe(down)">
                                      <p:cBhvr>
                                        <p:cTn id="53" dur="500"/>
                                        <p:tgtEl>
                                          <p:spTgt spid="24"/>
                                        </p:tgtEl>
                                      </p:cBhvr>
                                    </p:animEffect>
                                  </p:childTnLst>
                                </p:cTn>
                              </p:par>
                              <p:par>
                                <p:cTn id="54" presetID="22" presetClass="entr" presetSubtype="4" fill="hold"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wipe(down)">
                                      <p:cBhvr>
                                        <p:cTn id="56" dur="500"/>
                                        <p:tgtEl>
                                          <p:spTgt spid="19"/>
                                        </p:tgtEl>
                                      </p:cBhvr>
                                    </p:animEffect>
                                  </p:childTnLst>
                                </p:cTn>
                              </p:par>
                              <p:par>
                                <p:cTn id="57" presetID="22" presetClass="entr" presetSubtype="4" fill="hold" nodeType="with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wipe(down)">
                                      <p:cBhvr>
                                        <p:cTn id="5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7" grpId="0"/>
      <p:bldP spid="9" grpId="0"/>
      <p:bldP spid="11" grpId="0"/>
      <p:bldP spid="13" grpId="0"/>
      <p:bldP spid="15" grpId="0"/>
      <p:bldP spid="23" grpId="0"/>
      <p:bldP spid="24"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2" name="Freeform 2"/>
          <p:cNvSpPr/>
          <p:nvPr/>
        </p:nvSpPr>
        <p:spPr>
          <a:xfrm rot="5400000" flipV="1">
            <a:off x="11313811" y="2372981"/>
            <a:ext cx="10522735" cy="5490954"/>
          </a:xfrm>
          <a:custGeom>
            <a:avLst/>
            <a:gdLst/>
            <a:ahLst/>
            <a:cxnLst/>
            <a:rect l="l" t="t" r="r" b="b"/>
            <a:pathLst>
              <a:path w="10522735" h="5490954">
                <a:moveTo>
                  <a:pt x="0" y="5490954"/>
                </a:moveTo>
                <a:lnTo>
                  <a:pt x="10522735" y="5490954"/>
                </a:lnTo>
                <a:lnTo>
                  <a:pt x="10522735" y="0"/>
                </a:lnTo>
                <a:lnTo>
                  <a:pt x="0" y="0"/>
                </a:lnTo>
                <a:lnTo>
                  <a:pt x="0" y="5490954"/>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5" name="Group 5"/>
          <p:cNvGrpSpPr/>
          <p:nvPr/>
        </p:nvGrpSpPr>
        <p:grpSpPr>
          <a:xfrm>
            <a:off x="7709489" y="5140967"/>
            <a:ext cx="8729593" cy="2112876"/>
            <a:chOff x="0" y="0"/>
            <a:chExt cx="9345810" cy="2237465"/>
          </a:xfrm>
        </p:grpSpPr>
        <p:grpSp>
          <p:nvGrpSpPr>
            <p:cNvPr id="6" name="Group 6"/>
            <p:cNvGrpSpPr/>
            <p:nvPr/>
          </p:nvGrpSpPr>
          <p:grpSpPr>
            <a:xfrm>
              <a:off x="0" y="0"/>
              <a:ext cx="9345810" cy="1546271"/>
              <a:chOff x="0" y="0"/>
              <a:chExt cx="1250766" cy="206940"/>
            </a:xfrm>
          </p:grpSpPr>
          <p:sp>
            <p:nvSpPr>
              <p:cNvPr id="7" name="Freeform 7"/>
              <p:cNvSpPr/>
              <p:nvPr/>
            </p:nvSpPr>
            <p:spPr>
              <a:xfrm>
                <a:off x="18844" y="0"/>
                <a:ext cx="1213078" cy="206940"/>
              </a:xfrm>
              <a:custGeom>
                <a:avLst/>
                <a:gdLst/>
                <a:ahLst/>
                <a:cxnLst/>
                <a:rect l="l" t="t" r="r" b="b"/>
                <a:pathLst>
                  <a:path w="1213078" h="206940">
                    <a:moveTo>
                      <a:pt x="218760" y="0"/>
                    </a:moveTo>
                    <a:lnTo>
                      <a:pt x="1197518" y="0"/>
                    </a:lnTo>
                    <a:cubicBezTo>
                      <a:pt x="1203332" y="0"/>
                      <a:pt x="1208579" y="3488"/>
                      <a:pt x="1210829" y="8850"/>
                    </a:cubicBezTo>
                    <a:cubicBezTo>
                      <a:pt x="1213078" y="14212"/>
                      <a:pt x="1211891" y="20399"/>
                      <a:pt x="1207817" y="24548"/>
                    </a:cubicBezTo>
                    <a:lnTo>
                      <a:pt x="1052827" y="182392"/>
                    </a:lnTo>
                    <a:cubicBezTo>
                      <a:pt x="1037408" y="198094"/>
                      <a:pt x="1016325" y="206940"/>
                      <a:pt x="994318" y="206940"/>
                    </a:cubicBezTo>
                    <a:lnTo>
                      <a:pt x="15560" y="206940"/>
                    </a:lnTo>
                    <a:cubicBezTo>
                      <a:pt x="9746" y="206940"/>
                      <a:pt x="4499" y="203452"/>
                      <a:pt x="2249" y="198090"/>
                    </a:cubicBezTo>
                    <a:cubicBezTo>
                      <a:pt x="0" y="192728"/>
                      <a:pt x="1187" y="186541"/>
                      <a:pt x="5261" y="182392"/>
                    </a:cubicBezTo>
                    <a:lnTo>
                      <a:pt x="160251" y="24548"/>
                    </a:lnTo>
                    <a:cubicBezTo>
                      <a:pt x="175670" y="8846"/>
                      <a:pt x="196753" y="0"/>
                      <a:pt x="218760" y="0"/>
                    </a:cubicBezTo>
                    <a:close/>
                  </a:path>
                </a:pathLst>
              </a:custGeom>
              <a:solidFill>
                <a:srgbClr val="3275C5"/>
              </a:solidFill>
            </p:spPr>
          </p:sp>
          <p:sp>
            <p:nvSpPr>
              <p:cNvPr id="8" name="TextBox 8"/>
              <p:cNvSpPr txBox="1"/>
              <p:nvPr/>
            </p:nvSpPr>
            <p:spPr>
              <a:xfrm>
                <a:off x="101600" y="19050"/>
                <a:ext cx="1047566" cy="187890"/>
              </a:xfrm>
              <a:prstGeom prst="rect">
                <a:avLst/>
              </a:prstGeom>
            </p:spPr>
            <p:txBody>
              <a:bodyPr lIns="50800" tIns="50800" rIns="50800" bIns="50800" rtlCol="0" anchor="ctr"/>
              <a:lstStyle/>
              <a:p>
                <a:pPr algn="ctr">
                  <a:lnSpc>
                    <a:spcPts val="1993"/>
                  </a:lnSpc>
                </a:pPr>
                <a:endParaRPr/>
              </a:p>
            </p:txBody>
          </p:sp>
        </p:grpSp>
        <p:grpSp>
          <p:nvGrpSpPr>
            <p:cNvPr id="9" name="Group 9"/>
            <p:cNvGrpSpPr/>
            <p:nvPr/>
          </p:nvGrpSpPr>
          <p:grpSpPr>
            <a:xfrm>
              <a:off x="4292502" y="1449239"/>
              <a:ext cx="4062482" cy="788226"/>
              <a:chOff x="-47572" y="83152"/>
              <a:chExt cx="1211876" cy="235135"/>
            </a:xfrm>
          </p:grpSpPr>
          <p:sp>
            <p:nvSpPr>
              <p:cNvPr id="10" name="Freeform 10"/>
              <p:cNvSpPr/>
              <p:nvPr/>
            </p:nvSpPr>
            <p:spPr>
              <a:xfrm>
                <a:off x="-47572" y="111347"/>
                <a:ext cx="1206553" cy="206940"/>
              </a:xfrm>
              <a:custGeom>
                <a:avLst/>
                <a:gdLst/>
                <a:ahLst/>
                <a:cxnLst/>
                <a:rect l="l" t="t" r="r" b="b"/>
                <a:pathLst>
                  <a:path w="1206553" h="206940">
                    <a:moveTo>
                      <a:pt x="221454" y="0"/>
                    </a:moveTo>
                    <a:lnTo>
                      <a:pt x="1188298" y="0"/>
                    </a:lnTo>
                    <a:cubicBezTo>
                      <a:pt x="1195119" y="0"/>
                      <a:pt x="1201274" y="4093"/>
                      <a:pt x="1203913" y="10382"/>
                    </a:cubicBezTo>
                    <a:cubicBezTo>
                      <a:pt x="1206552" y="16672"/>
                      <a:pt x="1205160" y="23932"/>
                      <a:pt x="1200381" y="28799"/>
                    </a:cubicBezTo>
                    <a:lnTo>
                      <a:pt x="1053737" y="178141"/>
                    </a:lnTo>
                    <a:cubicBezTo>
                      <a:pt x="1035649" y="196563"/>
                      <a:pt x="1010915" y="206940"/>
                      <a:pt x="985098" y="206940"/>
                    </a:cubicBezTo>
                    <a:lnTo>
                      <a:pt x="18254" y="206940"/>
                    </a:lnTo>
                    <a:cubicBezTo>
                      <a:pt x="11433" y="206940"/>
                      <a:pt x="5278" y="202848"/>
                      <a:pt x="2639" y="196558"/>
                    </a:cubicBezTo>
                    <a:cubicBezTo>
                      <a:pt x="0" y="190268"/>
                      <a:pt x="1392" y="183008"/>
                      <a:pt x="6171" y="178141"/>
                    </a:cubicBezTo>
                    <a:lnTo>
                      <a:pt x="152815" y="28799"/>
                    </a:lnTo>
                    <a:cubicBezTo>
                      <a:pt x="170903" y="10377"/>
                      <a:pt x="195637" y="0"/>
                      <a:pt x="221454" y="0"/>
                    </a:cubicBezTo>
                    <a:close/>
                  </a:path>
                </a:pathLst>
              </a:custGeom>
              <a:solidFill>
                <a:srgbClr val="64CAF4"/>
              </a:solidFill>
            </p:spPr>
            <p:txBody>
              <a:bodyPr/>
              <a:lstStyle/>
              <a:p>
                <a:endParaRPr lang="en-US" dirty="0"/>
              </a:p>
            </p:txBody>
          </p:sp>
          <p:sp>
            <p:nvSpPr>
              <p:cNvPr id="11" name="TextBox 11"/>
              <p:cNvSpPr txBox="1"/>
              <p:nvPr/>
            </p:nvSpPr>
            <p:spPr>
              <a:xfrm>
                <a:off x="116738" y="83152"/>
                <a:ext cx="1047566" cy="187890"/>
              </a:xfrm>
              <a:prstGeom prst="rect">
                <a:avLst/>
              </a:prstGeom>
            </p:spPr>
            <p:txBody>
              <a:bodyPr lIns="50800" tIns="50800" rIns="50800" bIns="50800" rtlCol="0" anchor="ctr"/>
              <a:lstStyle/>
              <a:p>
                <a:pPr algn="ctr">
                  <a:lnSpc>
                    <a:spcPts val="1993"/>
                  </a:lnSpc>
                </a:pPr>
                <a:endParaRPr/>
              </a:p>
            </p:txBody>
          </p:sp>
        </p:grpSp>
      </p:grpSp>
      <p:sp>
        <p:nvSpPr>
          <p:cNvPr id="19" name="TextBox 19"/>
          <p:cNvSpPr txBox="1"/>
          <p:nvPr/>
        </p:nvSpPr>
        <p:spPr>
          <a:xfrm>
            <a:off x="8520540" y="3061058"/>
            <a:ext cx="7004506" cy="2057400"/>
          </a:xfrm>
          <a:prstGeom prst="rect">
            <a:avLst/>
          </a:prstGeom>
        </p:spPr>
        <p:txBody>
          <a:bodyPr lIns="0" tIns="0" rIns="0" bIns="0" rtlCol="0" anchor="t">
            <a:spAutoFit/>
          </a:bodyPr>
          <a:lstStyle/>
          <a:p>
            <a:pPr algn="l">
              <a:lnSpc>
                <a:spcPts val="16799"/>
              </a:lnSpc>
            </a:pPr>
            <a:r>
              <a:rPr lang="en-US" sz="11999" dirty="0">
                <a:solidFill>
                  <a:srgbClr val="3275C5"/>
                </a:solidFill>
                <a:latin typeface="Dynamo Medium"/>
              </a:rPr>
              <a:t>THANK</a:t>
            </a:r>
          </a:p>
        </p:txBody>
      </p:sp>
      <p:sp>
        <p:nvSpPr>
          <p:cNvPr id="20" name="TextBox 20"/>
          <p:cNvSpPr txBox="1"/>
          <p:nvPr/>
        </p:nvSpPr>
        <p:spPr>
          <a:xfrm>
            <a:off x="13024657" y="3115365"/>
            <a:ext cx="3440472" cy="2057400"/>
          </a:xfrm>
          <a:prstGeom prst="rect">
            <a:avLst/>
          </a:prstGeom>
        </p:spPr>
        <p:txBody>
          <a:bodyPr lIns="0" tIns="0" rIns="0" bIns="0" rtlCol="0" anchor="t">
            <a:spAutoFit/>
          </a:bodyPr>
          <a:lstStyle/>
          <a:p>
            <a:pPr algn="l">
              <a:lnSpc>
                <a:spcPts val="16799"/>
              </a:lnSpc>
            </a:pPr>
            <a:r>
              <a:rPr lang="en-US" sz="11999" spc="47" dirty="0">
                <a:solidFill>
                  <a:srgbClr val="56AAF0"/>
                </a:solidFill>
                <a:latin typeface="Dynamo Medium"/>
              </a:rPr>
              <a:t>YOU</a:t>
            </a:r>
          </a:p>
        </p:txBody>
      </p:sp>
      <p:sp>
        <p:nvSpPr>
          <p:cNvPr id="21" name="TextBox 21"/>
          <p:cNvSpPr txBox="1"/>
          <p:nvPr/>
        </p:nvSpPr>
        <p:spPr>
          <a:xfrm>
            <a:off x="10676805" y="1057275"/>
            <a:ext cx="2399835" cy="555537"/>
          </a:xfrm>
          <a:prstGeom prst="rect">
            <a:avLst/>
          </a:prstGeom>
        </p:spPr>
        <p:txBody>
          <a:bodyPr lIns="0" tIns="0" rIns="0" bIns="0" rtlCol="0" anchor="t">
            <a:spAutoFit/>
          </a:bodyPr>
          <a:lstStyle/>
          <a:p>
            <a:pPr algn="l">
              <a:lnSpc>
                <a:spcPts val="3895"/>
              </a:lnSpc>
            </a:pPr>
            <a:r>
              <a:rPr lang="en-US" sz="5400" dirty="0">
                <a:solidFill>
                  <a:srgbClr val="64CAF4"/>
                </a:solidFill>
                <a:latin typeface="Source Sans Pro Bold"/>
              </a:rPr>
              <a:t>HITT</a:t>
            </a:r>
          </a:p>
        </p:txBody>
      </p:sp>
      <p:sp>
        <p:nvSpPr>
          <p:cNvPr id="22" name="TextBox 22"/>
          <p:cNvSpPr txBox="1"/>
          <p:nvPr/>
        </p:nvSpPr>
        <p:spPr>
          <a:xfrm>
            <a:off x="9163984" y="5287839"/>
            <a:ext cx="7721346" cy="1170320"/>
          </a:xfrm>
          <a:prstGeom prst="rect">
            <a:avLst/>
          </a:prstGeom>
        </p:spPr>
        <p:txBody>
          <a:bodyPr wrap="square" lIns="0" tIns="0" rIns="0" bIns="0" rtlCol="0" anchor="t">
            <a:spAutoFit/>
          </a:bodyPr>
          <a:lstStyle/>
          <a:p>
            <a:pPr>
              <a:lnSpc>
                <a:spcPts val="4519"/>
              </a:lnSpc>
            </a:pPr>
            <a:r>
              <a:rPr lang="en-US" sz="4800" dirty="0">
                <a:solidFill>
                  <a:srgbClr val="FCFEFF"/>
                </a:solidFill>
                <a:latin typeface="Source Sans Pro Bold"/>
              </a:rPr>
              <a:t>Higher Institute of Transport  Technology </a:t>
            </a: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 y="1664415"/>
            <a:ext cx="6908086" cy="6908086"/>
          </a:xfrm>
          <a:prstGeom prst="rect">
            <a:avLst/>
          </a:prstGeom>
        </p:spPr>
      </p:pic>
      <p:pic>
        <p:nvPicPr>
          <p:cNvPr id="1026"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303716" y="540191"/>
            <a:ext cx="1172931" cy="1172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154574" y="7455568"/>
            <a:ext cx="8619807" cy="3348332"/>
          </a:xfrm>
          <a:prstGeom prst="rect">
            <a:avLst/>
          </a:prstGeom>
        </p:spPr>
      </p:pic>
    </p:spTree>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1126</TotalTime>
  <Words>1110</Words>
  <Application>Microsoft Office PowerPoint</Application>
  <PresentationFormat>Custom</PresentationFormat>
  <Paragraphs>138</Paragraphs>
  <Slides>27</Slides>
  <Notes>3</Notes>
  <HiddenSlides>0</HiddenSlides>
  <MMClips>1</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27</vt:i4>
      </vt:variant>
    </vt:vector>
  </HeadingPairs>
  <TitlesOfParts>
    <vt:vector size="38" baseType="lpstr">
      <vt:lpstr>Dynamo</vt:lpstr>
      <vt:lpstr>Cambria Math</vt:lpstr>
      <vt:lpstr>Bernard MT Condensed</vt:lpstr>
      <vt:lpstr>Agency FB</vt:lpstr>
      <vt:lpstr>Source Sans Pro Bold</vt:lpstr>
      <vt:lpstr>Arial</vt:lpstr>
      <vt:lpstr>Dynamo Medium</vt:lpstr>
      <vt:lpstr>Calibri</vt:lpstr>
      <vt:lpstr>Source Sans Pro</vt:lpstr>
      <vt:lpstr>Helvetica Neue</vt:lpstr>
      <vt:lpstr>Office Theme</vt:lpstr>
      <vt:lpstr>PowerPoint Presentation</vt:lpstr>
      <vt:lpstr>PowerPoint Presentation</vt:lpstr>
      <vt:lpstr>PowerPoint Presentation</vt:lpstr>
      <vt:lpstr>PowerPoint Presentation</vt:lpstr>
      <vt:lpstr>PowerPoint Presentation</vt:lpstr>
      <vt:lpstr>PowerPoint Presentation</vt:lpstr>
      <vt:lpstr>منع حوادث القطارات الكبري</vt:lpstr>
      <vt:lpstr>سقوط شجرة علي السكة او تعطل احد العربات علي السكة الحديد في لحظة قدوم القطار   </vt:lpstr>
      <vt:lpstr>PowerPoint Presentation</vt:lpstr>
      <vt:lpstr>PowerPoint Presentation</vt:lpstr>
      <vt:lpstr>طريقة تنفيذ المشروع عمليا  </vt:lpstr>
      <vt:lpstr>شرح النظام</vt:lpstr>
      <vt:lpstr>خطوات حساب مسافة العائق باستخدام LiDARحساس  </vt:lpstr>
      <vt:lpstr>Video of Lightweight scanning LIDAR  </vt:lpstr>
      <vt:lpstr>السبب في عدم تطبيق نظام تقنيةLiDAR  في اكتشاف عوائق القطارات  اثناء تنفيذ المشروع وإستخدام حساس ultra sonic  </vt:lpstr>
      <vt:lpstr>PowerPoint Presentation</vt:lpstr>
      <vt:lpstr>PowerPoint Presentation</vt:lpstr>
      <vt:lpstr> الموجودة بالمشروعIR رسمة توضح اماكن حساسات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Blue Modern Minimalist Business Proposal Presentation</dc:title>
  <dc:creator>Ibrahim</dc:creator>
  <cp:lastModifiedBy>Ahmed Mohamed</cp:lastModifiedBy>
  <cp:revision>101</cp:revision>
  <dcterms:created xsi:type="dcterms:W3CDTF">2006-08-16T00:00:00Z</dcterms:created>
  <dcterms:modified xsi:type="dcterms:W3CDTF">2024-06-08T10:43:10Z</dcterms:modified>
  <dc:identifier>DAGGmljDBXA</dc:identifier>
</cp:coreProperties>
</file>